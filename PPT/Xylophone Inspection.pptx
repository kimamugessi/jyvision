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70" r:id="rId4"/>
    <p:sldId id="271" r:id="rId5"/>
    <p:sldId id="272" r:id="rId6"/>
    <p:sldId id="275" r:id="rId7"/>
    <p:sldId id="273" r:id="rId8"/>
    <p:sldId id="274" r:id="rId9"/>
    <p:sldId id="276" r:id="rId10"/>
    <p:sldId id="277" r:id="rId11"/>
    <p:sldId id="257" r:id="rId12"/>
    <p:sldId id="258" r:id="rId13"/>
    <p:sldId id="264" r:id="rId14"/>
    <p:sldId id="265" r:id="rId15"/>
    <p:sldId id="260" r:id="rId16"/>
    <p:sldId id="263" r:id="rId17"/>
    <p:sldId id="259" r:id="rId18"/>
    <p:sldId id="262" r:id="rId19"/>
    <p:sldId id="266" r:id="rId20"/>
    <p:sldId id="268" r:id="rId21"/>
    <p:sldId id="261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  <a:srgbClr val="FF3300"/>
    <a:srgbClr val="E05A1A"/>
    <a:srgbClr val="4A9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0000" autoAdjust="0"/>
  </p:normalViewPr>
  <p:slideViewPr>
    <p:cSldViewPr snapToGrid="0">
      <p:cViewPr varScale="1">
        <p:scale>
          <a:sx n="48" d="100"/>
          <a:sy n="48" d="100"/>
        </p:scale>
        <p:origin x="63" y="7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E73FE-0CFC-4F5D-881E-394882073767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1ED34-7657-420E-92A0-622A80125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18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060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A434-3AB8-0A80-B7E6-2C7E827D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ED3D7E-D0A3-D547-2BC3-80B0D7D3F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6531BC-7C92-1490-18B8-46BDCA28B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F64F6-BA15-5410-6090-833812F89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84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6408-1E43-EA91-31BF-674C7896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55B207-628F-FF82-3CD9-79B2FE47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DFB1BE-8770-9320-D79E-BF582DB44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BFE6A-6AFE-FE4A-2026-DED0D9CB9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4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29DD-9FDB-38B0-6106-3F5FF616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2AECE0-FE6E-D309-F5FB-E9C4A70CF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F15550-F2CC-34C0-C864-B3E318C1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1DB0-9EA7-E1CC-71FA-BEB801583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915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E24A-EAA0-47BB-492B-6E650B29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F3586-FEBB-E27D-6166-22B3668D2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4EC06F-F9A0-EE73-E132-68B16F585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21633-1188-40E2-804E-C6471C714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462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248A-F7ED-7527-FAD3-CE77976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19F28-08FE-D478-1D4C-206BCD8F5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89E7F1-43C8-03FF-79A4-858B9C54D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DF24B-DBDA-BFEB-41ED-086D3F19E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13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D3DB-1186-A851-167F-3AACD045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F317A2-3AB4-3AA2-4259-134B4D346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C89312-32C4-2ECA-325B-CA53DB8CC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E7E36-D0DB-E7A3-30C6-3DB4FF8A3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257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4AE5-C56C-950F-DD26-BE12EF7E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BC972F-6DF7-CFE8-8C8D-635F3A710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C9D24D-C43A-0510-E610-BD2174C14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E694A-AC04-B2C9-8802-D1F97144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8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1ED34-7657-420E-92A0-622A8012543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199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147B6-C843-31F8-A88B-34A487EE5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901BBD-B142-CAFC-FFDD-9E8176DF2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630A0-747D-1C37-8296-13A9E190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DB52B-C4CA-0DD3-EB5E-A9BC055B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D1072-CB98-9065-DC5C-B79A1EAC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58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2CCC0-2D43-C7D1-A4B8-29E9766D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BF2EA5-32DA-431F-2A36-3B13F730C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73569-3BD6-012D-A49C-56D8D38A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240E8-43A4-861D-90A6-3EF1B89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E629-5D44-A4D7-52E8-6B0ADA98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95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70CDB-D52E-3DA3-7CF1-0B992D70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07F862-D7D6-FBD0-DFD0-8DE52CA1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CF35B-B3ED-2BA1-7308-7D6C83F9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18A7E-9852-0C7A-A277-312877EA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EAF856-AEE6-73E9-FE59-DD78854D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84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F13F7-B184-165B-35EB-0F56B72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EFC65-6DBE-CDC4-7401-10E6FB995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9B588-CF98-A69C-D8A3-743E05AF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3187BD-5F67-A86F-18B4-52D9C124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7FE987-CB25-B03F-EA1B-876AC41C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CD892-8C71-C3EF-D8D1-3E3E221B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57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137F0-99B9-B37F-D4B8-4A741C98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ED653-FD38-B5B6-95B3-58256E868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D51171-62C1-ECE4-7E07-227472DB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DB4944-0C81-5D10-44CA-A88B5698D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F966F8-B03B-7012-6979-54A6C0D1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E62BD0-C774-DC01-B0AA-74006E06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147B8C-0A9F-1F65-7B95-33C48DF3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80FA77-B334-8554-7E8A-05A3FC0E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88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58216-EF1E-54F4-6259-264D0636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F7C06F-6F23-6B26-598A-B3B2B547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5D373B-69D6-F607-313E-13613D28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34CC75-A94A-4C45-248B-B33F289A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0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A1687D-1A9F-57F4-30F5-C2A6B390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B9DE78-7882-CE59-BA25-25EC9D19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4E081-A2A4-EF80-272F-5ABE87D6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07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20344-B7A2-C809-9DF9-A6F942B6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70E68-A4B7-0937-0947-04B71BA7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353587-D8EC-DD47-96A0-D7E6B8EEC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4A1CDA-332D-8EB9-396E-47C0491B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30767A-41CB-0BEB-5018-2F2F3879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6AAAD2-9E13-7E2C-1E24-96C76B8C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6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16B26-12F3-9D39-05C1-F78E0B6C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1ADF7A-F096-7A15-09C4-63A10429D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F0B9F-B63B-CE97-BFEC-E26B32878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710D1-FCF0-8EE5-975F-07319D5D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20B798-E62A-3A95-1378-E51FA4B1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B2A103-193D-B191-92F1-6A058AF5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9846-63D3-A9F8-DDF9-444BED13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BE18DD-1711-A824-9FC1-6F72AB20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0CB86-2AD3-0C5B-91EC-794177A1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90A0-CD65-43E3-265B-412C9372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6C05A-5C93-9115-297A-BD907266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1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8F396B-5A85-8A15-57BE-893672ACD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1E28AA-1085-464F-8998-1733984AA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FC555-8A1C-2AFD-489D-0E89557C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1CD9E-1A4A-2526-9EC4-E450F502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F4B76-225D-F47C-8E24-3D108AA9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1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08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801DA1-6489-E9DA-A5F9-39285216D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6388A1-511E-6884-E647-DBA56E8CB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8E78D-AC72-90F9-90C3-07562DA28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39F6-8EE6-45CE-8EE0-E376A00C4C9A}" type="datetimeFigureOut">
              <a:rPr lang="ko-KR" altLang="en-US" smtClean="0"/>
              <a:t>2026-03-16 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B0D63-05F2-84CF-6D03-E710B5383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00EC-D7EB-979E-A7BD-DB14DABA8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CA90E-4576-4BCC-A55C-5A8B6578B9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4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mamugessi/Xylophon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kimamugessi/JYVIsio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itle_bg_full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802" name="accent_left"/>
          <p:cNvSpPr>
            <a:spLocks noGrp="1"/>
          </p:cNvSpPr>
          <p:nvPr/>
        </p:nvSpPr>
        <p:spPr>
          <a:xfrm>
            <a:off x="0" y="0"/>
            <a:ext cx="240000" cy="6858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803" name="accent_bottom"/>
          <p:cNvSpPr>
            <a:spLocks noGrp="1"/>
          </p:cNvSpPr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804" name="main_title"/>
          <p:cNvSpPr txBox="1"/>
          <p:nvPr/>
        </p:nvSpPr>
        <p:spPr>
          <a:xfrm>
            <a:off x="600000" y="1800000"/>
            <a:ext cx="10800000" cy="20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5400" b="1" dirty="0">
                <a:solidFill>
                  <a:srgbClr val="FFFFFF"/>
                </a:solidFill>
              </a:rPr>
              <a:t>실로폰 볼트, 각인 유무 검사기</a:t>
            </a:r>
          </a:p>
        </p:txBody>
      </p:sp>
      <p:sp>
        <p:nvSpPr>
          <p:cNvPr id="806" name="badge"/>
          <p:cNvSpPr txBox="1"/>
          <p:nvPr/>
        </p:nvSpPr>
        <p:spPr>
          <a:xfrm>
            <a:off x="600000" y="3950000"/>
            <a:ext cx="3200000" cy="33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</a:rPr>
              <a:t>INSPECTION SYSTEM</a:t>
            </a:r>
          </a:p>
        </p:txBody>
      </p:sp>
      <p:sp>
        <p:nvSpPr>
          <p:cNvPr id="805" name="subtitle"/>
          <p:cNvSpPr txBox="1"/>
          <p:nvPr/>
        </p:nvSpPr>
        <p:spPr>
          <a:xfrm>
            <a:off x="600000" y="4380000"/>
            <a:ext cx="10800000" cy="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altLang="en-US" sz="2000" dirty="0">
                <a:solidFill>
                  <a:srgbClr val="A8BAC8"/>
                </a:solidFill>
              </a:rPr>
              <a:t>Xylophone Bolt &amp; Engraving Visual Inspection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4D7B-CCFC-8D12-7A79-5352B38A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1A7DF3F7-FD19-7171-88C5-1FBD20C2A7CA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ACE7E5DD-B69E-3D87-E561-8F45BD5FAA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33D156C9-3AA4-68AE-BFDD-77F69B5AA3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FB7BAA9C-F7D1-B55B-17BE-EBAA8411DC5E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EFCC09E3-BCF8-0291-8A5D-7273F080770A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개요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316431B5-7AC5-7FFB-E296-984F94A61EE9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프로젝트 개요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FA0B009-9651-5428-AD15-FF6A73F6CE03}"/>
              </a:ext>
            </a:extLst>
          </p:cNvPr>
          <p:cNvGrpSpPr/>
          <p:nvPr/>
        </p:nvGrpSpPr>
        <p:grpSpPr>
          <a:xfrm>
            <a:off x="433190" y="1218050"/>
            <a:ext cx="11325620" cy="5389784"/>
            <a:chOff x="320040" y="1097280"/>
            <a:chExt cx="8549640" cy="3867912"/>
          </a:xfrm>
        </p:grpSpPr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9C1A38E-04CD-B530-6107-A13FF60823FE}"/>
                </a:ext>
              </a:extLst>
            </p:cNvPr>
            <p:cNvSpPr/>
            <p:nvPr/>
          </p:nvSpPr>
          <p:spPr>
            <a:xfrm>
              <a:off x="320040" y="109728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AA5E232-DA9B-7428-06FF-EE5E1390CF4B}"/>
                </a:ext>
              </a:extLst>
            </p:cNvPr>
            <p:cNvSpPr/>
            <p:nvPr/>
          </p:nvSpPr>
          <p:spPr>
            <a:xfrm>
              <a:off x="320040" y="109728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B5ACDA61-0ACF-DE7B-1481-747ACAA652EB}"/>
                </a:ext>
              </a:extLst>
            </p:cNvPr>
            <p:cNvSpPr/>
            <p:nvPr/>
          </p:nvSpPr>
          <p:spPr>
            <a:xfrm>
              <a:off x="457200" y="120700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🎹  검사 대상</a:t>
              </a:r>
              <a:endParaRPr lang="en-US" dirty="0"/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784D9AFA-CBC0-129F-F0CE-15941D785DB6}"/>
                </a:ext>
              </a:extLst>
            </p:cNvPr>
            <p:cNvSpPr/>
            <p:nvPr/>
          </p:nvSpPr>
          <p:spPr>
            <a:xfrm>
              <a:off x="457200" y="160934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 err="1">
                  <a:solidFill>
                    <a:srgbClr val="3A4A6B"/>
                  </a:solidFill>
                </a:rPr>
                <a:t>실로폰</a:t>
              </a:r>
              <a:r>
                <a:rPr lang="en-US" sz="1400" dirty="0">
                  <a:solidFill>
                    <a:srgbClr val="3A4A6B"/>
                  </a:solidFill>
                </a:rPr>
                <a:t> 건반 부품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볼트 체결 상태 + 각인(Mark) </a:t>
              </a:r>
              <a:r>
                <a:rPr lang="ko-KR" altLang="en-US" sz="1400" dirty="0">
                  <a:solidFill>
                    <a:srgbClr val="3A4A6B"/>
                  </a:solidFill>
                </a:rPr>
                <a:t>유무</a:t>
              </a:r>
              <a:r>
                <a:rPr lang="en-US" sz="1400" dirty="0">
                  <a:solidFill>
                    <a:srgbClr val="3A4A6B"/>
                  </a:solidFill>
                </a:rPr>
                <a:t> 자동 판정</a:t>
              </a:r>
              <a:endParaRPr lang="en-US" dirty="0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00EA473-3C01-16B6-BC8C-9598C77E91AB}"/>
                </a:ext>
              </a:extLst>
            </p:cNvPr>
            <p:cNvSpPr/>
            <p:nvPr/>
          </p:nvSpPr>
          <p:spPr>
            <a:xfrm>
              <a:off x="4754880" y="109728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5D837131-F3EB-CEC9-E953-596D533150C2}"/>
                </a:ext>
              </a:extLst>
            </p:cNvPr>
            <p:cNvSpPr/>
            <p:nvPr/>
          </p:nvSpPr>
          <p:spPr>
            <a:xfrm>
              <a:off x="4754880" y="109728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BE23CE6E-1E98-5FF0-FDC8-1C35AA4E98B5}"/>
                </a:ext>
              </a:extLst>
            </p:cNvPr>
            <p:cNvSpPr/>
            <p:nvPr/>
          </p:nvSpPr>
          <p:spPr>
            <a:xfrm>
              <a:off x="4892040" y="120700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📷  영상 취득</a:t>
              </a:r>
              <a:endParaRPr lang="en-US" dirty="0"/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5F76ECB1-99DF-B884-5755-87C6D1C8508B}"/>
                </a:ext>
              </a:extLst>
            </p:cNvPr>
            <p:cNvSpPr/>
            <p:nvPr/>
          </p:nvSpPr>
          <p:spPr>
            <a:xfrm>
              <a:off x="4892040" y="160934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실시간 카메라 (WebCam / HikRobot)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가상 그랩 (폴더 이미지 시뮬레이션)</a:t>
              </a:r>
              <a:endParaRPr lang="en-US" dirty="0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095EBC33-94DF-3ED7-722D-E0EE9401C634}"/>
                </a:ext>
              </a:extLst>
            </p:cNvPr>
            <p:cNvSpPr/>
            <p:nvPr/>
          </p:nvSpPr>
          <p:spPr>
            <a:xfrm>
              <a:off x="320040" y="288036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12">
              <a:extLst>
                <a:ext uri="{FF2B5EF4-FFF2-40B4-BE49-F238E27FC236}">
                  <a16:creationId xmlns:a16="http://schemas.microsoft.com/office/drawing/2014/main" id="{CB7CB110-7F1A-386D-F8F8-DE0E22F67979}"/>
                </a:ext>
              </a:extLst>
            </p:cNvPr>
            <p:cNvSpPr/>
            <p:nvPr/>
          </p:nvSpPr>
          <p:spPr>
            <a:xfrm>
              <a:off x="320040" y="288036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13">
              <a:extLst>
                <a:ext uri="{FF2B5EF4-FFF2-40B4-BE49-F238E27FC236}">
                  <a16:creationId xmlns:a16="http://schemas.microsoft.com/office/drawing/2014/main" id="{C0F33324-CC22-0C1D-ADAB-475DDCF416D7}"/>
                </a:ext>
              </a:extLst>
            </p:cNvPr>
            <p:cNvSpPr/>
            <p:nvPr/>
          </p:nvSpPr>
          <p:spPr>
            <a:xfrm>
              <a:off x="457200" y="299008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⚙️  핵심 기술</a:t>
              </a:r>
              <a:endParaRPr lang="en-US" dirty="0"/>
            </a:p>
          </p:txBody>
        </p:sp>
        <p:sp>
          <p:nvSpPr>
            <p:cNvPr id="51" name="Text 14">
              <a:extLst>
                <a:ext uri="{FF2B5EF4-FFF2-40B4-BE49-F238E27FC236}">
                  <a16:creationId xmlns:a16="http://schemas.microsoft.com/office/drawing/2014/main" id="{BE656C4A-6801-CB26-84E3-BAE77F4480FB}"/>
                </a:ext>
              </a:extLst>
            </p:cNvPr>
            <p:cNvSpPr/>
            <p:nvPr/>
          </p:nvSpPr>
          <p:spPr>
            <a:xfrm>
              <a:off x="457200" y="339242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OpenCvSharp 기반 Computer Vision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C# 멀티스레딩 / BlockingCollection 큐</a:t>
              </a:r>
              <a:endParaRPr lang="en-US" dirty="0"/>
            </a:p>
          </p:txBody>
        </p:sp>
        <p:sp>
          <p:nvSpPr>
            <p:cNvPr id="52" name="Shape 15">
              <a:extLst>
                <a:ext uri="{FF2B5EF4-FFF2-40B4-BE49-F238E27FC236}">
                  <a16:creationId xmlns:a16="http://schemas.microsoft.com/office/drawing/2014/main" id="{9EFC4709-BFB2-83E8-0FF8-81B2B762BCA4}"/>
                </a:ext>
              </a:extLst>
            </p:cNvPr>
            <p:cNvSpPr/>
            <p:nvPr/>
          </p:nvSpPr>
          <p:spPr>
            <a:xfrm>
              <a:off x="4754880" y="2880360"/>
              <a:ext cx="411480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16">
              <a:extLst>
                <a:ext uri="{FF2B5EF4-FFF2-40B4-BE49-F238E27FC236}">
                  <a16:creationId xmlns:a16="http://schemas.microsoft.com/office/drawing/2014/main" id="{1330D2DE-A835-BE3E-FCE4-58725E252641}"/>
                </a:ext>
              </a:extLst>
            </p:cNvPr>
            <p:cNvSpPr/>
            <p:nvPr/>
          </p:nvSpPr>
          <p:spPr>
            <a:xfrm>
              <a:off x="4754880" y="2880360"/>
              <a:ext cx="54864" cy="1554480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17">
              <a:extLst>
                <a:ext uri="{FF2B5EF4-FFF2-40B4-BE49-F238E27FC236}">
                  <a16:creationId xmlns:a16="http://schemas.microsoft.com/office/drawing/2014/main" id="{B8D550C7-B4B4-7E53-C940-4A59D4AA936A}"/>
                </a:ext>
              </a:extLst>
            </p:cNvPr>
            <p:cNvSpPr/>
            <p:nvPr/>
          </p:nvSpPr>
          <p:spPr>
            <a:xfrm>
              <a:off x="4892040" y="299008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💾  결과 처리</a:t>
              </a:r>
              <a:endParaRPr lang="en-US" dirty="0"/>
            </a:p>
          </p:txBody>
        </p:sp>
        <p:sp>
          <p:nvSpPr>
            <p:cNvPr id="55" name="Text 18">
              <a:extLst>
                <a:ext uri="{FF2B5EF4-FFF2-40B4-BE49-F238E27FC236}">
                  <a16:creationId xmlns:a16="http://schemas.microsoft.com/office/drawing/2014/main" id="{895672BA-A5D5-80D0-5CD6-952B30CD7EDE}"/>
                </a:ext>
              </a:extLst>
            </p:cNvPr>
            <p:cNvSpPr/>
            <p:nvPr/>
          </p:nvSpPr>
          <p:spPr>
            <a:xfrm>
              <a:off x="4892040" y="3392424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OK / NG-BOLT / NG-MARK 폴더 자동 분류</a:t>
              </a:r>
              <a:endParaRPr lang="en-US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>
                  <a:solidFill>
                    <a:srgbClr val="3A4A6B"/>
                  </a:solidFill>
                </a:rPr>
                <a:t>비동기 이미지 저장 (별도 전용 </a:t>
              </a:r>
              <a:r>
                <a:rPr lang="en-US" sz="1400" dirty="0" err="1">
                  <a:solidFill>
                    <a:srgbClr val="3A4A6B"/>
                  </a:solidFill>
                </a:rPr>
                <a:t>스레드</a:t>
              </a:r>
              <a:r>
                <a:rPr lang="en-US" sz="1400" dirty="0">
                  <a:solidFill>
                    <a:srgbClr val="3A4A6B"/>
                  </a:solidFill>
                </a:rPr>
                <a:t>)</a:t>
              </a: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400" dirty="0" err="1">
                  <a:solidFill>
                    <a:srgbClr val="3A4A6B"/>
                  </a:solidFill>
                </a:rPr>
                <a:t>Log.cvs</a:t>
              </a:r>
              <a:r>
                <a:rPr lang="ko-KR" altLang="en-US" sz="1400" dirty="0">
                  <a:solidFill>
                    <a:srgbClr val="3A4A6B"/>
                  </a:solidFill>
                </a:rPr>
                <a:t> 파일 생성</a:t>
              </a:r>
              <a:endParaRPr lang="en-US" dirty="0"/>
            </a:p>
          </p:txBody>
        </p:sp>
        <p:sp>
          <p:nvSpPr>
            <p:cNvPr id="56" name="Shape 19">
              <a:extLst>
                <a:ext uri="{FF2B5EF4-FFF2-40B4-BE49-F238E27FC236}">
                  <a16:creationId xmlns:a16="http://schemas.microsoft.com/office/drawing/2014/main" id="{B70D33B1-5E52-36FE-EEA4-95CE9D5DDF69}"/>
                </a:ext>
              </a:extLst>
            </p:cNvPr>
            <p:cNvSpPr/>
            <p:nvPr/>
          </p:nvSpPr>
          <p:spPr>
            <a:xfrm>
              <a:off x="320040" y="4617720"/>
              <a:ext cx="8503920" cy="347472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547CD1AB-C3F3-2C5B-5B27-268CF7F51C37}"/>
                </a:ext>
              </a:extLst>
            </p:cNvPr>
            <p:cNvSpPr/>
            <p:nvPr/>
          </p:nvSpPr>
          <p:spPr>
            <a:xfrm>
              <a:off x="411480" y="4645152"/>
              <a:ext cx="8321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</a:rPr>
                <a:t>목표: 제조 라인의 건반 외관 결함을 실시간으로 자동 감지하여 품질 불량률 제로화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534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069E-0A57-E8BF-C863-0BD717A6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C47F066F-45EB-AA96-BAAF-7CC4C41FBF1B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C0E5D7CE-1344-88CB-911E-795DEF482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99552765-BAF2-EBBC-9419-9A2C29B0BB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812A308A-DB83-903B-9985-33282338206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9597F83C-6B04-A360-97DC-3DA12158052E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목표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AC56D0B8-8B18-634A-909D-CB93DD9C58E8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목표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EFC5715-19DD-B872-D091-33FB0AD52C15}"/>
              </a:ext>
            </a:extLst>
          </p:cNvPr>
          <p:cNvGrpSpPr/>
          <p:nvPr/>
        </p:nvGrpSpPr>
        <p:grpSpPr>
          <a:xfrm>
            <a:off x="703317" y="1876046"/>
            <a:ext cx="10788683" cy="3925908"/>
            <a:chOff x="1418540" y="2112092"/>
            <a:chExt cx="8503920" cy="2871216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ACF0D90D-5D52-1E6B-9495-4F6BFFC8996E}"/>
                </a:ext>
              </a:extLst>
            </p:cNvPr>
            <p:cNvSpPr/>
            <p:nvPr/>
          </p:nvSpPr>
          <p:spPr>
            <a:xfrm>
              <a:off x="1418540" y="2121236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7D7E0582-67F4-0002-4A89-4709AC50AEB3}"/>
                </a:ext>
              </a:extLst>
            </p:cNvPr>
            <p:cNvSpPr/>
            <p:nvPr/>
          </p:nvSpPr>
          <p:spPr>
            <a:xfrm>
              <a:off x="1418540" y="2121236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01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CB60ECE2-CF6B-C416-8584-F0EBBE33F459}"/>
                </a:ext>
              </a:extLst>
            </p:cNvPr>
            <p:cNvSpPr/>
            <p:nvPr/>
          </p:nvSpPr>
          <p:spPr>
            <a:xfrm>
              <a:off x="2058620" y="211209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완전 자동화 검사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12DF6897-B755-B8E8-89C0-2E8D9F46F96A}"/>
                </a:ext>
              </a:extLst>
            </p:cNvPr>
            <p:cNvSpPr/>
            <p:nvPr/>
          </p:nvSpPr>
          <p:spPr>
            <a:xfrm>
              <a:off x="2058620" y="2386412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작업자 없이 카메라 트리거 → 검사 → 결과 저장까지 무인 자동 처리</a:t>
              </a: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9CE20627-0E3D-29B1-0F4C-41C7BAF3D735}"/>
                </a:ext>
              </a:extLst>
            </p:cNvPr>
            <p:cNvSpPr/>
            <p:nvPr/>
          </p:nvSpPr>
          <p:spPr>
            <a:xfrm>
              <a:off x="1418540" y="2669876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88F09C53-9C0E-1B88-2628-C33839D89EAD}"/>
                </a:ext>
              </a:extLst>
            </p:cNvPr>
            <p:cNvSpPr/>
            <p:nvPr/>
          </p:nvSpPr>
          <p:spPr>
            <a:xfrm>
              <a:off x="1418540" y="2880188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8CDEAD4-BC50-3017-FC38-62CB71B2F447}"/>
                </a:ext>
              </a:extLst>
            </p:cNvPr>
            <p:cNvSpPr/>
            <p:nvPr/>
          </p:nvSpPr>
          <p:spPr>
            <a:xfrm>
              <a:off x="1418540" y="2880188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02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2ECEF8A-73AA-6023-CC3B-01037866F3FD}"/>
                </a:ext>
              </a:extLst>
            </p:cNvPr>
            <p:cNvSpPr/>
            <p:nvPr/>
          </p:nvSpPr>
          <p:spPr>
            <a:xfrm>
              <a:off x="2058620" y="2871044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실시간 불량 판정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0ADF1770-44C0-2310-0DE6-05C280766E7F}"/>
                </a:ext>
              </a:extLst>
            </p:cNvPr>
            <p:cNvSpPr/>
            <p:nvPr/>
          </p:nvSpPr>
          <p:spPr>
            <a:xfrm>
              <a:off x="2058620" y="3145364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건반 1개당 볼트(상/하) 2개 + 각인 1개를 프레임 내 동시 판정</a:t>
              </a:r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1080A04F-086F-84E0-209E-6E3F42F0713E}"/>
                </a:ext>
              </a:extLst>
            </p:cNvPr>
            <p:cNvSpPr/>
            <p:nvPr/>
          </p:nvSpPr>
          <p:spPr>
            <a:xfrm>
              <a:off x="1418540" y="3428828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4007A9F0-8E4D-348F-4709-24C65FB113BE}"/>
                </a:ext>
              </a:extLst>
            </p:cNvPr>
            <p:cNvSpPr/>
            <p:nvPr/>
          </p:nvSpPr>
          <p:spPr>
            <a:xfrm>
              <a:off x="1418540" y="3639140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F373FF69-632F-C4F6-B049-52097FBC2D5E}"/>
                </a:ext>
              </a:extLst>
            </p:cNvPr>
            <p:cNvSpPr/>
            <p:nvPr/>
          </p:nvSpPr>
          <p:spPr>
            <a:xfrm>
              <a:off x="1418540" y="36391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03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B85A7EB5-BCDE-7ECA-BFA1-6CB4C8BE9979}"/>
                </a:ext>
              </a:extLst>
            </p:cNvPr>
            <p:cNvSpPr/>
            <p:nvPr/>
          </p:nvSpPr>
          <p:spPr>
            <a:xfrm>
              <a:off x="2058620" y="362999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고속 병렬 처리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F90921ED-E32B-B503-EBF2-BECD04A5F6CB}"/>
                </a:ext>
              </a:extLst>
            </p:cNvPr>
            <p:cNvSpPr/>
            <p:nvPr/>
          </p:nvSpPr>
          <p:spPr>
            <a:xfrm>
              <a:off x="2058620" y="3904316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Parallel.For로 다수 건반 ROI를 동시 탐색, 검사 처리량 극대화</a:t>
              </a:r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721CDD45-0B31-4192-C16A-4A47272E312D}"/>
                </a:ext>
              </a:extLst>
            </p:cNvPr>
            <p:cNvSpPr/>
            <p:nvPr/>
          </p:nvSpPr>
          <p:spPr>
            <a:xfrm>
              <a:off x="1418540" y="4187780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2F4D77C2-6AE2-B7F2-096E-B700F93082C8}"/>
                </a:ext>
              </a:extLst>
            </p:cNvPr>
            <p:cNvSpPr/>
            <p:nvPr/>
          </p:nvSpPr>
          <p:spPr>
            <a:xfrm>
              <a:off x="1418540" y="4398092"/>
              <a:ext cx="502920" cy="502920"/>
            </a:xfrm>
            <a:prstGeom prst="ellipse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4C76A1E3-E310-80A8-DACA-B1082C88653C}"/>
                </a:ext>
              </a:extLst>
            </p:cNvPr>
            <p:cNvSpPr/>
            <p:nvPr/>
          </p:nvSpPr>
          <p:spPr>
            <a:xfrm>
              <a:off x="1418540" y="439809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04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FBD6DE7-21A6-66F4-2847-AB23981A4B27}"/>
                </a:ext>
              </a:extLst>
            </p:cNvPr>
            <p:cNvSpPr/>
            <p:nvPr/>
          </p:nvSpPr>
          <p:spPr>
            <a:xfrm>
              <a:off x="2058620" y="438894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무중단 저장 안정성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06EED182-4A4E-E501-D381-819149303D95}"/>
                </a:ext>
              </a:extLst>
            </p:cNvPr>
            <p:cNvSpPr/>
            <p:nvPr/>
          </p:nvSpPr>
          <p:spPr>
            <a:xfrm>
              <a:off x="2058620" y="4663268"/>
              <a:ext cx="7772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2"/>
                  </a:solidFill>
                </a:rPr>
                <a:t>BlockingCollection 큐 + 전용 스레드로 저장 지연 없이 검사 연속 진행</a:t>
              </a: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710DF600-10A9-EFED-ED06-CF7903341B70}"/>
                </a:ext>
              </a:extLst>
            </p:cNvPr>
            <p:cNvSpPr/>
            <p:nvPr/>
          </p:nvSpPr>
          <p:spPr>
            <a:xfrm>
              <a:off x="1418540" y="4946732"/>
              <a:ext cx="8503920" cy="0"/>
            </a:xfrm>
            <a:prstGeom prst="line">
              <a:avLst/>
            </a:prstGeom>
            <a:noFill/>
            <a:ln w="6350">
              <a:solidFill>
                <a:srgbClr val="2433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62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A39F-9909-BF9D-49D2-E5214F33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71382FCF-5318-E523-9F15-125A26CC3A9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DB946529-A4A6-E9FE-A306-CC8811AD73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1A99B80D-ED82-95A5-F74B-7981B1115C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F42515A-773E-FC7F-D176-7835F3B9B937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CC002D82-BC23-E6B2-131C-7C46E1A0A53F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아키텍처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34F5EAD0-AA07-4971-47BD-BD4344761050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아키텍처 블록도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1F5A75D-754A-F08E-7E48-5E7B3D205C18}"/>
              </a:ext>
            </a:extLst>
          </p:cNvPr>
          <p:cNvGrpSpPr/>
          <p:nvPr/>
        </p:nvGrpSpPr>
        <p:grpSpPr>
          <a:xfrm>
            <a:off x="1315000" y="1085709"/>
            <a:ext cx="9562000" cy="5632190"/>
            <a:chOff x="274320" y="960120"/>
            <a:chExt cx="8595360" cy="4389120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5FA12538-C6A6-7117-38D8-5052973FD1A9}"/>
                </a:ext>
              </a:extLst>
            </p:cNvPr>
            <p:cNvSpPr/>
            <p:nvPr/>
          </p:nvSpPr>
          <p:spPr>
            <a:xfrm>
              <a:off x="274320" y="960120"/>
              <a:ext cx="2560320" cy="91440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5BDD02BD-72C9-B0EC-F43B-A5F44F6E1A8A}"/>
                </a:ext>
              </a:extLst>
            </p:cNvPr>
            <p:cNvSpPr/>
            <p:nvPr/>
          </p:nvSpPr>
          <p:spPr>
            <a:xfrm>
              <a:off x="274320" y="102412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Camera / ImageLoader</a:t>
              </a:r>
              <a:endParaRPr lang="en-US" sz="12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EEDDA938-ECFE-8CD7-DD31-4A54E951E56F}"/>
                </a:ext>
              </a:extLst>
            </p:cNvPr>
            <p:cNvSpPr/>
            <p:nvPr/>
          </p:nvSpPr>
          <p:spPr>
            <a:xfrm>
              <a:off x="274320" y="1353312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카메라(WebCam/HikRobot)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또는 폴더 이미지 순차 로드</a:t>
              </a:r>
              <a:endParaRPr lang="en-US" sz="950" dirty="0"/>
            </a:p>
          </p:txBody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4F05C3F9-2CF4-7CEF-42F8-0D65EFCD7B5D}"/>
                </a:ext>
              </a:extLst>
            </p:cNvPr>
            <p:cNvSpPr/>
            <p:nvPr/>
          </p:nvSpPr>
          <p:spPr>
            <a:xfrm>
              <a:off x="3291840" y="960120"/>
              <a:ext cx="2743200" cy="9144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66CA4241-FF6D-2FE4-C80B-3EB0C71B674D}"/>
                </a:ext>
              </a:extLst>
            </p:cNvPr>
            <p:cNvSpPr/>
            <p:nvPr/>
          </p:nvSpPr>
          <p:spPr>
            <a:xfrm>
              <a:off x="3291840" y="10241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InspStage</a:t>
              </a:r>
              <a:endParaRPr lang="en-US" sz="1200" dirty="0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67566D2B-5E8A-8FED-8A48-5F878124792F}"/>
                </a:ext>
              </a:extLst>
            </p:cNvPr>
            <p:cNvSpPr/>
            <p:nvPr/>
          </p:nvSpPr>
          <p:spPr>
            <a:xfrm>
              <a:off x="3291840" y="1353312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스테이지 통합 관리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버퍼 / 모델 / 시퀀스</a:t>
              </a:r>
              <a:endParaRPr lang="en-US" sz="950" dirty="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32A33705-3336-D7CF-DF8D-5DEC2B87DDA9}"/>
                </a:ext>
              </a:extLst>
            </p:cNvPr>
            <p:cNvSpPr/>
            <p:nvPr/>
          </p:nvSpPr>
          <p:spPr>
            <a:xfrm>
              <a:off x="6400800" y="960120"/>
              <a:ext cx="2468880" cy="91440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B414CAF2-69CA-BDFC-46C5-80CAD175C42F}"/>
                </a:ext>
              </a:extLst>
            </p:cNvPr>
            <p:cNvSpPr/>
            <p:nvPr/>
          </p:nvSpPr>
          <p:spPr>
            <a:xfrm>
              <a:off x="6400800" y="1024128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InspWorker</a:t>
              </a:r>
              <a:endParaRPr lang="en-US" sz="12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C47F7856-0E1F-87BC-AF41-70F63005CBBD}"/>
                </a:ext>
              </a:extLst>
            </p:cNvPr>
            <p:cNvSpPr/>
            <p:nvPr/>
          </p:nvSpPr>
          <p:spPr>
            <a:xfrm>
              <a:off x="6400800" y="1353312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검사 알고리즘 실행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RunKeyMatch / RunBoltMark</a:t>
              </a:r>
              <a:endParaRPr lang="en-US" sz="950" dirty="0"/>
            </a:p>
          </p:txBody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6CEEA91C-9B21-04C6-FBDC-AA4E148B9B57}"/>
                </a:ext>
              </a:extLst>
            </p:cNvPr>
            <p:cNvSpPr/>
            <p:nvPr/>
          </p:nvSpPr>
          <p:spPr>
            <a:xfrm>
              <a:off x="2834640" y="1417320"/>
              <a:ext cx="457200" cy="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DF900FC0-CE8D-0B19-0FBD-60BD475CE989}"/>
                </a:ext>
              </a:extLst>
            </p:cNvPr>
            <p:cNvSpPr/>
            <p:nvPr/>
          </p:nvSpPr>
          <p:spPr>
            <a:xfrm>
              <a:off x="6035040" y="1417320"/>
              <a:ext cx="365760" cy="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C0C0166-C51C-A9B9-A6FC-82C69B30151F}"/>
                </a:ext>
              </a:extLst>
            </p:cNvPr>
            <p:cNvSpPr/>
            <p:nvPr/>
          </p:nvSpPr>
          <p:spPr>
            <a:xfrm>
              <a:off x="274320" y="2331720"/>
              <a:ext cx="2011680" cy="82296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8230DA34-AACC-0AFF-046A-C72B5C13F755}"/>
                </a:ext>
              </a:extLst>
            </p:cNvPr>
            <p:cNvSpPr/>
            <p:nvPr/>
          </p:nvSpPr>
          <p:spPr>
            <a:xfrm>
              <a:off x="27432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KeyMatch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건반 위치 탐색</a:t>
              </a:r>
              <a:endParaRPr lang="en-US" sz="1200" dirty="0"/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B0964A4C-2B29-9A64-573E-FCA6FFA3F8D7}"/>
                </a:ext>
              </a:extLst>
            </p:cNvPr>
            <p:cNvSpPr/>
            <p:nvPr/>
          </p:nvSpPr>
          <p:spPr>
            <a:xfrm>
              <a:off x="128016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CE1F4712-062B-5437-E132-B8F5C91999F3}"/>
                </a:ext>
              </a:extLst>
            </p:cNvPr>
            <p:cNvSpPr/>
            <p:nvPr/>
          </p:nvSpPr>
          <p:spPr>
            <a:xfrm>
              <a:off x="2468880" y="2331720"/>
              <a:ext cx="2011680" cy="822960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EF5B697E-F95E-7BFB-247E-4158053C25A8}"/>
                </a:ext>
              </a:extLst>
            </p:cNvPr>
            <p:cNvSpPr/>
            <p:nvPr/>
          </p:nvSpPr>
          <p:spPr>
            <a:xfrm>
              <a:off x="246888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FindActualKeyRect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픽셀 경계 분석</a:t>
              </a:r>
              <a:endParaRPr lang="en-US" sz="1200" dirty="0"/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865E2EF-88A5-FBB1-8C76-6FA9C24253D8}"/>
                </a:ext>
              </a:extLst>
            </p:cNvPr>
            <p:cNvSpPr/>
            <p:nvPr/>
          </p:nvSpPr>
          <p:spPr>
            <a:xfrm>
              <a:off x="347472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BAF667C7-7E72-6F95-745D-726EB83991A6}"/>
                </a:ext>
              </a:extLst>
            </p:cNvPr>
            <p:cNvSpPr/>
            <p:nvPr/>
          </p:nvSpPr>
          <p:spPr>
            <a:xfrm>
              <a:off x="4663440" y="2331720"/>
              <a:ext cx="2011680" cy="82296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8A269444-2D92-BC00-FDE7-5896C69EB1FD}"/>
                </a:ext>
              </a:extLst>
            </p:cNvPr>
            <p:cNvSpPr/>
            <p:nvPr/>
          </p:nvSpPr>
          <p:spPr>
            <a:xfrm>
              <a:off x="466344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CheckBolt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볼트 유무 판정</a:t>
              </a:r>
              <a:endParaRPr lang="en-US" sz="1200" dirty="0"/>
            </a:p>
          </p:txBody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121CCA1C-FD3B-D9B2-18FE-3582C976CDE3}"/>
                </a:ext>
              </a:extLst>
            </p:cNvPr>
            <p:cNvSpPr/>
            <p:nvPr/>
          </p:nvSpPr>
          <p:spPr>
            <a:xfrm>
              <a:off x="566928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68E03662-1DC1-B9B6-1924-3286EEA3A40F}"/>
                </a:ext>
              </a:extLst>
            </p:cNvPr>
            <p:cNvSpPr/>
            <p:nvPr/>
          </p:nvSpPr>
          <p:spPr>
            <a:xfrm>
              <a:off x="6858000" y="2331720"/>
              <a:ext cx="2011680" cy="82296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023DC0BD-D6CD-C987-84A6-353E30BF99CB}"/>
                </a:ext>
              </a:extLst>
            </p:cNvPr>
            <p:cNvSpPr/>
            <p:nvPr/>
          </p:nvSpPr>
          <p:spPr>
            <a:xfrm>
              <a:off x="6858000" y="2596896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CheckMark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CLAHE+Laplacian</a:t>
              </a:r>
              <a:endParaRPr lang="en-US" sz="1200" dirty="0"/>
            </a:p>
          </p:txBody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763484E7-B1FE-681F-8A63-5CC5C5F8A300}"/>
                </a:ext>
              </a:extLst>
            </p:cNvPr>
            <p:cNvSpPr/>
            <p:nvPr/>
          </p:nvSpPr>
          <p:spPr>
            <a:xfrm>
              <a:off x="7863840" y="1920240"/>
              <a:ext cx="0" cy="4114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D50CB4CB-1628-9EEC-52F6-BCB454E0DB6E}"/>
                </a:ext>
              </a:extLst>
            </p:cNvPr>
            <p:cNvSpPr/>
            <p:nvPr/>
          </p:nvSpPr>
          <p:spPr>
            <a:xfrm>
              <a:off x="274320" y="3611880"/>
              <a:ext cx="256032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02218BDA-14E3-8CE0-4F29-B4390D669B8A}"/>
                </a:ext>
              </a:extLst>
            </p:cNvPr>
            <p:cNvSpPr/>
            <p:nvPr/>
          </p:nvSpPr>
          <p:spPr>
            <a:xfrm>
              <a:off x="274320" y="3675888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ImageSpace (버퍼)</a:t>
              </a:r>
              <a:endParaRPr lang="en-US" sz="1200" dirty="0"/>
            </a:p>
          </p:txBody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7215E811-633C-57BC-CA33-F14CE5D9B002}"/>
                </a:ext>
              </a:extLst>
            </p:cNvPr>
            <p:cNvSpPr/>
            <p:nvPr/>
          </p:nvSpPr>
          <p:spPr>
            <a:xfrm>
              <a:off x="274320" y="4005072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Gray / Color 채널 분리</a:t>
              </a:r>
              <a:endParaRPr lang="en-US" sz="950" dirty="0"/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D5A03AB5-AE61-A40B-1CEA-E03D9E35E264}"/>
                </a:ext>
              </a:extLst>
            </p:cNvPr>
            <p:cNvSpPr/>
            <p:nvPr/>
          </p:nvSpPr>
          <p:spPr>
            <a:xfrm>
              <a:off x="3291840" y="3611880"/>
              <a:ext cx="274320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439E7838-ADEA-27F9-813F-1C2C99E44CB2}"/>
                </a:ext>
              </a:extLst>
            </p:cNvPr>
            <p:cNvSpPr/>
            <p:nvPr/>
          </p:nvSpPr>
          <p:spPr>
            <a:xfrm>
              <a:off x="3291840" y="367588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UI 표시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CameraForm / ResultForm</a:t>
              </a:r>
              <a:endParaRPr lang="en-US" sz="1200" dirty="0"/>
            </a:p>
          </p:txBody>
        </p:sp>
        <p:sp>
          <p:nvSpPr>
            <p:cNvPr id="51" name="Text 31">
              <a:extLst>
                <a:ext uri="{FF2B5EF4-FFF2-40B4-BE49-F238E27FC236}">
                  <a16:creationId xmlns:a16="http://schemas.microsoft.com/office/drawing/2014/main" id="{907AF83C-0411-5297-45E7-DD2470A816A4}"/>
                </a:ext>
              </a:extLst>
            </p:cNvPr>
            <p:cNvSpPr/>
            <p:nvPr/>
          </p:nvSpPr>
          <p:spPr>
            <a:xfrm>
              <a:off x="3291840" y="4005072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DrawInspectInfo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실시간 박스 오버레이</a:t>
              </a:r>
              <a:endParaRPr lang="en-US" sz="950" dirty="0"/>
            </a:p>
          </p:txBody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7BF7B21D-DECA-1A4B-6B62-CA02FA2695D4}"/>
                </a:ext>
              </a:extLst>
            </p:cNvPr>
            <p:cNvSpPr/>
            <p:nvPr/>
          </p:nvSpPr>
          <p:spPr>
            <a:xfrm>
              <a:off x="6400800" y="3611880"/>
              <a:ext cx="2468880" cy="777240"/>
            </a:xfrm>
            <a:prstGeom prst="rect">
              <a:avLst/>
            </a:prstGeom>
            <a:solidFill>
              <a:srgbClr val="E8EDF7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33">
              <a:extLst>
                <a:ext uri="{FF2B5EF4-FFF2-40B4-BE49-F238E27FC236}">
                  <a16:creationId xmlns:a16="http://schemas.microsoft.com/office/drawing/2014/main" id="{CD6E5695-596B-AF01-A344-92BB7B5DCE5B}"/>
                </a:ext>
              </a:extLst>
            </p:cNvPr>
            <p:cNvSpPr/>
            <p:nvPr/>
          </p:nvSpPr>
          <p:spPr>
            <a:xfrm>
              <a:off x="6400800" y="3675888"/>
              <a:ext cx="2468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SaveQueue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비동기 저장 스레드</a:t>
              </a:r>
              <a:endParaRPr lang="en-US" sz="1200" dirty="0"/>
            </a:p>
          </p:txBody>
        </p:sp>
        <p:sp>
          <p:nvSpPr>
            <p:cNvPr id="54" name="Text 34">
              <a:extLst>
                <a:ext uri="{FF2B5EF4-FFF2-40B4-BE49-F238E27FC236}">
                  <a16:creationId xmlns:a16="http://schemas.microsoft.com/office/drawing/2014/main" id="{13DE7EC7-ABEA-D722-D7E7-3410662F2C9E}"/>
                </a:ext>
              </a:extLst>
            </p:cNvPr>
            <p:cNvSpPr/>
            <p:nvPr/>
          </p:nvSpPr>
          <p:spPr>
            <a:xfrm>
              <a:off x="6400800" y="4005072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OK / NG-BOLT / NG-MARK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A6E8A"/>
                  </a:solidFill>
                </a:rPr>
                <a:t>폴더 자동 분류 저장</a:t>
              </a:r>
              <a:endParaRPr lang="en-US" sz="950" dirty="0"/>
            </a:p>
          </p:txBody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19BCF711-F7E1-293F-9B7D-DE15EA62D685}"/>
                </a:ext>
              </a:extLst>
            </p:cNvPr>
            <p:cNvSpPr/>
            <p:nvPr/>
          </p:nvSpPr>
          <p:spPr>
            <a:xfrm>
              <a:off x="155448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6396EEEC-C523-D75C-9B7E-D9F5BE0F5E75}"/>
                </a:ext>
              </a:extLst>
            </p:cNvPr>
            <p:cNvSpPr/>
            <p:nvPr/>
          </p:nvSpPr>
          <p:spPr>
            <a:xfrm>
              <a:off x="466344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E5F5E693-7CF1-5E17-1F68-74735FCFAEDA}"/>
                </a:ext>
              </a:extLst>
            </p:cNvPr>
            <p:cNvSpPr/>
            <p:nvPr/>
          </p:nvSpPr>
          <p:spPr>
            <a:xfrm>
              <a:off x="7635240" y="3154680"/>
              <a:ext cx="0" cy="45720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77031261-C626-27D1-D7D5-2782CE4538FB}"/>
                </a:ext>
              </a:extLst>
            </p:cNvPr>
            <p:cNvSpPr/>
            <p:nvPr/>
          </p:nvSpPr>
          <p:spPr>
            <a:xfrm>
              <a:off x="3108960" y="4572000"/>
              <a:ext cx="3108960" cy="777240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C0CC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39">
              <a:extLst>
                <a:ext uri="{FF2B5EF4-FFF2-40B4-BE49-F238E27FC236}">
                  <a16:creationId xmlns:a16="http://schemas.microsoft.com/office/drawing/2014/main" id="{AB95ADBB-8302-3CBF-8CF4-D56CF7ECE99F}"/>
                </a:ext>
              </a:extLst>
            </p:cNvPr>
            <p:cNvSpPr/>
            <p:nvPr/>
          </p:nvSpPr>
          <p:spPr>
            <a:xfrm>
              <a:off x="3108960" y="4636008"/>
              <a:ext cx="31089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VisionSequence (PLC)</a:t>
              </a:r>
              <a:endParaRPr lang="en-US" sz="1200" dirty="0"/>
            </a:p>
          </p:txBody>
        </p:sp>
        <p:sp>
          <p:nvSpPr>
            <p:cNvPr id="60" name="Text 40">
              <a:extLst>
                <a:ext uri="{FF2B5EF4-FFF2-40B4-BE49-F238E27FC236}">
                  <a16:creationId xmlns:a16="http://schemas.microsoft.com/office/drawing/2014/main" id="{CFDDD425-00A4-69EE-277A-3ABA8B9E817B}"/>
                </a:ext>
              </a:extLst>
            </p:cNvPr>
            <p:cNvSpPr/>
            <p:nvPr/>
          </p:nvSpPr>
          <p:spPr>
            <a:xfrm>
              <a:off x="3108960" y="5074820"/>
              <a:ext cx="3108960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algn="l"/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SeqCmd.InspStart → Grab</a:t>
              </a:r>
              <a:endParaRPr lang="en-US" sz="9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SeqCmd.InspEnd → 결과 전송</a:t>
              </a:r>
              <a:endParaRPr lang="en-US" sz="950" dirty="0"/>
            </a:p>
          </p:txBody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05ECDCB0-96D0-B6B5-C3FC-1759BC97458A}"/>
                </a:ext>
              </a:extLst>
            </p:cNvPr>
            <p:cNvSpPr/>
            <p:nvPr/>
          </p:nvSpPr>
          <p:spPr>
            <a:xfrm>
              <a:off x="4663440" y="4389120"/>
              <a:ext cx="0" cy="18288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92A887D2-25B8-C50E-78BA-9E3EFCEEADFB}"/>
                </a:ext>
              </a:extLst>
            </p:cNvPr>
            <p:cNvSpPr/>
            <p:nvPr/>
          </p:nvSpPr>
          <p:spPr>
            <a:xfrm>
              <a:off x="4663440" y="4389120"/>
              <a:ext cx="0" cy="182880"/>
            </a:xfrm>
            <a:prstGeom prst="line">
              <a:avLst/>
            </a:prstGeom>
            <a:noFill/>
            <a:ln w="2286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691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4885-A3D5-72C1-ED64-0F049CE4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A0CC8AE1-3292-CA05-B2C6-E7CC6221781F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02D0A539-8233-FCEC-A8EE-13B43D8B0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C0945449-6A2C-1498-EF85-4C47A48AD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284F6F21-2BE1-8473-6620-C368D92FF882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6E971927-64DA-53C5-42B9-DBBCE0BCF03E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알고리즘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2F4D77D9-DA10-E6DE-CC8E-DA663D120CC4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핵심 알고리즘 상세</a:t>
            </a:r>
          </a:p>
        </p:txBody>
      </p:sp>
      <p:grpSp>
        <p:nvGrpSpPr>
          <p:cNvPr id="919" name="그룹 918">
            <a:extLst>
              <a:ext uri="{FF2B5EF4-FFF2-40B4-BE49-F238E27FC236}">
                <a16:creationId xmlns:a16="http://schemas.microsoft.com/office/drawing/2014/main" id="{93DC12DF-E965-9D8E-15B2-F164A63FA1D6}"/>
              </a:ext>
            </a:extLst>
          </p:cNvPr>
          <p:cNvGrpSpPr/>
          <p:nvPr/>
        </p:nvGrpSpPr>
        <p:grpSpPr>
          <a:xfrm>
            <a:off x="1031431" y="1270671"/>
            <a:ext cx="10129137" cy="4905842"/>
            <a:chOff x="274320" y="960120"/>
            <a:chExt cx="8595360" cy="3977640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0F366FF7-952A-47C8-40CB-490968127D86}"/>
                </a:ext>
              </a:extLst>
            </p:cNvPr>
            <p:cNvSpPr/>
            <p:nvPr/>
          </p:nvSpPr>
          <p:spPr>
            <a:xfrm>
              <a:off x="274320" y="960120"/>
              <a:ext cx="4114800" cy="3977640"/>
            </a:xfrm>
            <a:prstGeom prst="rect">
              <a:avLst/>
            </a:prstGeom>
            <a:solidFill>
              <a:srgbClr val="0D2340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EB2E3D06-C476-EC81-D371-6CD9739FE527}"/>
                </a:ext>
              </a:extLst>
            </p:cNvPr>
            <p:cNvSpPr/>
            <p:nvPr/>
          </p:nvSpPr>
          <p:spPr>
            <a:xfrm>
              <a:off x="274320" y="960120"/>
              <a:ext cx="411480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CD414606-A8BE-86D9-3E73-26BAECFA62BC}"/>
                </a:ext>
              </a:extLst>
            </p:cNvPr>
            <p:cNvSpPr/>
            <p:nvPr/>
          </p:nvSpPr>
          <p:spPr>
            <a:xfrm>
              <a:off x="320040" y="960120"/>
              <a:ext cx="4023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⚙  볼트 검사 (CheckBolt)</a:t>
              </a:r>
              <a:endParaRPr lang="en-US" sz="1600" dirty="0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D3C45627-FDFB-ABB4-B9FF-FBBD70889F05}"/>
                </a:ext>
              </a:extLst>
            </p:cNvPr>
            <p:cNvSpPr/>
            <p:nvPr/>
          </p:nvSpPr>
          <p:spPr>
            <a:xfrm>
              <a:off x="411480" y="157276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AF64B9B-F122-292F-100F-8549FD370D51}"/>
                </a:ext>
              </a:extLst>
            </p:cNvPr>
            <p:cNvSpPr/>
            <p:nvPr/>
          </p:nvSpPr>
          <p:spPr>
            <a:xfrm>
              <a:off x="411480" y="15727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1</a:t>
              </a:r>
              <a:endParaRPr lang="en-US" sz="1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7A6F9EE-07C7-8E69-2715-500346A7068B}"/>
                </a:ext>
              </a:extLst>
            </p:cNvPr>
            <p:cNvSpPr/>
            <p:nvPr/>
          </p:nvSpPr>
          <p:spPr>
            <a:xfrm>
              <a:off x="841248" y="154533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ROI 설정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98C5D80-E7CE-331C-3B0A-BDAC53E56355}"/>
                </a:ext>
              </a:extLst>
            </p:cNvPr>
            <p:cNvSpPr/>
            <p:nvPr/>
          </p:nvSpPr>
          <p:spPr>
            <a:xfrm>
              <a:off x="841248" y="181051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볼트 위치(상/하)에 따라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건반 높이 10% 영역 지정</a:t>
              </a:r>
              <a:endParaRPr lang="en-US" sz="14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26EF7FE2-6252-9738-7FCC-8F23D6C23384}"/>
                </a:ext>
              </a:extLst>
            </p:cNvPr>
            <p:cNvSpPr/>
            <p:nvPr/>
          </p:nvSpPr>
          <p:spPr>
            <a:xfrm>
              <a:off x="411480" y="239572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29761807-48C5-896D-7201-5AE68DB9F386}"/>
                </a:ext>
              </a:extLst>
            </p:cNvPr>
            <p:cNvSpPr/>
            <p:nvPr/>
          </p:nvSpPr>
          <p:spPr>
            <a:xfrm>
              <a:off x="411480" y="239572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2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E311062-65FD-B5A8-4C0C-34A44812E156}"/>
                </a:ext>
              </a:extLst>
            </p:cNvPr>
            <p:cNvSpPr/>
            <p:nvPr/>
          </p:nvSpPr>
          <p:spPr>
            <a:xfrm>
              <a:off x="841248" y="236829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Threshold</a:t>
              </a:r>
              <a:endParaRPr lang="en-US" sz="14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55E773B8-3891-5CBC-8B10-D0E46847ECDA}"/>
                </a:ext>
              </a:extLst>
            </p:cNvPr>
            <p:cNvSpPr/>
            <p:nvPr/>
          </p:nvSpPr>
          <p:spPr>
            <a:xfrm>
              <a:off x="841248" y="263347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Gray 이미지 → 이진화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(Thresh_Binary_Inv)</a:t>
              </a:r>
              <a:endParaRPr lang="en-US" sz="1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8755E66-9AA8-C1E1-C5C7-F48DD0C7F5A9}"/>
                </a:ext>
              </a:extLst>
            </p:cNvPr>
            <p:cNvSpPr/>
            <p:nvPr/>
          </p:nvSpPr>
          <p:spPr>
            <a:xfrm>
              <a:off x="411480" y="321868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63F6B81-D3B2-800F-CC68-9D8A38DFE5B0}"/>
                </a:ext>
              </a:extLst>
            </p:cNvPr>
            <p:cNvSpPr/>
            <p:nvPr/>
          </p:nvSpPr>
          <p:spPr>
            <a:xfrm>
              <a:off x="411480" y="321868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3</a:t>
              </a:r>
              <a:endParaRPr lang="en-US" sz="14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1F56DC5-A0F5-AEE5-AAFC-2A56FF4C2D56}"/>
                </a:ext>
              </a:extLst>
            </p:cNvPr>
            <p:cNvSpPr/>
            <p:nvPr/>
          </p:nvSpPr>
          <p:spPr>
            <a:xfrm>
              <a:off x="841248" y="319125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Connected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Components</a:t>
              </a:r>
              <a:endParaRPr lang="en-US" sz="14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72CF6329-F60A-12F2-58C3-64857F5587FD}"/>
                </a:ext>
              </a:extLst>
            </p:cNvPr>
            <p:cNvSpPr/>
            <p:nvPr/>
          </p:nvSpPr>
          <p:spPr>
            <a:xfrm>
              <a:off x="841248" y="345643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레이블링으로 볼트 후보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블롭(Blob) 추출</a:t>
              </a:r>
              <a:endParaRPr lang="en-US" sz="14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4F33136-7EE4-168A-950B-8AC4543189F0}"/>
                </a:ext>
              </a:extLst>
            </p:cNvPr>
            <p:cNvSpPr/>
            <p:nvPr/>
          </p:nvSpPr>
          <p:spPr>
            <a:xfrm>
              <a:off x="411480" y="404164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D11E937F-B45E-211D-D183-59BA55E6B200}"/>
                </a:ext>
              </a:extLst>
            </p:cNvPr>
            <p:cNvSpPr/>
            <p:nvPr/>
          </p:nvSpPr>
          <p:spPr>
            <a:xfrm>
              <a:off x="411480" y="404164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4</a:t>
              </a:r>
              <a:endParaRPr lang="en-US" sz="14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1A9062B-B501-8131-546E-6736EDD266A6}"/>
                </a:ext>
              </a:extLst>
            </p:cNvPr>
            <p:cNvSpPr/>
            <p:nvPr/>
          </p:nvSpPr>
          <p:spPr>
            <a:xfrm>
              <a:off x="841248" y="401421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DC0F5"/>
                  </a:solidFill>
                </a:rPr>
                <a:t>크기 필터링</a:t>
              </a:r>
              <a:endParaRPr lang="en-US" sz="14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5853D5D4-0FF4-A9A2-FE99-381A004121D2}"/>
                </a:ext>
              </a:extLst>
            </p:cNvPr>
            <p:cNvSpPr/>
            <p:nvPr/>
          </p:nvSpPr>
          <p:spPr>
            <a:xfrm>
              <a:off x="841248" y="427939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면적 범위 검증으로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ABEDD"/>
                  </a:solidFill>
                </a:rPr>
                <a:t>실제 볼트 여부 최종 판정</a:t>
              </a:r>
              <a:endParaRPr lang="en-US" sz="1400" dirty="0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59E80965-1ECF-ED45-6820-4C9DBFD81B29}"/>
                </a:ext>
              </a:extLst>
            </p:cNvPr>
            <p:cNvSpPr/>
            <p:nvPr/>
          </p:nvSpPr>
          <p:spPr>
            <a:xfrm>
              <a:off x="4754880" y="960120"/>
              <a:ext cx="4114800" cy="397764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E4B1FF2-A215-95B3-ED8F-F0B274FCFA29}"/>
                </a:ext>
              </a:extLst>
            </p:cNvPr>
            <p:cNvSpPr/>
            <p:nvPr/>
          </p:nvSpPr>
          <p:spPr>
            <a:xfrm>
              <a:off x="4754880" y="960120"/>
              <a:ext cx="411480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6" name="Text 24">
              <a:extLst>
                <a:ext uri="{FF2B5EF4-FFF2-40B4-BE49-F238E27FC236}">
                  <a16:creationId xmlns:a16="http://schemas.microsoft.com/office/drawing/2014/main" id="{AA166EDB-E941-6850-8834-7AE281B3EEBB}"/>
                </a:ext>
              </a:extLst>
            </p:cNvPr>
            <p:cNvSpPr/>
            <p:nvPr/>
          </p:nvSpPr>
          <p:spPr>
            <a:xfrm>
              <a:off x="4800600" y="960120"/>
              <a:ext cx="4023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2A4A"/>
                  </a:solidFill>
                </a:rPr>
                <a:t>🔍  각인 검사 (CheckMark)</a:t>
              </a:r>
              <a:endParaRPr lang="en-US" sz="1600" dirty="0"/>
            </a:p>
          </p:txBody>
        </p:sp>
        <p:sp>
          <p:nvSpPr>
            <p:cNvPr id="897" name="Shape 25">
              <a:extLst>
                <a:ext uri="{FF2B5EF4-FFF2-40B4-BE49-F238E27FC236}">
                  <a16:creationId xmlns:a16="http://schemas.microsoft.com/office/drawing/2014/main" id="{FC117853-A331-44F6-009D-3A32F7C71DA9}"/>
                </a:ext>
              </a:extLst>
            </p:cNvPr>
            <p:cNvSpPr/>
            <p:nvPr/>
          </p:nvSpPr>
          <p:spPr>
            <a:xfrm>
              <a:off x="4892040" y="157276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8" name="Text 26">
              <a:extLst>
                <a:ext uri="{FF2B5EF4-FFF2-40B4-BE49-F238E27FC236}">
                  <a16:creationId xmlns:a16="http://schemas.microsoft.com/office/drawing/2014/main" id="{387A5B80-6379-699A-B98D-B56ED811C08B}"/>
                </a:ext>
              </a:extLst>
            </p:cNvPr>
            <p:cNvSpPr/>
            <p:nvPr/>
          </p:nvSpPr>
          <p:spPr>
            <a:xfrm>
              <a:off x="4892040" y="157276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1</a:t>
              </a:r>
              <a:endParaRPr lang="en-US" sz="1400" dirty="0"/>
            </a:p>
          </p:txBody>
        </p:sp>
        <p:sp>
          <p:nvSpPr>
            <p:cNvPr id="899" name="Text 27">
              <a:extLst>
                <a:ext uri="{FF2B5EF4-FFF2-40B4-BE49-F238E27FC236}">
                  <a16:creationId xmlns:a16="http://schemas.microsoft.com/office/drawing/2014/main" id="{4D56ADA3-F887-DF81-D84C-CD5E8F83B440}"/>
                </a:ext>
              </a:extLst>
            </p:cNvPr>
            <p:cNvSpPr/>
            <p:nvPr/>
          </p:nvSpPr>
          <p:spPr>
            <a:xfrm>
              <a:off x="5321808" y="154533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중앙 ROI</a:t>
              </a:r>
              <a:endParaRPr lang="en-US" sz="1400" dirty="0"/>
            </a:p>
          </p:txBody>
        </p:sp>
        <p:sp>
          <p:nvSpPr>
            <p:cNvPr id="900" name="Text 28">
              <a:extLst>
                <a:ext uri="{FF2B5EF4-FFF2-40B4-BE49-F238E27FC236}">
                  <a16:creationId xmlns:a16="http://schemas.microsoft.com/office/drawing/2014/main" id="{93B9E900-EAEA-50CD-58D1-B546A49D9919}"/>
                </a:ext>
              </a:extLst>
            </p:cNvPr>
            <p:cNvSpPr/>
            <p:nvPr/>
          </p:nvSpPr>
          <p:spPr>
            <a:xfrm>
              <a:off x="5321808" y="181051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건반 중앙 30~70% 가로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50~75% 세로 영역 추출</a:t>
              </a:r>
              <a:endParaRPr lang="en-US" sz="1400" dirty="0"/>
            </a:p>
          </p:txBody>
        </p:sp>
        <p:sp>
          <p:nvSpPr>
            <p:cNvPr id="906" name="Shape 29">
              <a:extLst>
                <a:ext uri="{FF2B5EF4-FFF2-40B4-BE49-F238E27FC236}">
                  <a16:creationId xmlns:a16="http://schemas.microsoft.com/office/drawing/2014/main" id="{048C1639-B7F0-E5DD-5063-5E390B437595}"/>
                </a:ext>
              </a:extLst>
            </p:cNvPr>
            <p:cNvSpPr/>
            <p:nvPr/>
          </p:nvSpPr>
          <p:spPr>
            <a:xfrm>
              <a:off x="4892040" y="239572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7" name="Text 30">
              <a:extLst>
                <a:ext uri="{FF2B5EF4-FFF2-40B4-BE49-F238E27FC236}">
                  <a16:creationId xmlns:a16="http://schemas.microsoft.com/office/drawing/2014/main" id="{F240CAED-930F-D424-19B8-D9246E8F7EF9}"/>
                </a:ext>
              </a:extLst>
            </p:cNvPr>
            <p:cNvSpPr/>
            <p:nvPr/>
          </p:nvSpPr>
          <p:spPr>
            <a:xfrm>
              <a:off x="4892040" y="239572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2</a:t>
              </a:r>
              <a:endParaRPr lang="en-US" sz="1400" dirty="0"/>
            </a:p>
          </p:txBody>
        </p:sp>
        <p:sp>
          <p:nvSpPr>
            <p:cNvPr id="908" name="Text 31">
              <a:extLst>
                <a:ext uri="{FF2B5EF4-FFF2-40B4-BE49-F238E27FC236}">
                  <a16:creationId xmlns:a16="http://schemas.microsoft.com/office/drawing/2014/main" id="{03E12B80-D82C-ABF7-5541-3375E620C4F3}"/>
                </a:ext>
              </a:extLst>
            </p:cNvPr>
            <p:cNvSpPr/>
            <p:nvPr/>
          </p:nvSpPr>
          <p:spPr>
            <a:xfrm>
              <a:off x="5321808" y="236829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CLAHE</a:t>
              </a:r>
              <a:endParaRPr lang="en-US" sz="1400" dirty="0"/>
            </a:p>
          </p:txBody>
        </p:sp>
        <p:sp>
          <p:nvSpPr>
            <p:cNvPr id="909" name="Text 32">
              <a:extLst>
                <a:ext uri="{FF2B5EF4-FFF2-40B4-BE49-F238E27FC236}">
                  <a16:creationId xmlns:a16="http://schemas.microsoft.com/office/drawing/2014/main" id="{3449EB85-6346-F729-DE3A-63D995DF0B7A}"/>
                </a:ext>
              </a:extLst>
            </p:cNvPr>
            <p:cNvSpPr/>
            <p:nvPr/>
          </p:nvSpPr>
          <p:spPr>
            <a:xfrm>
              <a:off x="5321808" y="263347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로컬 대비 향상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(clipLimit 1.8, tile 8×8)</a:t>
              </a:r>
              <a:endParaRPr lang="en-US" sz="1400" dirty="0"/>
            </a:p>
          </p:txBody>
        </p:sp>
        <p:sp>
          <p:nvSpPr>
            <p:cNvPr id="911" name="Shape 33">
              <a:extLst>
                <a:ext uri="{FF2B5EF4-FFF2-40B4-BE49-F238E27FC236}">
                  <a16:creationId xmlns:a16="http://schemas.microsoft.com/office/drawing/2014/main" id="{2077DDDA-33E1-EC08-CCEC-06D5414797BE}"/>
                </a:ext>
              </a:extLst>
            </p:cNvPr>
            <p:cNvSpPr/>
            <p:nvPr/>
          </p:nvSpPr>
          <p:spPr>
            <a:xfrm>
              <a:off x="4892040" y="321868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2" name="Text 34">
              <a:extLst>
                <a:ext uri="{FF2B5EF4-FFF2-40B4-BE49-F238E27FC236}">
                  <a16:creationId xmlns:a16="http://schemas.microsoft.com/office/drawing/2014/main" id="{D9B45F6E-7263-1AC5-A617-D2BD59369BE3}"/>
                </a:ext>
              </a:extLst>
            </p:cNvPr>
            <p:cNvSpPr/>
            <p:nvPr/>
          </p:nvSpPr>
          <p:spPr>
            <a:xfrm>
              <a:off x="4892040" y="321868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3</a:t>
              </a:r>
              <a:endParaRPr lang="en-US" sz="1400" dirty="0"/>
            </a:p>
          </p:txBody>
        </p:sp>
        <p:sp>
          <p:nvSpPr>
            <p:cNvPr id="913" name="Text 35">
              <a:extLst>
                <a:ext uri="{FF2B5EF4-FFF2-40B4-BE49-F238E27FC236}">
                  <a16:creationId xmlns:a16="http://schemas.microsoft.com/office/drawing/2014/main" id="{F8615AF3-DBEA-9C7D-029D-D83AC03170B4}"/>
                </a:ext>
              </a:extLst>
            </p:cNvPr>
            <p:cNvSpPr/>
            <p:nvPr/>
          </p:nvSpPr>
          <p:spPr>
            <a:xfrm>
              <a:off x="5321808" y="319125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Gaussian Blur</a:t>
              </a:r>
              <a:endParaRPr lang="en-US" sz="1400" dirty="0"/>
            </a:p>
          </p:txBody>
        </p:sp>
        <p:sp>
          <p:nvSpPr>
            <p:cNvPr id="914" name="Text 36">
              <a:extLst>
                <a:ext uri="{FF2B5EF4-FFF2-40B4-BE49-F238E27FC236}">
                  <a16:creationId xmlns:a16="http://schemas.microsoft.com/office/drawing/2014/main" id="{EDD2C519-7565-BDD6-671C-7043A242AC42}"/>
                </a:ext>
              </a:extLst>
            </p:cNvPr>
            <p:cNvSpPr/>
            <p:nvPr/>
          </p:nvSpPr>
          <p:spPr>
            <a:xfrm>
              <a:off x="5321808" y="345643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GaussianBlur(3×3)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미세 노이즈 제거</a:t>
              </a:r>
              <a:endParaRPr lang="en-US" sz="1400" dirty="0"/>
            </a:p>
          </p:txBody>
        </p:sp>
        <p:sp>
          <p:nvSpPr>
            <p:cNvPr id="915" name="Shape 37">
              <a:extLst>
                <a:ext uri="{FF2B5EF4-FFF2-40B4-BE49-F238E27FC236}">
                  <a16:creationId xmlns:a16="http://schemas.microsoft.com/office/drawing/2014/main" id="{52593B8F-516E-6BE5-F86D-D99A5264DF6A}"/>
                </a:ext>
              </a:extLst>
            </p:cNvPr>
            <p:cNvSpPr/>
            <p:nvPr/>
          </p:nvSpPr>
          <p:spPr>
            <a:xfrm>
              <a:off x="4892040" y="4041648"/>
              <a:ext cx="347472" cy="34747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6" name="Text 38">
              <a:extLst>
                <a:ext uri="{FF2B5EF4-FFF2-40B4-BE49-F238E27FC236}">
                  <a16:creationId xmlns:a16="http://schemas.microsoft.com/office/drawing/2014/main" id="{97A8B566-6295-742B-31A0-D6025F783670}"/>
                </a:ext>
              </a:extLst>
            </p:cNvPr>
            <p:cNvSpPr/>
            <p:nvPr/>
          </p:nvSpPr>
          <p:spPr>
            <a:xfrm>
              <a:off x="4892040" y="404164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4</a:t>
              </a:r>
              <a:endParaRPr lang="en-US" sz="1400" dirty="0"/>
            </a:p>
          </p:txBody>
        </p:sp>
        <p:sp>
          <p:nvSpPr>
            <p:cNvPr id="917" name="Text 39">
              <a:extLst>
                <a:ext uri="{FF2B5EF4-FFF2-40B4-BE49-F238E27FC236}">
                  <a16:creationId xmlns:a16="http://schemas.microsoft.com/office/drawing/2014/main" id="{6544A1F1-DC53-5A5E-8F82-1C35BA4B7A19}"/>
                </a:ext>
              </a:extLst>
            </p:cNvPr>
            <p:cNvSpPr/>
            <p:nvPr/>
          </p:nvSpPr>
          <p:spPr>
            <a:xfrm>
              <a:off x="5321808" y="4014216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Laplacian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D0D8EC"/>
                  </a:solidFill>
                </a:rPr>
                <a:t>선명도 판정</a:t>
              </a:r>
              <a:endParaRPr lang="en-US" sz="1400" dirty="0"/>
            </a:p>
          </p:txBody>
        </p:sp>
        <p:sp>
          <p:nvSpPr>
            <p:cNvPr id="918" name="Text 40">
              <a:extLst>
                <a:ext uri="{FF2B5EF4-FFF2-40B4-BE49-F238E27FC236}">
                  <a16:creationId xmlns:a16="http://schemas.microsoft.com/office/drawing/2014/main" id="{CCA88798-A34E-29D4-782E-38B1F67F3F20}"/>
                </a:ext>
              </a:extLst>
            </p:cNvPr>
            <p:cNvSpPr/>
            <p:nvPr/>
          </p:nvSpPr>
          <p:spPr>
            <a:xfrm>
              <a:off x="5321808" y="4279392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stddev &gt; 9.0 &amp;&amp;</a:t>
              </a:r>
              <a:endParaRPr lang="en-US" sz="14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A8BAC8"/>
                  </a:solidFill>
                </a:rPr>
                <a:t>lapStd &gt; 2.8 → Mark OK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287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42013-75D9-3D8D-30D1-1D695AAB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B6B58BAC-542C-936C-4622-7261DA6142B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CB54FF5D-E92F-2E9A-EC41-2DE0209CA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AE4D9E6E-5621-F32F-271C-1C00E6E54F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016A28E4-EE66-00D6-B543-7FDDF993A1A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D9B26A09-DF89-2355-93EA-7D2BE992A881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흐름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0DA51262-E4BD-0F5F-DD5D-9158B91BBAB5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실행 흐름 (1 Cycle)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2A3A91B-40CC-50E2-8258-F5D50A51A533}"/>
              </a:ext>
            </a:extLst>
          </p:cNvPr>
          <p:cNvGrpSpPr/>
          <p:nvPr/>
        </p:nvGrpSpPr>
        <p:grpSpPr>
          <a:xfrm>
            <a:off x="2577572" y="1255760"/>
            <a:ext cx="6963243" cy="5093281"/>
            <a:chOff x="1645920" y="1005840"/>
            <a:chExt cx="5852160" cy="4041648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97D79DF7-7FC6-8C38-B67D-1EF4332BD6CA}"/>
                </a:ext>
              </a:extLst>
            </p:cNvPr>
            <p:cNvSpPr/>
            <p:nvPr/>
          </p:nvSpPr>
          <p:spPr>
            <a:xfrm>
              <a:off x="1645920" y="1005840"/>
              <a:ext cx="5852160" cy="594360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6934580B-465D-62FD-DF88-8500B30E98B1}"/>
                </a:ext>
              </a:extLst>
            </p:cNvPr>
            <p:cNvSpPr/>
            <p:nvPr/>
          </p:nvSpPr>
          <p:spPr>
            <a:xfrm>
              <a:off x="1691640" y="1042416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① Grab / VirtualGrab</a:t>
              </a:r>
              <a:endParaRPr lang="en-US" sz="1400" dirty="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EC62B5A4-9F92-A331-7B41-2C5A4FC5B3BB}"/>
                </a:ext>
              </a:extLst>
            </p:cNvPr>
            <p:cNvSpPr/>
            <p:nvPr/>
          </p:nvSpPr>
          <p:spPr>
            <a:xfrm>
              <a:off x="1691640" y="1325880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카메라 촬영 또는 폴더 이미지 로드</a:t>
              </a:r>
              <a:endParaRPr lang="en-US" sz="1400" dirty="0"/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F6670412-3362-F122-566D-0797F503E930}"/>
                </a:ext>
              </a:extLst>
            </p:cNvPr>
            <p:cNvSpPr/>
            <p:nvPr/>
          </p:nvSpPr>
          <p:spPr>
            <a:xfrm>
              <a:off x="4572000" y="1600200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4BFA665E-DBE4-BD28-140B-7DE1D97878B6}"/>
                </a:ext>
              </a:extLst>
            </p:cNvPr>
            <p:cNvSpPr/>
            <p:nvPr/>
          </p:nvSpPr>
          <p:spPr>
            <a:xfrm>
              <a:off x="1645920" y="1755648"/>
              <a:ext cx="5852160" cy="594360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31C1886F-FB05-C443-01F2-6DB3ACF34DCA}"/>
                </a:ext>
              </a:extLst>
            </p:cNvPr>
            <p:cNvSpPr/>
            <p:nvPr/>
          </p:nvSpPr>
          <p:spPr>
            <a:xfrm>
              <a:off x="1691640" y="1792224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② ImageSpace.Split()</a:t>
              </a:r>
              <a:endParaRPr lang="en-US" sz="1400" dirty="0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8B9E8096-9899-3CCD-6CE2-B80BA0DF7452}"/>
                </a:ext>
              </a:extLst>
            </p:cNvPr>
            <p:cNvSpPr/>
            <p:nvPr/>
          </p:nvSpPr>
          <p:spPr>
            <a:xfrm>
              <a:off x="1691640" y="2075688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Color / Gray 채널 분리 및 버퍼 적재</a:t>
              </a:r>
              <a:endParaRPr lang="en-US" sz="1400" dirty="0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09D724ED-923C-701A-44DF-3A4EAE361E5C}"/>
                </a:ext>
              </a:extLst>
            </p:cNvPr>
            <p:cNvSpPr/>
            <p:nvPr/>
          </p:nvSpPr>
          <p:spPr>
            <a:xfrm>
              <a:off x="4572000" y="2350008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F4D9479C-A6A3-63DF-13EF-9B5399F77A69}"/>
                </a:ext>
              </a:extLst>
            </p:cNvPr>
            <p:cNvSpPr/>
            <p:nvPr/>
          </p:nvSpPr>
          <p:spPr>
            <a:xfrm>
              <a:off x="1645920" y="2505456"/>
              <a:ext cx="5852160" cy="594360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320C6BE8-D22E-7C52-FA76-A5516D4678D1}"/>
                </a:ext>
              </a:extLst>
            </p:cNvPr>
            <p:cNvSpPr/>
            <p:nvPr/>
          </p:nvSpPr>
          <p:spPr>
            <a:xfrm>
              <a:off x="1691640" y="2542032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③ RunKeyMatch()</a:t>
              </a:r>
              <a:endParaRPr lang="en-US" sz="1400" dirty="0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DCAA871E-27F3-E767-3BE5-1EE370099DCE}"/>
                </a:ext>
              </a:extLst>
            </p:cNvPr>
            <p:cNvSpPr/>
            <p:nvPr/>
          </p:nvSpPr>
          <p:spPr>
            <a:xfrm>
              <a:off x="1691640" y="2825496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MatchAlgorithm → 건반 위치 탐색 → 경계 박스 보정</a:t>
              </a:r>
              <a:endParaRPr lang="en-US" sz="1400" dirty="0"/>
            </a:p>
          </p:txBody>
        </p:sp>
        <p:sp>
          <p:nvSpPr>
            <p:cNvPr id="13" name="Shape 14">
              <a:extLst>
                <a:ext uri="{FF2B5EF4-FFF2-40B4-BE49-F238E27FC236}">
                  <a16:creationId xmlns:a16="http://schemas.microsoft.com/office/drawing/2014/main" id="{DAC4356C-D554-BA07-4442-6D2C7970416D}"/>
                </a:ext>
              </a:extLst>
            </p:cNvPr>
            <p:cNvSpPr/>
            <p:nvPr/>
          </p:nvSpPr>
          <p:spPr>
            <a:xfrm>
              <a:off x="4572000" y="3099816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0067F38B-C2C4-FFB1-6D0D-71CC9309F4A1}"/>
                </a:ext>
              </a:extLst>
            </p:cNvPr>
            <p:cNvSpPr/>
            <p:nvPr/>
          </p:nvSpPr>
          <p:spPr>
            <a:xfrm>
              <a:off x="1645920" y="3255264"/>
              <a:ext cx="5852160" cy="594360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9A7F6DCC-31B8-A0A7-ADD1-39BA77BDE5BA}"/>
                </a:ext>
              </a:extLst>
            </p:cNvPr>
            <p:cNvSpPr/>
            <p:nvPr/>
          </p:nvSpPr>
          <p:spPr>
            <a:xfrm>
              <a:off x="1691640" y="3291840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④ RunBoltMark()</a:t>
              </a:r>
              <a:endParaRPr lang="en-US" sz="1400" dirty="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3D955BFD-BA70-8D06-1853-5C6D223A449B}"/>
                </a:ext>
              </a:extLst>
            </p:cNvPr>
            <p:cNvSpPr/>
            <p:nvPr/>
          </p:nvSpPr>
          <p:spPr>
            <a:xfrm>
              <a:off x="1691640" y="3575304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각 건반 ROI → CheckBolt × 2 + CheckMark</a:t>
              </a:r>
              <a:endParaRPr lang="en-US" sz="1400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ACC2D324-56AC-6A2C-CD04-E97101BAE0D1}"/>
                </a:ext>
              </a:extLst>
            </p:cNvPr>
            <p:cNvSpPr/>
            <p:nvPr/>
          </p:nvSpPr>
          <p:spPr>
            <a:xfrm>
              <a:off x="4572000" y="3849624"/>
              <a:ext cx="0" cy="155448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87BD8F43-CC1F-C65A-6880-B44993657431}"/>
                </a:ext>
              </a:extLst>
            </p:cNvPr>
            <p:cNvSpPr/>
            <p:nvPr/>
          </p:nvSpPr>
          <p:spPr>
            <a:xfrm>
              <a:off x="1645920" y="4005072"/>
              <a:ext cx="5852160" cy="594360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5ABD57E4-9C3B-211A-B946-197B09C75932}"/>
                </a:ext>
              </a:extLst>
            </p:cNvPr>
            <p:cNvSpPr/>
            <p:nvPr/>
          </p:nvSpPr>
          <p:spPr>
            <a:xfrm>
              <a:off x="1691640" y="4041648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⑤ RunDisplayWithOptions()</a:t>
              </a:r>
              <a:endParaRPr lang="en-US" sz="14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DAE02384-1041-6607-45E3-08F9ABCDF867}"/>
                </a:ext>
              </a:extLst>
            </p:cNvPr>
            <p:cNvSpPr/>
            <p:nvPr/>
          </p:nvSpPr>
          <p:spPr>
            <a:xfrm>
              <a:off x="1691640" y="4325112"/>
              <a:ext cx="5760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7DC0F5"/>
                  </a:solidFill>
                </a:rPr>
                <a:t>CameraForm에 결과 박스 오버레이</a:t>
              </a:r>
              <a:endParaRPr lang="en-US" sz="140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FC04207B-0111-1C80-676C-A14B4EDACFEA}"/>
                </a:ext>
              </a:extLst>
            </p:cNvPr>
            <p:cNvSpPr/>
            <p:nvPr/>
          </p:nvSpPr>
          <p:spPr>
            <a:xfrm>
              <a:off x="4572000" y="4800600"/>
              <a:ext cx="0" cy="9144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78AA868F-2B82-4AC2-F443-957F6ED956BA}"/>
                </a:ext>
              </a:extLst>
            </p:cNvPr>
            <p:cNvSpPr/>
            <p:nvPr/>
          </p:nvSpPr>
          <p:spPr>
            <a:xfrm>
              <a:off x="1645920" y="4663440"/>
              <a:ext cx="2560320" cy="384048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97E24405-5D2B-45E3-08DD-8B19751D60D2}"/>
                </a:ext>
              </a:extLst>
            </p:cNvPr>
            <p:cNvSpPr/>
            <p:nvPr/>
          </p:nvSpPr>
          <p:spPr>
            <a:xfrm>
              <a:off x="1645920" y="466344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✅  OK → D:\Results\OK</a:t>
              </a:r>
              <a:endParaRPr lang="en-US" sz="140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565CCEAC-391F-E25D-C922-C03A5A74985E}"/>
                </a:ext>
              </a:extLst>
            </p:cNvPr>
            <p:cNvSpPr/>
            <p:nvPr/>
          </p:nvSpPr>
          <p:spPr>
            <a:xfrm>
              <a:off x="4937760" y="4663440"/>
              <a:ext cx="2560320" cy="384048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2F105BC1-5D9C-99F9-3381-F8D0C3542D85}"/>
                </a:ext>
              </a:extLst>
            </p:cNvPr>
            <p:cNvSpPr/>
            <p:nvPr/>
          </p:nvSpPr>
          <p:spPr>
            <a:xfrm>
              <a:off x="4937760" y="466344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❌  NG → NG-BOLT / NG-MARK</a:t>
              </a:r>
              <a:endParaRPr lang="en-US" sz="140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A177C6E1-7C48-CCBD-BBC9-6CBE0E15A3DE}"/>
                </a:ext>
              </a:extLst>
            </p:cNvPr>
            <p:cNvSpPr/>
            <p:nvPr/>
          </p:nvSpPr>
          <p:spPr>
            <a:xfrm>
              <a:off x="3200400" y="4636008"/>
              <a:ext cx="2743200" cy="0"/>
            </a:xfrm>
            <a:prstGeom prst="line">
              <a:avLst/>
            </a:prstGeom>
            <a:noFill/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CD163283-13B1-DAD9-5669-590CF216D9CE}"/>
                </a:ext>
              </a:extLst>
            </p:cNvPr>
            <p:cNvSpPr/>
            <p:nvPr/>
          </p:nvSpPr>
          <p:spPr>
            <a:xfrm>
              <a:off x="2926080" y="4636008"/>
              <a:ext cx="0" cy="0"/>
            </a:xfrm>
            <a:prstGeom prst="line">
              <a:avLst/>
            </a:prstGeom>
            <a:noFill/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8" name="Shape 29">
              <a:extLst>
                <a:ext uri="{FF2B5EF4-FFF2-40B4-BE49-F238E27FC236}">
                  <a16:creationId xmlns:a16="http://schemas.microsoft.com/office/drawing/2014/main" id="{F49D34D6-9F5D-AF43-1C39-F0C772E4B389}"/>
                </a:ext>
              </a:extLst>
            </p:cNvPr>
            <p:cNvSpPr/>
            <p:nvPr/>
          </p:nvSpPr>
          <p:spPr>
            <a:xfrm>
              <a:off x="6217920" y="4636008"/>
              <a:ext cx="0" cy="0"/>
            </a:xfrm>
            <a:prstGeom prst="line">
              <a:avLst/>
            </a:prstGeom>
            <a:noFill/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48892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CD6C-70E4-278B-541D-6F66F915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7ED67D14-A853-44A5-2601-A56C6F42F93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54B27078-AC2E-A991-0B1E-17BEE31C5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8755B096-681A-33CA-9446-BF2CE28BFA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DE3EF64-962F-93C3-9C93-707DB1DAC632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7469555F-F111-1B83-38A7-6F57BC044FFF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기술 스택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2C38C9AC-7A31-C304-1251-34DBD68BF5A4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기술 스택 &amp; 클래스 구조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8412A188-1588-0ADB-AB7A-3D1CB4565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03172"/>
              </p:ext>
            </p:extLst>
          </p:nvPr>
        </p:nvGraphicFramePr>
        <p:xfrm>
          <a:off x="1361248" y="1805508"/>
          <a:ext cx="5029200" cy="3657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분류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언어 / 프레임워크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C# .NET / WinForms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영상처리 라이브러리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OpenCvSharp 4 (OpenCV C# 바인딩)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카메라 SDK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HikRobot MV SDK / WebCam DirectShow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AI 모듈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SaigeAI (딥러닝 결함 검출)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설정 저장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XML 직렬화 + Windows Registry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로깅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SLogger (커스텀 파일/콘솔 로거)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동시성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4A6B"/>
                          </a:solidFill>
                        </a:rPr>
                        <a:t>Task.Run / Parallel.For / BlockingCollection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3">
            <a:extLst>
              <a:ext uri="{FF2B5EF4-FFF2-40B4-BE49-F238E27FC236}">
                <a16:creationId xmlns:a16="http://schemas.microsoft.com/office/drawing/2014/main" id="{57C9C45A-3EE2-C2FE-2147-E985B0E40D4E}"/>
              </a:ext>
            </a:extLst>
          </p:cNvPr>
          <p:cNvSpPr/>
          <p:nvPr/>
        </p:nvSpPr>
        <p:spPr>
          <a:xfrm>
            <a:off x="6664768" y="1805508"/>
            <a:ext cx="3291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DC1E7DE-6BDD-9EC2-097B-BCC0A9620240}"/>
              </a:ext>
            </a:extLst>
          </p:cNvPr>
          <p:cNvSpPr/>
          <p:nvPr/>
        </p:nvSpPr>
        <p:spPr>
          <a:xfrm>
            <a:off x="6710488" y="18512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클래스 관계도</a:t>
            </a:r>
            <a:endParaRPr lang="en-US" sz="13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9ADFE58-A442-5ED1-D13A-67B11A08D071}"/>
              </a:ext>
            </a:extLst>
          </p:cNvPr>
          <p:cNvSpPr/>
          <p:nvPr/>
        </p:nvSpPr>
        <p:spPr>
          <a:xfrm>
            <a:off x="6847648" y="2290140"/>
            <a:ext cx="292608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BB039AD-6574-2E8B-A786-A1235D924750}"/>
              </a:ext>
            </a:extLst>
          </p:cNvPr>
          <p:cNvSpPr/>
          <p:nvPr/>
        </p:nvSpPr>
        <p:spPr>
          <a:xfrm>
            <a:off x="6893368" y="23267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Global.Inst</a:t>
            </a:r>
            <a:endParaRPr lang="en-US" sz="11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AE5EE40-CE6F-6B63-F1F2-36BFB1EDB9B9}"/>
              </a:ext>
            </a:extLst>
          </p:cNvPr>
          <p:cNvSpPr/>
          <p:nvPr/>
        </p:nvSpPr>
        <p:spPr>
          <a:xfrm>
            <a:off x="8447848" y="23632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싱글턴 접근점</a:t>
            </a:r>
            <a:endParaRPr lang="en-US" sz="95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A9154453-A8D2-AC3C-1C8E-C24D33DFCA6F}"/>
              </a:ext>
            </a:extLst>
          </p:cNvPr>
          <p:cNvSpPr/>
          <p:nvPr/>
        </p:nvSpPr>
        <p:spPr>
          <a:xfrm>
            <a:off x="8310688" y="2674188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8806502-543E-D734-945A-4FF0EEFCAB51}"/>
              </a:ext>
            </a:extLst>
          </p:cNvPr>
          <p:cNvSpPr/>
          <p:nvPr/>
        </p:nvSpPr>
        <p:spPr>
          <a:xfrm>
            <a:off x="6847648" y="2857068"/>
            <a:ext cx="2926080" cy="384048"/>
          </a:xfrm>
          <a:prstGeom prst="rect">
            <a:avLst/>
          </a:prstGeom>
          <a:solidFill>
            <a:srgbClr val="243352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9C930308-B5E7-F58A-E7F3-B8F905A5E8CA}"/>
              </a:ext>
            </a:extLst>
          </p:cNvPr>
          <p:cNvSpPr/>
          <p:nvPr/>
        </p:nvSpPr>
        <p:spPr>
          <a:xfrm>
            <a:off x="6893368" y="28936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InspStage</a:t>
            </a:r>
            <a:endParaRPr lang="en-US" sz="11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C44C938B-A9F5-2D80-BAE4-F36482FE67CA}"/>
              </a:ext>
            </a:extLst>
          </p:cNvPr>
          <p:cNvSpPr/>
          <p:nvPr/>
        </p:nvSpPr>
        <p:spPr>
          <a:xfrm>
            <a:off x="8447848" y="29302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스테이지 관리</a:t>
            </a:r>
            <a:endParaRPr lang="en-US" sz="95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BBD6D0D-D01B-2CE1-51CC-FF7EA3BE8A02}"/>
              </a:ext>
            </a:extLst>
          </p:cNvPr>
          <p:cNvSpPr/>
          <p:nvPr/>
        </p:nvSpPr>
        <p:spPr>
          <a:xfrm>
            <a:off x="8310688" y="3241116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558E2C45-8694-1B7A-AA29-1329D0F5AD24}"/>
              </a:ext>
            </a:extLst>
          </p:cNvPr>
          <p:cNvSpPr/>
          <p:nvPr/>
        </p:nvSpPr>
        <p:spPr>
          <a:xfrm>
            <a:off x="6847648" y="3423996"/>
            <a:ext cx="2926080" cy="384048"/>
          </a:xfrm>
          <a:prstGeom prst="rect">
            <a:avLst/>
          </a:prstGeom>
          <a:solidFill>
            <a:srgbClr val="2E4470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6619C68-B242-3A8F-5D20-ED09C2C6D051}"/>
              </a:ext>
            </a:extLst>
          </p:cNvPr>
          <p:cNvSpPr/>
          <p:nvPr/>
        </p:nvSpPr>
        <p:spPr>
          <a:xfrm>
            <a:off x="6893368" y="34605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InspWorker</a:t>
            </a: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32C748C3-ABB4-6B51-42E2-FE931C03B664}"/>
              </a:ext>
            </a:extLst>
          </p:cNvPr>
          <p:cNvSpPr/>
          <p:nvPr/>
        </p:nvSpPr>
        <p:spPr>
          <a:xfrm>
            <a:off x="8447848" y="34971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알고리즘 실행</a:t>
            </a:r>
            <a:endParaRPr lang="en-US" sz="95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6DE50B7D-165C-F4B0-3870-FFE029EFC506}"/>
              </a:ext>
            </a:extLst>
          </p:cNvPr>
          <p:cNvSpPr/>
          <p:nvPr/>
        </p:nvSpPr>
        <p:spPr>
          <a:xfrm>
            <a:off x="8310688" y="3808044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E5ED66CA-0AC8-7F82-FBE0-95DF3347202C}"/>
              </a:ext>
            </a:extLst>
          </p:cNvPr>
          <p:cNvSpPr/>
          <p:nvPr/>
        </p:nvSpPr>
        <p:spPr>
          <a:xfrm>
            <a:off x="6847648" y="3990924"/>
            <a:ext cx="2926080" cy="384048"/>
          </a:xfrm>
          <a:prstGeom prst="rect">
            <a:avLst/>
          </a:prstGeom>
          <a:solidFill>
            <a:srgbClr val="2E4470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BB5026B-C015-BB29-5B3A-4E858212B0D3}"/>
              </a:ext>
            </a:extLst>
          </p:cNvPr>
          <p:cNvSpPr/>
          <p:nvPr/>
        </p:nvSpPr>
        <p:spPr>
          <a:xfrm>
            <a:off x="6893368" y="40275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InspectBoard</a:t>
            </a:r>
            <a:endParaRPr lang="en-US" sz="11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6030F97C-5DB2-95C6-6565-D8CE2E9CA696}"/>
              </a:ext>
            </a:extLst>
          </p:cNvPr>
          <p:cNvSpPr/>
          <p:nvPr/>
        </p:nvSpPr>
        <p:spPr>
          <a:xfrm>
            <a:off x="8447848" y="40640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검사 기판</a:t>
            </a:r>
            <a:endParaRPr lang="en-US" sz="950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950A795F-BED5-D404-0FED-E5BECC341C2C}"/>
              </a:ext>
            </a:extLst>
          </p:cNvPr>
          <p:cNvSpPr/>
          <p:nvPr/>
        </p:nvSpPr>
        <p:spPr>
          <a:xfrm>
            <a:off x="8310688" y="4374972"/>
            <a:ext cx="0" cy="182880"/>
          </a:xfrm>
          <a:prstGeom prst="line">
            <a:avLst/>
          </a:prstGeom>
          <a:noFill/>
          <a:ln w="12700">
            <a:solidFill>
              <a:srgbClr val="4A9FE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83C09BE4-465E-BB37-78AE-809DAEC4F954}"/>
              </a:ext>
            </a:extLst>
          </p:cNvPr>
          <p:cNvSpPr/>
          <p:nvPr/>
        </p:nvSpPr>
        <p:spPr>
          <a:xfrm>
            <a:off x="6847648" y="4557852"/>
            <a:ext cx="2926080" cy="384048"/>
          </a:xfrm>
          <a:prstGeom prst="rect">
            <a:avLst/>
          </a:prstGeom>
          <a:solidFill>
            <a:srgbClr val="243352"/>
          </a:solidFill>
          <a:ln w="6350">
            <a:solidFill>
              <a:srgbClr val="4A9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E01E637-818E-4363-4020-6F63AAC1AFB8}"/>
              </a:ext>
            </a:extLst>
          </p:cNvPr>
          <p:cNvSpPr/>
          <p:nvPr/>
        </p:nvSpPr>
        <p:spPr>
          <a:xfrm>
            <a:off x="6893368" y="45944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ImageSpace</a:t>
            </a:r>
            <a:endParaRPr lang="en-US" sz="11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212FD381-4DB6-8FED-34D4-E23EBE5D3511}"/>
              </a:ext>
            </a:extLst>
          </p:cNvPr>
          <p:cNvSpPr/>
          <p:nvPr/>
        </p:nvSpPr>
        <p:spPr>
          <a:xfrm>
            <a:off x="8447848" y="46310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0F5"/>
                </a:solidFill>
              </a:rPr>
              <a:t>버퍼 관리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6921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78B0-A84C-FCE8-F2B7-12BA59C3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B68ED822-5605-FD0B-4F2F-229358509EF9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D04920C5-5C7A-A751-AB95-3BEE34EC6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E5659857-565E-8B6A-ED55-E12FBE0F37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EDA96E0D-859E-7A5B-FDD5-771B64623B79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373D1FAE-4D0B-AE49-D489-36BE2818AE61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성과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99BB9F46-A3FA-B42A-03D2-7244F2E2F9E3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핵심 성과 &amp; 기술적 도전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037DF02-F1EB-CB2D-A635-8592FAFC07D2}"/>
              </a:ext>
            </a:extLst>
          </p:cNvPr>
          <p:cNvGrpSpPr/>
          <p:nvPr/>
        </p:nvGrpSpPr>
        <p:grpSpPr>
          <a:xfrm>
            <a:off x="1468359" y="1442709"/>
            <a:ext cx="9255281" cy="4595291"/>
            <a:chOff x="320040" y="960120"/>
            <a:chExt cx="8503920" cy="3794760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B2985A66-8F4A-93B8-BB7E-F44A23D1BE5C}"/>
                </a:ext>
              </a:extLst>
            </p:cNvPr>
            <p:cNvSpPr/>
            <p:nvPr/>
          </p:nvSpPr>
          <p:spPr>
            <a:xfrm>
              <a:off x="32004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72E2D738-E1F3-2DC3-D254-76B1C7FB9A37}"/>
                </a:ext>
              </a:extLst>
            </p:cNvPr>
            <p:cNvSpPr/>
            <p:nvPr/>
          </p:nvSpPr>
          <p:spPr>
            <a:xfrm>
              <a:off x="32004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3-in-1</a:t>
              </a:r>
              <a:endParaRPr lang="en-US" sz="3000" dirty="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5306C5B9-21E0-8D5C-A9C8-3825ED7A3F23}"/>
                </a:ext>
              </a:extLst>
            </p:cNvPr>
            <p:cNvSpPr/>
            <p:nvPr/>
          </p:nvSpPr>
          <p:spPr>
            <a:xfrm>
              <a:off x="32004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단일 프레임에서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건반 + 볼트 + 마킹 동시 검사</a:t>
              </a:r>
              <a:endParaRPr lang="en-US" sz="1050" dirty="0"/>
            </a:p>
          </p:txBody>
        </p:sp>
        <p:sp>
          <p:nvSpPr>
            <p:cNvPr id="5" name="Shape 6">
              <a:extLst>
                <a:ext uri="{FF2B5EF4-FFF2-40B4-BE49-F238E27FC236}">
                  <a16:creationId xmlns:a16="http://schemas.microsoft.com/office/drawing/2014/main" id="{BBA5C3D7-16B6-B4F4-3F96-741997A1FD92}"/>
                </a:ext>
              </a:extLst>
            </p:cNvPr>
            <p:cNvSpPr/>
            <p:nvPr/>
          </p:nvSpPr>
          <p:spPr>
            <a:xfrm>
              <a:off x="324612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8AE45A2A-BC0A-9E36-3087-7CD8B7AC49A9}"/>
                </a:ext>
              </a:extLst>
            </p:cNvPr>
            <p:cNvSpPr/>
            <p:nvPr/>
          </p:nvSpPr>
          <p:spPr>
            <a:xfrm>
              <a:off x="324612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0 Drop</a:t>
              </a:r>
              <a:endParaRPr lang="en-US" sz="3000" dirty="0"/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25E6BCE2-6B61-08BF-9C5D-850236F8CE38}"/>
                </a:ext>
              </a:extLst>
            </p:cNvPr>
            <p:cNvSpPr/>
            <p:nvPr/>
          </p:nvSpPr>
          <p:spPr>
            <a:xfrm>
              <a:off x="324612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비동기 큐로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검사 중 저장 누락 방지</a:t>
              </a:r>
              <a:endParaRPr lang="en-US" sz="1050" dirty="0"/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381C3D22-0380-CFA6-1C02-538014058C1E}"/>
                </a:ext>
              </a:extLst>
            </p:cNvPr>
            <p:cNvSpPr/>
            <p:nvPr/>
          </p:nvSpPr>
          <p:spPr>
            <a:xfrm>
              <a:off x="6172200" y="960120"/>
              <a:ext cx="2651760" cy="1371600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2BDC7D90-823A-ABEA-4C6B-059AF6178C9B}"/>
                </a:ext>
              </a:extLst>
            </p:cNvPr>
            <p:cNvSpPr/>
            <p:nvPr/>
          </p:nvSpPr>
          <p:spPr>
            <a:xfrm>
              <a:off x="6172200" y="100584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A9FE8"/>
                  </a:solidFill>
                </a:rPr>
                <a:t>N 병렬</a:t>
              </a:r>
              <a:endParaRPr lang="en-US" sz="3000" dirty="0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C4CBD5D2-7E50-14A1-A7C1-CFE91BD9CB6C}"/>
                </a:ext>
              </a:extLst>
            </p:cNvPr>
            <p:cNvSpPr/>
            <p:nvPr/>
          </p:nvSpPr>
          <p:spPr>
            <a:xfrm>
              <a:off x="6172200" y="1664208"/>
              <a:ext cx="26517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Parallel.For로</a:t>
              </a:r>
              <a:endParaRPr lang="en-US" sz="105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rgbClr val="AABEDD"/>
                  </a:solidFill>
                </a:rPr>
                <a:t>건반 수에 비례한 선형 확장</a:t>
              </a:r>
              <a:endParaRPr lang="en-US" sz="1050" dirty="0"/>
            </a:p>
          </p:txBody>
        </p:sp>
        <p:sp>
          <p:nvSpPr>
            <p:cNvPr id="11" name="Text 12">
              <a:extLst>
                <a:ext uri="{FF2B5EF4-FFF2-40B4-BE49-F238E27FC236}">
                  <a16:creationId xmlns:a16="http://schemas.microsoft.com/office/drawing/2014/main" id="{08B24BC3-AEEB-9906-DFDA-091BB3AC8ADF}"/>
                </a:ext>
              </a:extLst>
            </p:cNvPr>
            <p:cNvSpPr/>
            <p:nvPr/>
          </p:nvSpPr>
          <p:spPr>
            <a:xfrm>
              <a:off x="320040" y="2542032"/>
              <a:ext cx="4572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A4A"/>
                  </a:solidFill>
                </a:rPr>
                <a:t>해결한 기술적 문제들</a:t>
              </a:r>
              <a:endParaRPr lang="en-US" sz="1400" dirty="0">
                <a:solidFill>
                  <a:srgbClr val="1B2A4A"/>
                </a:solidFill>
              </a:endParaRPr>
            </a:p>
          </p:txBody>
        </p:sp>
        <p:sp>
          <p:nvSpPr>
            <p:cNvPr id="12" name="Shape 13">
              <a:extLst>
                <a:ext uri="{FF2B5EF4-FFF2-40B4-BE49-F238E27FC236}">
                  <a16:creationId xmlns:a16="http://schemas.microsoft.com/office/drawing/2014/main" id="{8BF5B9E5-5FBB-87CB-F61F-F2E5DD39E1AE}"/>
                </a:ext>
              </a:extLst>
            </p:cNvPr>
            <p:cNvSpPr/>
            <p:nvPr/>
          </p:nvSpPr>
          <p:spPr>
            <a:xfrm>
              <a:off x="320040" y="2944368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BCEC752A-FB1D-BC73-E1FD-7A42859817FC}"/>
                </a:ext>
              </a:extLst>
            </p:cNvPr>
            <p:cNvSpPr/>
            <p:nvPr/>
          </p:nvSpPr>
          <p:spPr>
            <a:xfrm>
              <a:off x="365760" y="299923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카메라 해상도 변경 시 버퍼 불일치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38890D49-D62B-69AB-50E2-BAB3F50083DA}"/>
                </a:ext>
              </a:extLst>
            </p:cNvPr>
            <p:cNvSpPr/>
            <p:nvPr/>
          </p:nvSpPr>
          <p:spPr>
            <a:xfrm>
              <a:off x="4663440" y="2944368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ABA29A9B-DF47-32E5-63D7-83B77FD5D9F2}"/>
                </a:ext>
              </a:extLst>
            </p:cNvPr>
            <p:cNvSpPr/>
            <p:nvPr/>
          </p:nvSpPr>
          <p:spPr>
            <a:xfrm>
              <a:off x="4709160" y="299923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CheckImageBuffer()로 자동 재할당</a:t>
              </a:r>
              <a:endParaRPr lang="en-US" sz="1050" dirty="0"/>
            </a:p>
          </p:txBody>
        </p:sp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1ABEE84E-9CEC-2D59-A685-D61EF8FCF329}"/>
                </a:ext>
              </a:extLst>
            </p:cNvPr>
            <p:cNvSpPr/>
            <p:nvPr/>
          </p:nvSpPr>
          <p:spPr>
            <a:xfrm>
              <a:off x="4480560" y="3136392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F708AAB6-B669-9964-2ED7-F83F43DDED01}"/>
                </a:ext>
              </a:extLst>
            </p:cNvPr>
            <p:cNvSpPr/>
            <p:nvPr/>
          </p:nvSpPr>
          <p:spPr>
            <a:xfrm>
              <a:off x="320040" y="3419856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614736F2-C4F9-AA21-4787-F0A9DA3433F7}"/>
                </a:ext>
              </a:extLst>
            </p:cNvPr>
            <p:cNvSpPr/>
            <p:nvPr/>
          </p:nvSpPr>
          <p:spPr>
            <a:xfrm>
              <a:off x="365760" y="3474720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어두운 건반의 각인 미검출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19" name="Shape 20">
              <a:extLst>
                <a:ext uri="{FF2B5EF4-FFF2-40B4-BE49-F238E27FC236}">
                  <a16:creationId xmlns:a16="http://schemas.microsoft.com/office/drawing/2014/main" id="{78C5CDBE-0D1D-65FE-32CD-3115C44F6C54}"/>
                </a:ext>
              </a:extLst>
            </p:cNvPr>
            <p:cNvSpPr/>
            <p:nvPr/>
          </p:nvSpPr>
          <p:spPr>
            <a:xfrm>
              <a:off x="4663440" y="3419856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51F93DA1-940F-7EB9-EAE4-0CC330BC47B5}"/>
                </a:ext>
              </a:extLst>
            </p:cNvPr>
            <p:cNvSpPr/>
            <p:nvPr/>
          </p:nvSpPr>
          <p:spPr>
            <a:xfrm>
              <a:off x="4709160" y="3474720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CLAHE 로컬 대비 향상으로 해결</a:t>
              </a:r>
              <a:endParaRPr lang="en-US" sz="105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6FCD82B0-9314-15FC-3570-DDC2536EA8D5}"/>
                </a:ext>
              </a:extLst>
            </p:cNvPr>
            <p:cNvSpPr/>
            <p:nvPr/>
          </p:nvSpPr>
          <p:spPr>
            <a:xfrm>
              <a:off x="4480560" y="3611880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68463C29-AC2C-3A84-E110-0326376CFBD5}"/>
                </a:ext>
              </a:extLst>
            </p:cNvPr>
            <p:cNvSpPr/>
            <p:nvPr/>
          </p:nvSpPr>
          <p:spPr>
            <a:xfrm>
              <a:off x="320040" y="3895344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B55E1B90-5AE1-884E-2D2B-57B6BF062DE6}"/>
                </a:ext>
              </a:extLst>
            </p:cNvPr>
            <p:cNvSpPr/>
            <p:nvPr/>
          </p:nvSpPr>
          <p:spPr>
            <a:xfrm>
              <a:off x="365760" y="3950208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저장 스레드 지연으로 검사 병목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4628C1F2-C1B7-4C52-C608-61A96CBEEA8E}"/>
                </a:ext>
              </a:extLst>
            </p:cNvPr>
            <p:cNvSpPr/>
            <p:nvPr/>
          </p:nvSpPr>
          <p:spPr>
            <a:xfrm>
              <a:off x="4663440" y="3895344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D6296EAB-112D-57B6-CFF8-7BB1579C12AB}"/>
                </a:ext>
              </a:extLst>
            </p:cNvPr>
            <p:cNvSpPr/>
            <p:nvPr/>
          </p:nvSpPr>
          <p:spPr>
            <a:xfrm>
              <a:off x="4709160" y="3950208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BlockingCollection 큐 + 전용 스레드 분리</a:t>
              </a:r>
              <a:endParaRPr lang="en-US" sz="105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A0F7E890-3296-C4DC-318D-782968FC9804}"/>
                </a:ext>
              </a:extLst>
            </p:cNvPr>
            <p:cNvSpPr/>
            <p:nvPr/>
          </p:nvSpPr>
          <p:spPr>
            <a:xfrm>
              <a:off x="4480560" y="4087368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5C2F3D95-8F5D-500A-9F76-20D43784AF9A}"/>
                </a:ext>
              </a:extLst>
            </p:cNvPr>
            <p:cNvSpPr/>
            <p:nvPr/>
          </p:nvSpPr>
          <p:spPr>
            <a:xfrm>
              <a:off x="320040" y="4370832"/>
              <a:ext cx="4160520" cy="384048"/>
            </a:xfrm>
            <a:prstGeom prst="rect">
              <a:avLst/>
            </a:prstGeom>
            <a:solidFill>
              <a:srgbClr val="0D2340"/>
            </a:solidFill>
            <a:ln w="889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rgbClr val="FF3300"/>
                </a:solidFill>
              </a:endParaRPr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E132F852-49F1-3028-9F4E-701616BDD7B5}"/>
                </a:ext>
              </a:extLst>
            </p:cNvPr>
            <p:cNvSpPr/>
            <p:nvPr/>
          </p:nvSpPr>
          <p:spPr>
            <a:xfrm>
              <a:off x="365760" y="4425696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3300"/>
                  </a:solidFill>
                </a:rPr>
                <a:t>✗  경계 건반 ROI 이탈 오탐</a:t>
              </a:r>
              <a:endParaRPr lang="en-US" sz="1050" dirty="0">
                <a:solidFill>
                  <a:srgbClr val="FF3300"/>
                </a:solidFill>
              </a:endParaRPr>
            </a:p>
          </p:txBody>
        </p:sp>
        <p:sp>
          <p:nvSpPr>
            <p:cNvPr id="29" name="Shape 30">
              <a:extLst>
                <a:ext uri="{FF2B5EF4-FFF2-40B4-BE49-F238E27FC236}">
                  <a16:creationId xmlns:a16="http://schemas.microsoft.com/office/drawing/2014/main" id="{C35E49D1-4FEA-6BC9-6815-79F0759BE901}"/>
                </a:ext>
              </a:extLst>
            </p:cNvPr>
            <p:cNvSpPr/>
            <p:nvPr/>
          </p:nvSpPr>
          <p:spPr>
            <a:xfrm>
              <a:off x="4663440" y="4370832"/>
              <a:ext cx="4160520" cy="384048"/>
            </a:xfrm>
            <a:prstGeom prst="rect">
              <a:avLst/>
            </a:prstGeom>
            <a:solidFill>
              <a:srgbClr val="1B2A4A"/>
            </a:solidFill>
            <a:ln w="889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5FF0D63B-7B3D-BCBC-5BAC-38AE1A50D172}"/>
                </a:ext>
              </a:extLst>
            </p:cNvPr>
            <p:cNvSpPr/>
            <p:nvPr/>
          </p:nvSpPr>
          <p:spPr>
            <a:xfrm>
              <a:off x="4709160" y="4425696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0D8EC"/>
                  </a:solidFill>
                </a:rPr>
                <a:t>✓  이미지 경계 클리핑 감지 후 높이 기준 완화</a:t>
              </a:r>
              <a:endParaRPr lang="en-US" sz="1050" dirty="0"/>
            </a:p>
          </p:txBody>
        </p:sp>
        <p:sp>
          <p:nvSpPr>
            <p:cNvPr id="31" name="Shape 32">
              <a:extLst>
                <a:ext uri="{FF2B5EF4-FFF2-40B4-BE49-F238E27FC236}">
                  <a16:creationId xmlns:a16="http://schemas.microsoft.com/office/drawing/2014/main" id="{594D2C09-5E53-BBCE-CE60-5A8E0EBB5603}"/>
                </a:ext>
              </a:extLst>
            </p:cNvPr>
            <p:cNvSpPr/>
            <p:nvPr/>
          </p:nvSpPr>
          <p:spPr>
            <a:xfrm>
              <a:off x="4480560" y="4562856"/>
              <a:ext cx="182880" cy="0"/>
            </a:xfrm>
            <a:prstGeom prst="line">
              <a:avLst/>
            </a:prstGeom>
            <a:noFill/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45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1E89-323E-5311-6F36-6D00779F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82F01489-C947-98AB-B24E-FE4E6F2DBE2C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9504539A-C925-80B1-8C34-84B981D739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662CD28D-19AC-2698-16F6-7C7E733DB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9976323E-11AE-FFB3-B45C-E59D311D4C15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2DDB7171-16DA-43A7-7D61-387DC19E9859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타임라인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9BEAD9B0-1E2C-37F5-68A0-27AB1D02032C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개발 타임라인 (실제 커밋 기반)</a:t>
            </a:r>
          </a:p>
        </p:txBody>
      </p:sp>
      <p:grpSp>
        <p:nvGrpSpPr>
          <p:cNvPr id="920" name="그룹 919">
            <a:extLst>
              <a:ext uri="{FF2B5EF4-FFF2-40B4-BE49-F238E27FC236}">
                <a16:creationId xmlns:a16="http://schemas.microsoft.com/office/drawing/2014/main" id="{C4BA38CB-2EC0-1118-A385-F26A96E8493E}"/>
              </a:ext>
            </a:extLst>
          </p:cNvPr>
          <p:cNvGrpSpPr/>
          <p:nvPr/>
        </p:nvGrpSpPr>
        <p:grpSpPr>
          <a:xfrm>
            <a:off x="784960" y="1300059"/>
            <a:ext cx="10607040" cy="5077881"/>
            <a:chOff x="365760" y="960120"/>
            <a:chExt cx="8513064" cy="4069080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BB226D46-B6F1-1FDD-B884-CD08EBA6ACBF}"/>
                </a:ext>
              </a:extLst>
            </p:cNvPr>
            <p:cNvSpPr/>
            <p:nvPr/>
          </p:nvSpPr>
          <p:spPr>
            <a:xfrm>
              <a:off x="365760" y="2919189"/>
              <a:ext cx="8412480" cy="54864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EA44EBF3-B537-CDD1-4C82-5719DCE641D6}"/>
                </a:ext>
              </a:extLst>
            </p:cNvPr>
            <p:cNvSpPr/>
            <p:nvPr/>
          </p:nvSpPr>
          <p:spPr>
            <a:xfrm>
              <a:off x="713232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4C50221D-CA50-42F6-9349-F9A60AF96096}"/>
                </a:ext>
              </a:extLst>
            </p:cNvPr>
            <p:cNvSpPr/>
            <p:nvPr/>
          </p:nvSpPr>
          <p:spPr>
            <a:xfrm>
              <a:off x="594360" y="2825496"/>
              <a:ext cx="237744" cy="237744"/>
            </a:xfrm>
            <a:prstGeom prst="ellipse">
              <a:avLst/>
            </a:prstGeom>
            <a:solidFill>
              <a:srgbClr val="1B2A4A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7CDF8543-0EC9-936C-737B-28F06FE5876E}"/>
                </a:ext>
              </a:extLst>
            </p:cNvPr>
            <p:cNvSpPr/>
            <p:nvPr/>
          </p:nvSpPr>
          <p:spPr>
            <a:xfrm>
              <a:off x="457200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3/4(수)</a:t>
              </a:r>
              <a:endParaRPr lang="en-US" sz="1400" dirty="0"/>
            </a:p>
          </p:txBody>
        </p:sp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25DF2AE4-0F0C-D77C-1595-6EC516F0D6BE}"/>
                </a:ext>
              </a:extLst>
            </p:cNvPr>
            <p:cNvSpPr/>
            <p:nvPr/>
          </p:nvSpPr>
          <p:spPr>
            <a:xfrm>
              <a:off x="438912" y="960120"/>
              <a:ext cx="1078992" cy="987552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867F746B-5259-570B-EE60-D190F24ED7D1}"/>
                </a:ext>
              </a:extLst>
            </p:cNvPr>
            <p:cNvSpPr/>
            <p:nvPr/>
          </p:nvSpPr>
          <p:spPr>
            <a:xfrm>
              <a:off x="448056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볼트 ROI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각인 기초</a:t>
              </a:r>
              <a:endParaRPr lang="en-US" sz="1400" dirty="0"/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2F1B96A6-B0C3-8321-E2F7-4697C775BA48}"/>
                </a:ext>
              </a:extLst>
            </p:cNvPr>
            <p:cNvSpPr/>
            <p:nvPr/>
          </p:nvSpPr>
          <p:spPr>
            <a:xfrm>
              <a:off x="448056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InspWorker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초기 구조</a:t>
              </a:r>
              <a:endParaRPr lang="en-US" sz="1400" dirty="0"/>
            </a:p>
          </p:txBody>
        </p:sp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E1C4513C-7ED2-8B36-2D18-795EACBAB6F0}"/>
                </a:ext>
              </a:extLst>
            </p:cNvPr>
            <p:cNvSpPr/>
            <p:nvPr/>
          </p:nvSpPr>
          <p:spPr>
            <a:xfrm>
              <a:off x="1965960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1" name="Shape 11">
              <a:extLst>
                <a:ext uri="{FF2B5EF4-FFF2-40B4-BE49-F238E27FC236}">
                  <a16:creationId xmlns:a16="http://schemas.microsoft.com/office/drawing/2014/main" id="{EA76EA5A-1A96-164B-FA0A-CFF7153CEB9E}"/>
                </a:ext>
              </a:extLst>
            </p:cNvPr>
            <p:cNvSpPr/>
            <p:nvPr/>
          </p:nvSpPr>
          <p:spPr>
            <a:xfrm>
              <a:off x="1847088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9207AF53-1414-3876-3F84-223D1863FD7D}"/>
                </a:ext>
              </a:extLst>
            </p:cNvPr>
            <p:cNvSpPr/>
            <p:nvPr/>
          </p:nvSpPr>
          <p:spPr>
            <a:xfrm>
              <a:off x="1709928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3/5(목)</a:t>
              </a:r>
              <a:endParaRPr lang="en-US" sz="1400" dirty="0"/>
            </a:p>
          </p:txBody>
        </p:sp>
        <p:sp>
          <p:nvSpPr>
            <p:cNvPr id="43" name="Shape 13">
              <a:extLst>
                <a:ext uri="{FF2B5EF4-FFF2-40B4-BE49-F238E27FC236}">
                  <a16:creationId xmlns:a16="http://schemas.microsoft.com/office/drawing/2014/main" id="{4FAFF75D-7A75-8A4D-5A18-7A457F5007E9}"/>
                </a:ext>
              </a:extLst>
            </p:cNvPr>
            <p:cNvSpPr/>
            <p:nvPr/>
          </p:nvSpPr>
          <p:spPr>
            <a:xfrm>
              <a:off x="1691640" y="3575304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306D0496-084E-48E0-665B-4C7457D8D835}"/>
                </a:ext>
              </a:extLst>
            </p:cNvPr>
            <p:cNvSpPr/>
            <p:nvPr/>
          </p:nvSpPr>
          <p:spPr>
            <a:xfrm>
              <a:off x="1700784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BoltROI 속성창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UI 리팩</a:t>
              </a:r>
              <a:endParaRPr lang="en-US" sz="1400" dirty="0"/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BB80E063-75D4-DF3C-BF8C-196D18F4F5CD}"/>
                </a:ext>
              </a:extLst>
            </p:cNvPr>
            <p:cNvSpPr/>
            <p:nvPr/>
          </p:nvSpPr>
          <p:spPr>
            <a:xfrm>
              <a:off x="1700784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xylophoneProp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Blob 제거</a:t>
              </a:r>
              <a:endParaRPr lang="en-US" sz="1400" dirty="0"/>
            </a:p>
          </p:txBody>
        </p:sp>
        <p:sp>
          <p:nvSpPr>
            <p:cNvPr id="46" name="Shape 16">
              <a:extLst>
                <a:ext uri="{FF2B5EF4-FFF2-40B4-BE49-F238E27FC236}">
                  <a16:creationId xmlns:a16="http://schemas.microsoft.com/office/drawing/2014/main" id="{14CBF034-C194-0A7F-5B80-834A4560D465}"/>
                </a:ext>
              </a:extLst>
            </p:cNvPr>
            <p:cNvSpPr/>
            <p:nvPr/>
          </p:nvSpPr>
          <p:spPr>
            <a:xfrm>
              <a:off x="3218688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F43FF1C6-CE01-739C-1EA3-26F6B6D10C6C}"/>
                </a:ext>
              </a:extLst>
            </p:cNvPr>
            <p:cNvSpPr/>
            <p:nvPr/>
          </p:nvSpPr>
          <p:spPr>
            <a:xfrm>
              <a:off x="3099816" y="2825496"/>
              <a:ext cx="237744" cy="237744"/>
            </a:xfrm>
            <a:prstGeom prst="ellipse">
              <a:avLst/>
            </a:prstGeom>
            <a:solidFill>
              <a:srgbClr val="2E4470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8" name="Text 18">
              <a:extLst>
                <a:ext uri="{FF2B5EF4-FFF2-40B4-BE49-F238E27FC236}">
                  <a16:creationId xmlns:a16="http://schemas.microsoft.com/office/drawing/2014/main" id="{271DE86B-F77D-2B68-4E92-8919C851875A}"/>
                </a:ext>
              </a:extLst>
            </p:cNvPr>
            <p:cNvSpPr/>
            <p:nvPr/>
          </p:nvSpPr>
          <p:spPr>
            <a:xfrm>
              <a:off x="2962656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3/6(금)</a:t>
              </a:r>
              <a:endParaRPr lang="en-US" sz="1400" dirty="0"/>
            </a:p>
          </p:txBody>
        </p:sp>
        <p:sp>
          <p:nvSpPr>
            <p:cNvPr id="49" name="Shape 19">
              <a:extLst>
                <a:ext uri="{FF2B5EF4-FFF2-40B4-BE49-F238E27FC236}">
                  <a16:creationId xmlns:a16="http://schemas.microsoft.com/office/drawing/2014/main" id="{1356C732-EF90-376D-A6CC-CD9CBA2816D8}"/>
                </a:ext>
              </a:extLst>
            </p:cNvPr>
            <p:cNvSpPr/>
            <p:nvPr/>
          </p:nvSpPr>
          <p:spPr>
            <a:xfrm>
              <a:off x="2944368" y="960120"/>
              <a:ext cx="1078992" cy="987552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0" name="Text 20">
              <a:extLst>
                <a:ext uri="{FF2B5EF4-FFF2-40B4-BE49-F238E27FC236}">
                  <a16:creationId xmlns:a16="http://schemas.microsoft.com/office/drawing/2014/main" id="{FE846D8C-B896-8A09-E3ED-C270C43E4C0B}"/>
                </a:ext>
              </a:extLst>
            </p:cNvPr>
            <p:cNvSpPr/>
            <p:nvPr/>
          </p:nvSpPr>
          <p:spPr>
            <a:xfrm>
              <a:off x="2953512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MaterialSkin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테마 적용</a:t>
              </a:r>
              <a:endParaRPr lang="en-US" sz="1400" dirty="0"/>
            </a:p>
          </p:txBody>
        </p:sp>
        <p:sp>
          <p:nvSpPr>
            <p:cNvPr id="51" name="Text 21">
              <a:extLst>
                <a:ext uri="{FF2B5EF4-FFF2-40B4-BE49-F238E27FC236}">
                  <a16:creationId xmlns:a16="http://schemas.microsoft.com/office/drawing/2014/main" id="{9F230B1D-8BC7-16C4-B75A-E5C5875CBCA4}"/>
                </a:ext>
              </a:extLst>
            </p:cNvPr>
            <p:cNvSpPr/>
            <p:nvPr/>
          </p:nvSpPr>
          <p:spPr>
            <a:xfrm>
              <a:off x="2953512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MainForm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코드 정리</a:t>
              </a:r>
              <a:endParaRPr lang="en-US" sz="1400" dirty="0"/>
            </a:p>
          </p:txBody>
        </p:sp>
        <p:sp>
          <p:nvSpPr>
            <p:cNvPr id="52" name="Shape 22">
              <a:extLst>
                <a:ext uri="{FF2B5EF4-FFF2-40B4-BE49-F238E27FC236}">
                  <a16:creationId xmlns:a16="http://schemas.microsoft.com/office/drawing/2014/main" id="{2C2EBE3B-BE1E-7283-3FF8-599D073FC73E}"/>
                </a:ext>
              </a:extLst>
            </p:cNvPr>
            <p:cNvSpPr/>
            <p:nvPr/>
          </p:nvSpPr>
          <p:spPr>
            <a:xfrm>
              <a:off x="4471416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DC1BD132-C5AF-BAB8-F1AA-051F439C8150}"/>
                </a:ext>
              </a:extLst>
            </p:cNvPr>
            <p:cNvSpPr/>
            <p:nvPr/>
          </p:nvSpPr>
          <p:spPr>
            <a:xfrm>
              <a:off x="4352544" y="2825496"/>
              <a:ext cx="237744" cy="237744"/>
            </a:xfrm>
            <a:prstGeom prst="ellipse">
              <a:avLst/>
            </a:prstGeom>
            <a:solidFill>
              <a:srgbClr val="2E4470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4C645B2D-AD2C-2CFA-6F2F-81E1F9FAD579}"/>
                </a:ext>
              </a:extLst>
            </p:cNvPr>
            <p:cNvSpPr/>
            <p:nvPr/>
          </p:nvSpPr>
          <p:spPr>
            <a:xfrm>
              <a:off x="4215384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3/8(일)</a:t>
              </a:r>
              <a:endParaRPr lang="en-US" sz="1400" dirty="0"/>
            </a:p>
          </p:txBody>
        </p:sp>
        <p:sp>
          <p:nvSpPr>
            <p:cNvPr id="55" name="Shape 25">
              <a:extLst>
                <a:ext uri="{FF2B5EF4-FFF2-40B4-BE49-F238E27FC236}">
                  <a16:creationId xmlns:a16="http://schemas.microsoft.com/office/drawing/2014/main" id="{16653084-7C10-66DB-D40E-B5ACDD7991B7}"/>
                </a:ext>
              </a:extLst>
            </p:cNvPr>
            <p:cNvSpPr/>
            <p:nvPr/>
          </p:nvSpPr>
          <p:spPr>
            <a:xfrm>
              <a:off x="4197096" y="3575304"/>
              <a:ext cx="1078992" cy="987552"/>
            </a:xfrm>
            <a:prstGeom prst="rect">
              <a:avLst/>
            </a:prstGeom>
            <a:solidFill>
              <a:srgbClr val="2E4470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Text 26">
              <a:extLst>
                <a:ext uri="{FF2B5EF4-FFF2-40B4-BE49-F238E27FC236}">
                  <a16:creationId xmlns:a16="http://schemas.microsoft.com/office/drawing/2014/main" id="{EA049F63-ECFF-6A5F-AC4F-8CF887DC40FB}"/>
                </a:ext>
              </a:extLst>
            </p:cNvPr>
            <p:cNvSpPr/>
            <p:nvPr/>
          </p:nvSpPr>
          <p:spPr>
            <a:xfrm>
              <a:off x="4206240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매칭 스코어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배경 개선</a:t>
              </a:r>
              <a:endParaRPr lang="en-US" sz="1400" dirty="0"/>
            </a:p>
          </p:txBody>
        </p:sp>
        <p:sp>
          <p:nvSpPr>
            <p:cNvPr id="57" name="Text 27">
              <a:extLst>
                <a:ext uri="{FF2B5EF4-FFF2-40B4-BE49-F238E27FC236}">
                  <a16:creationId xmlns:a16="http://schemas.microsoft.com/office/drawing/2014/main" id="{ECDE243C-9215-C5CA-BB0F-64F78696D9E9}"/>
                </a:ext>
              </a:extLst>
            </p:cNvPr>
            <p:cNvSpPr/>
            <p:nvPr/>
          </p:nvSpPr>
          <p:spPr>
            <a:xfrm>
              <a:off x="4206240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임계값 조정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배경색 변경</a:t>
              </a:r>
              <a:endParaRPr lang="en-US" sz="1400" dirty="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6108097A-4C48-3109-53D2-9C10851054AB}"/>
                </a:ext>
              </a:extLst>
            </p:cNvPr>
            <p:cNvSpPr/>
            <p:nvPr/>
          </p:nvSpPr>
          <p:spPr>
            <a:xfrm>
              <a:off x="5724144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Shape 29">
              <a:extLst>
                <a:ext uri="{FF2B5EF4-FFF2-40B4-BE49-F238E27FC236}">
                  <a16:creationId xmlns:a16="http://schemas.microsoft.com/office/drawing/2014/main" id="{495363DE-7324-9B36-A5AD-CC20D184F40F}"/>
                </a:ext>
              </a:extLst>
            </p:cNvPr>
            <p:cNvSpPr/>
            <p:nvPr/>
          </p:nvSpPr>
          <p:spPr>
            <a:xfrm>
              <a:off x="5605272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0" name="Text 30">
              <a:extLst>
                <a:ext uri="{FF2B5EF4-FFF2-40B4-BE49-F238E27FC236}">
                  <a16:creationId xmlns:a16="http://schemas.microsoft.com/office/drawing/2014/main" id="{3BEC00E1-6F39-5D41-2A8F-D55A98A7AFCA}"/>
                </a:ext>
              </a:extLst>
            </p:cNvPr>
            <p:cNvSpPr/>
            <p:nvPr/>
          </p:nvSpPr>
          <p:spPr>
            <a:xfrm>
              <a:off x="5468112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3/9(월)</a:t>
              </a:r>
              <a:endParaRPr lang="en-US" sz="1400" dirty="0"/>
            </a:p>
          </p:txBody>
        </p:sp>
        <p:sp>
          <p:nvSpPr>
            <p:cNvPr id="61" name="Shape 31">
              <a:extLst>
                <a:ext uri="{FF2B5EF4-FFF2-40B4-BE49-F238E27FC236}">
                  <a16:creationId xmlns:a16="http://schemas.microsoft.com/office/drawing/2014/main" id="{E32D5C4C-4EC0-60C6-348C-A51306FCD312}"/>
                </a:ext>
              </a:extLst>
            </p:cNvPr>
            <p:cNvSpPr/>
            <p:nvPr/>
          </p:nvSpPr>
          <p:spPr>
            <a:xfrm>
              <a:off x="5449824" y="960120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32">
              <a:extLst>
                <a:ext uri="{FF2B5EF4-FFF2-40B4-BE49-F238E27FC236}">
                  <a16:creationId xmlns:a16="http://schemas.microsoft.com/office/drawing/2014/main" id="{5C543090-FDBD-A02E-D7D3-D232C8E9970C}"/>
                </a:ext>
              </a:extLst>
            </p:cNvPr>
            <p:cNvSpPr/>
            <p:nvPr/>
          </p:nvSpPr>
          <p:spPr>
            <a:xfrm>
              <a:off x="5458968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검사 루프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ROI 체크박스</a:t>
              </a:r>
              <a:endParaRPr lang="en-US" sz="1400" dirty="0"/>
            </a:p>
          </p:txBody>
        </p:sp>
        <p:sp>
          <p:nvSpPr>
            <p:cNvPr id="63" name="Text 33">
              <a:extLst>
                <a:ext uri="{FF2B5EF4-FFF2-40B4-BE49-F238E27FC236}">
                  <a16:creationId xmlns:a16="http://schemas.microsoft.com/office/drawing/2014/main" id="{8C3B93C7-4444-0A7B-9DCB-E3B41DE47ACC}"/>
                </a:ext>
              </a:extLst>
            </p:cNvPr>
            <p:cNvSpPr/>
            <p:nvPr/>
          </p:nvSpPr>
          <p:spPr>
            <a:xfrm>
              <a:off x="5458968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이미지 카운터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재검사 팝업</a:t>
              </a:r>
              <a:endParaRPr lang="en-US" sz="1400" dirty="0"/>
            </a:p>
          </p:txBody>
        </p:sp>
        <p:sp>
          <p:nvSpPr>
            <p:cNvPr id="896" name="Shape 34">
              <a:extLst>
                <a:ext uri="{FF2B5EF4-FFF2-40B4-BE49-F238E27FC236}">
                  <a16:creationId xmlns:a16="http://schemas.microsoft.com/office/drawing/2014/main" id="{0E9B4499-E0B5-2134-EE9B-C92649EBECF0}"/>
                </a:ext>
              </a:extLst>
            </p:cNvPr>
            <p:cNvSpPr/>
            <p:nvPr/>
          </p:nvSpPr>
          <p:spPr>
            <a:xfrm>
              <a:off x="6912864" y="3063240"/>
              <a:ext cx="0" cy="822960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7" name="Shape 35">
              <a:extLst>
                <a:ext uri="{FF2B5EF4-FFF2-40B4-BE49-F238E27FC236}">
                  <a16:creationId xmlns:a16="http://schemas.microsoft.com/office/drawing/2014/main" id="{38E4D99C-AB5A-44B5-492E-5785513D5D19}"/>
                </a:ext>
              </a:extLst>
            </p:cNvPr>
            <p:cNvSpPr/>
            <p:nvPr/>
          </p:nvSpPr>
          <p:spPr>
            <a:xfrm>
              <a:off x="6793992" y="2825496"/>
              <a:ext cx="237744" cy="237744"/>
            </a:xfrm>
            <a:prstGeom prst="ellipse">
              <a:avLst/>
            </a:prstGeom>
            <a:solidFill>
              <a:srgbClr val="1B2A4A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98" name="Text 36">
              <a:extLst>
                <a:ext uri="{FF2B5EF4-FFF2-40B4-BE49-F238E27FC236}">
                  <a16:creationId xmlns:a16="http://schemas.microsoft.com/office/drawing/2014/main" id="{95DB186B-378C-6360-F237-DB1455DFB7E0}"/>
                </a:ext>
              </a:extLst>
            </p:cNvPr>
            <p:cNvSpPr/>
            <p:nvPr/>
          </p:nvSpPr>
          <p:spPr>
            <a:xfrm>
              <a:off x="6656832" y="2377440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3/10(화)</a:t>
              </a:r>
              <a:endParaRPr lang="en-US" sz="1400" dirty="0"/>
            </a:p>
          </p:txBody>
        </p:sp>
        <p:sp>
          <p:nvSpPr>
            <p:cNvPr id="899" name="Shape 37">
              <a:extLst>
                <a:ext uri="{FF2B5EF4-FFF2-40B4-BE49-F238E27FC236}">
                  <a16:creationId xmlns:a16="http://schemas.microsoft.com/office/drawing/2014/main" id="{32F69C22-1257-69A2-01B8-4A24393D616D}"/>
                </a:ext>
              </a:extLst>
            </p:cNvPr>
            <p:cNvSpPr/>
            <p:nvPr/>
          </p:nvSpPr>
          <p:spPr>
            <a:xfrm>
              <a:off x="6638544" y="3575304"/>
              <a:ext cx="1078992" cy="987552"/>
            </a:xfrm>
            <a:prstGeom prst="rect">
              <a:avLst/>
            </a:prstGeom>
            <a:solidFill>
              <a:srgbClr val="1B2A4A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0" name="Text 38">
              <a:extLst>
                <a:ext uri="{FF2B5EF4-FFF2-40B4-BE49-F238E27FC236}">
                  <a16:creationId xmlns:a16="http://schemas.microsoft.com/office/drawing/2014/main" id="{66A21A45-3E74-6CEC-BA6F-DA8A5D47D9CB}"/>
                </a:ext>
              </a:extLst>
            </p:cNvPr>
            <p:cNvSpPr/>
            <p:nvPr/>
          </p:nvSpPr>
          <p:spPr>
            <a:xfrm>
              <a:off x="6647688" y="3630168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트렌드 차트 &amp;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각인 튜닝</a:t>
              </a:r>
              <a:endParaRPr lang="en-US" sz="1400" dirty="0"/>
            </a:p>
          </p:txBody>
        </p:sp>
        <p:sp>
          <p:nvSpPr>
            <p:cNvPr id="906" name="Text 39">
              <a:extLst>
                <a:ext uri="{FF2B5EF4-FFF2-40B4-BE49-F238E27FC236}">
                  <a16:creationId xmlns:a16="http://schemas.microsoft.com/office/drawing/2014/main" id="{9ECC193D-DAC2-47C3-0920-20229E527D8E}"/>
                </a:ext>
              </a:extLst>
            </p:cNvPr>
            <p:cNvSpPr/>
            <p:nvPr/>
          </p:nvSpPr>
          <p:spPr>
            <a:xfrm>
              <a:off x="6647688" y="4069080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TrendChartForm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CLAHE 최종 튜닝</a:t>
              </a:r>
              <a:endParaRPr lang="en-US" sz="1400" dirty="0"/>
            </a:p>
          </p:txBody>
        </p:sp>
        <p:sp>
          <p:nvSpPr>
            <p:cNvPr id="907" name="Shape 40">
              <a:extLst>
                <a:ext uri="{FF2B5EF4-FFF2-40B4-BE49-F238E27FC236}">
                  <a16:creationId xmlns:a16="http://schemas.microsoft.com/office/drawing/2014/main" id="{F8BFFD55-750F-FF44-3909-71DFD6F5D7D0}"/>
                </a:ext>
              </a:extLst>
            </p:cNvPr>
            <p:cNvSpPr/>
            <p:nvPr/>
          </p:nvSpPr>
          <p:spPr>
            <a:xfrm>
              <a:off x="8074152" y="1956816"/>
              <a:ext cx="0" cy="886968"/>
            </a:xfrm>
            <a:prstGeom prst="line">
              <a:avLst/>
            </a:prstGeom>
            <a:noFill/>
            <a:ln w="1524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8" name="Shape 41">
              <a:extLst>
                <a:ext uri="{FF2B5EF4-FFF2-40B4-BE49-F238E27FC236}">
                  <a16:creationId xmlns:a16="http://schemas.microsoft.com/office/drawing/2014/main" id="{2D69D8D8-4269-EFBF-26EF-E412F03794CF}"/>
                </a:ext>
              </a:extLst>
            </p:cNvPr>
            <p:cNvSpPr/>
            <p:nvPr/>
          </p:nvSpPr>
          <p:spPr>
            <a:xfrm>
              <a:off x="7955280" y="2825496"/>
              <a:ext cx="237744" cy="237744"/>
            </a:xfrm>
            <a:prstGeom prst="ellipse">
              <a:avLst/>
            </a:prstGeom>
            <a:solidFill>
              <a:srgbClr val="243352"/>
            </a:solidFill>
            <a:ln w="1905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09" name="Text 42">
              <a:extLst>
                <a:ext uri="{FF2B5EF4-FFF2-40B4-BE49-F238E27FC236}">
                  <a16:creationId xmlns:a16="http://schemas.microsoft.com/office/drawing/2014/main" id="{1101CB1B-A3F6-A91A-319D-DB9ECCA7FE4E}"/>
                </a:ext>
              </a:extLst>
            </p:cNvPr>
            <p:cNvSpPr/>
            <p:nvPr/>
          </p:nvSpPr>
          <p:spPr>
            <a:xfrm>
              <a:off x="7818120" y="3145536"/>
              <a:ext cx="7772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000" b="1" dirty="0">
                  <a:solidFill>
                    <a:srgbClr val="8899BB"/>
                  </a:solidFill>
                </a:rPr>
                <a:t>3/11(수)</a:t>
              </a:r>
              <a:endParaRPr lang="en-US" sz="1400" dirty="0"/>
            </a:p>
          </p:txBody>
        </p:sp>
        <p:sp>
          <p:nvSpPr>
            <p:cNvPr id="911" name="Shape 43">
              <a:extLst>
                <a:ext uri="{FF2B5EF4-FFF2-40B4-BE49-F238E27FC236}">
                  <a16:creationId xmlns:a16="http://schemas.microsoft.com/office/drawing/2014/main" id="{EE06EE9A-9913-42E9-9622-1EB496435070}"/>
                </a:ext>
              </a:extLst>
            </p:cNvPr>
            <p:cNvSpPr/>
            <p:nvPr/>
          </p:nvSpPr>
          <p:spPr>
            <a:xfrm>
              <a:off x="7799832" y="960120"/>
              <a:ext cx="1078992" cy="987552"/>
            </a:xfrm>
            <a:prstGeom prst="rect">
              <a:avLst/>
            </a:prstGeom>
            <a:solidFill>
              <a:srgbClr val="243352"/>
            </a:solidFill>
            <a:ln w="1016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2" name="Text 44">
              <a:extLst>
                <a:ext uri="{FF2B5EF4-FFF2-40B4-BE49-F238E27FC236}">
                  <a16:creationId xmlns:a16="http://schemas.microsoft.com/office/drawing/2014/main" id="{A5D177C6-D14F-11B7-D323-550E0D409A17}"/>
                </a:ext>
              </a:extLst>
            </p:cNvPr>
            <p:cNvSpPr/>
            <p:nvPr/>
          </p:nvSpPr>
          <p:spPr>
            <a:xfrm>
              <a:off x="7808976" y="1014984"/>
              <a:ext cx="10607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Tact Time</a:t>
              </a:r>
              <a:endParaRPr lang="en-US" sz="140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CSV 저장</a:t>
              </a:r>
              <a:endParaRPr lang="en-US" sz="1400" dirty="0"/>
            </a:p>
          </p:txBody>
        </p:sp>
        <p:sp>
          <p:nvSpPr>
            <p:cNvPr id="913" name="Text 45">
              <a:extLst>
                <a:ext uri="{FF2B5EF4-FFF2-40B4-BE49-F238E27FC236}">
                  <a16:creationId xmlns:a16="http://schemas.microsoft.com/office/drawing/2014/main" id="{7072A7FE-17EC-279A-9675-7C64C91EFCCF}"/>
                </a:ext>
              </a:extLst>
            </p:cNvPr>
            <p:cNvSpPr/>
            <p:nvPr/>
          </p:nvSpPr>
          <p:spPr>
            <a:xfrm>
              <a:off x="7808976" y="1453896"/>
              <a:ext cx="106070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UPH 통계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7DC0F5"/>
                  </a:solidFill>
                </a:rPr>
                <a:t>비동기 분리</a:t>
              </a:r>
              <a:endParaRPr lang="en-US" sz="1400" dirty="0"/>
            </a:p>
          </p:txBody>
        </p:sp>
        <p:sp>
          <p:nvSpPr>
            <p:cNvPr id="914" name="Shape 46">
              <a:extLst>
                <a:ext uri="{FF2B5EF4-FFF2-40B4-BE49-F238E27FC236}">
                  <a16:creationId xmlns:a16="http://schemas.microsoft.com/office/drawing/2014/main" id="{F6696F2C-221B-DC66-92CD-2DBE63DDBD10}"/>
                </a:ext>
              </a:extLst>
            </p:cNvPr>
            <p:cNvSpPr/>
            <p:nvPr/>
          </p:nvSpPr>
          <p:spPr>
            <a:xfrm>
              <a:off x="365760" y="4681728"/>
              <a:ext cx="1920240" cy="347472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5" name="Text 47">
              <a:extLst>
                <a:ext uri="{FF2B5EF4-FFF2-40B4-BE49-F238E27FC236}">
                  <a16:creationId xmlns:a16="http://schemas.microsoft.com/office/drawing/2014/main" id="{029CD332-B7B0-71B5-BDA6-8028926BDB36}"/>
                </a:ext>
              </a:extLst>
            </p:cNvPr>
            <p:cNvSpPr/>
            <p:nvPr/>
          </p:nvSpPr>
          <p:spPr>
            <a:xfrm>
              <a:off x="365760" y="4681728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7DC0F5"/>
                  </a:solidFill>
                </a:rPr>
                <a:t>총 커밋  34+</a:t>
              </a:r>
              <a:endParaRPr lang="en-US" sz="1400" dirty="0"/>
            </a:p>
          </p:txBody>
        </p:sp>
        <p:sp>
          <p:nvSpPr>
            <p:cNvPr id="916" name="Shape 48">
              <a:extLst>
                <a:ext uri="{FF2B5EF4-FFF2-40B4-BE49-F238E27FC236}">
                  <a16:creationId xmlns:a16="http://schemas.microsoft.com/office/drawing/2014/main" id="{2E36C843-8B80-7E95-CCFC-620C483EDE59}"/>
                </a:ext>
              </a:extLst>
            </p:cNvPr>
            <p:cNvSpPr/>
            <p:nvPr/>
          </p:nvSpPr>
          <p:spPr>
            <a:xfrm>
              <a:off x="2423160" y="4681728"/>
              <a:ext cx="2331720" cy="347472"/>
            </a:xfrm>
            <a:prstGeom prst="rect">
              <a:avLst/>
            </a:prstGeom>
            <a:solidFill>
              <a:srgbClr val="243352"/>
            </a:solidFill>
            <a:ln w="12700">
              <a:solidFill>
                <a:srgbClr val="24335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7" name="Text 49">
              <a:extLst>
                <a:ext uri="{FF2B5EF4-FFF2-40B4-BE49-F238E27FC236}">
                  <a16:creationId xmlns:a16="http://schemas.microsoft.com/office/drawing/2014/main" id="{97D77FA9-D6D8-42CB-1D92-43AA455C5A23}"/>
                </a:ext>
              </a:extLst>
            </p:cNvPr>
            <p:cNvSpPr/>
            <p:nvPr/>
          </p:nvSpPr>
          <p:spPr>
            <a:xfrm>
              <a:off x="2423160" y="4681728"/>
              <a:ext cx="23317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개발 기간  8일 (3/4 ~ 3/11)</a:t>
              </a:r>
              <a:endParaRPr lang="en-US" sz="1400" dirty="0"/>
            </a:p>
          </p:txBody>
        </p:sp>
        <p:sp>
          <p:nvSpPr>
            <p:cNvPr id="918" name="Shape 50">
              <a:extLst>
                <a:ext uri="{FF2B5EF4-FFF2-40B4-BE49-F238E27FC236}">
                  <a16:creationId xmlns:a16="http://schemas.microsoft.com/office/drawing/2014/main" id="{73C7CC58-C1DD-5EF9-A47B-1ED09E2DFCAC}"/>
                </a:ext>
              </a:extLst>
            </p:cNvPr>
            <p:cNvSpPr/>
            <p:nvPr/>
          </p:nvSpPr>
          <p:spPr>
            <a:xfrm>
              <a:off x="4892040" y="4681728"/>
              <a:ext cx="3886200" cy="347472"/>
            </a:xfrm>
            <a:prstGeom prst="rect">
              <a:avLst/>
            </a:prstGeom>
            <a:solidFill>
              <a:srgbClr val="2E4470"/>
            </a:solidFill>
            <a:ln w="12700">
              <a:solidFill>
                <a:srgbClr val="2E447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19" name="Text 51">
              <a:extLst>
                <a:ext uri="{FF2B5EF4-FFF2-40B4-BE49-F238E27FC236}">
                  <a16:creationId xmlns:a16="http://schemas.microsoft.com/office/drawing/2014/main" id="{BBC226ED-D044-EF94-F9C0-25DFFBEB8865}"/>
                </a:ext>
              </a:extLst>
            </p:cNvPr>
            <p:cNvSpPr/>
            <p:nvPr/>
          </p:nvSpPr>
          <p:spPr>
            <a:xfrm>
              <a:off x="4892040" y="4681728"/>
              <a:ext cx="3886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7DC0F5"/>
                  </a:solidFill>
                </a:rPr>
                <a:t>기반 구축 → 검사 안정화 → UI 완성 → 통계 자동화 순 진행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560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C8DF-F659-42BA-4085-E602856D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6FBCF01F-B952-014F-5DDA-C8448733AFF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B16F59DF-9B2B-5E17-44A0-A65FDCB73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B63E8297-A6D9-AD27-8A6E-1481B3D9E8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5703B4DD-F3B8-2029-3B05-9E0620353386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24363490-595B-81A6-27EB-9A869BDAA37B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개발 단계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192C6759-0EED-F5D8-FC40-F5988D37BB18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개발 단계별 주요 성과 (Git 기반)</a:t>
            </a:r>
          </a:p>
        </p:txBody>
      </p:sp>
      <p:grpSp>
        <p:nvGrpSpPr>
          <p:cNvPr id="936" name="그룹 935">
            <a:extLst>
              <a:ext uri="{FF2B5EF4-FFF2-40B4-BE49-F238E27FC236}">
                <a16:creationId xmlns:a16="http://schemas.microsoft.com/office/drawing/2014/main" id="{F69CEEE4-31AE-A217-B2AB-159E5FDFD1F5}"/>
              </a:ext>
            </a:extLst>
          </p:cNvPr>
          <p:cNvGrpSpPr/>
          <p:nvPr/>
        </p:nvGrpSpPr>
        <p:grpSpPr>
          <a:xfrm>
            <a:off x="720363" y="1170418"/>
            <a:ext cx="10751274" cy="5337163"/>
            <a:chOff x="256032" y="960120"/>
            <a:chExt cx="8759952" cy="4105656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CA11501E-90CA-1AA2-0147-D21B1A164462}"/>
                </a:ext>
              </a:extLst>
            </p:cNvPr>
            <p:cNvSpPr/>
            <p:nvPr/>
          </p:nvSpPr>
          <p:spPr>
            <a:xfrm>
              <a:off x="2560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63C079AE-406D-F0BB-E940-60D96402E401}"/>
                </a:ext>
              </a:extLst>
            </p:cNvPr>
            <p:cNvSpPr/>
            <p:nvPr/>
          </p:nvSpPr>
          <p:spPr>
            <a:xfrm>
              <a:off x="256032" y="960120"/>
              <a:ext cx="2816352" cy="493776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3A5B9851-CE60-737F-8013-186425DE9C96}"/>
                </a:ext>
              </a:extLst>
            </p:cNvPr>
            <p:cNvSpPr/>
            <p:nvPr/>
          </p:nvSpPr>
          <p:spPr>
            <a:xfrm>
              <a:off x="3474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1</a:t>
              </a:r>
              <a:endParaRPr lang="en-US" sz="1600" dirty="0"/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A419E367-B835-2845-0BB9-98D13DE1EF4F}"/>
                </a:ext>
              </a:extLst>
            </p:cNvPr>
            <p:cNvSpPr/>
            <p:nvPr/>
          </p:nvSpPr>
          <p:spPr>
            <a:xfrm>
              <a:off x="13075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3/4 ~ 3/6</a:t>
              </a:r>
              <a:endParaRPr lang="en-US" sz="1600" dirty="0"/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11D8E6A2-2F16-76BE-BD70-2C9E92099EC0}"/>
                </a:ext>
              </a:extLst>
            </p:cNvPr>
            <p:cNvSpPr/>
            <p:nvPr/>
          </p:nvSpPr>
          <p:spPr>
            <a:xfrm>
              <a:off x="3474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기반 구축</a:t>
              </a:r>
              <a:endParaRPr lang="en-US" sz="1600" dirty="0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14EEEAE7-4868-48FE-0B85-85E88E5A67F0}"/>
                </a:ext>
              </a:extLst>
            </p:cNvPr>
            <p:cNvSpPr/>
            <p:nvPr/>
          </p:nvSpPr>
          <p:spPr>
            <a:xfrm>
              <a:off x="365760" y="1719072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BACBD76F-7E88-905E-DEFC-6B33E3C039E6}"/>
                </a:ext>
              </a:extLst>
            </p:cNvPr>
            <p:cNvSpPr/>
            <p:nvPr/>
          </p:nvSpPr>
          <p:spPr>
            <a:xfrm>
              <a:off x="6035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볼트 ROI / 누락 / 각인 검사 기초 추가</a:t>
              </a:r>
              <a:endParaRPr lang="en-US" sz="1600" dirty="0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2BCE1A97-7EED-DCDF-6CB1-03932288FB64}"/>
                </a:ext>
              </a:extLst>
            </p:cNvPr>
            <p:cNvSpPr/>
            <p:nvPr/>
          </p:nvSpPr>
          <p:spPr>
            <a:xfrm>
              <a:off x="365760" y="2340864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DA32EBFA-C7F4-C20E-F156-F54E5D80C6B3}"/>
                </a:ext>
              </a:extLst>
            </p:cNvPr>
            <p:cNvSpPr/>
            <p:nvPr/>
          </p:nvSpPr>
          <p:spPr>
            <a:xfrm>
              <a:off x="6035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BlobDetect → ConnectedComponents 전환</a:t>
              </a:r>
              <a:endParaRPr lang="en-US" sz="1600" dirty="0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FDDB9435-7A3E-278C-6E37-9CBD92CF7779}"/>
                </a:ext>
              </a:extLst>
            </p:cNvPr>
            <p:cNvSpPr/>
            <p:nvPr/>
          </p:nvSpPr>
          <p:spPr>
            <a:xfrm>
              <a:off x="365760" y="2962656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66ADEA79-89E0-4563-B7F8-CD5BD4177948}"/>
                </a:ext>
              </a:extLst>
            </p:cNvPr>
            <p:cNvSpPr/>
            <p:nvPr/>
          </p:nvSpPr>
          <p:spPr>
            <a:xfrm>
              <a:off x="6035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xylophoneProp 속성창 도입</a:t>
              </a:r>
              <a:endParaRPr lang="en-US" sz="1600" dirty="0"/>
            </a:p>
          </p:txBody>
        </p:sp>
        <p:sp>
          <p:nvSpPr>
            <p:cNvPr id="13" name="Shape 14">
              <a:extLst>
                <a:ext uri="{FF2B5EF4-FFF2-40B4-BE49-F238E27FC236}">
                  <a16:creationId xmlns:a16="http://schemas.microsoft.com/office/drawing/2014/main" id="{03479E2B-4F35-5BE9-F7EA-AB6AA70D2651}"/>
                </a:ext>
              </a:extLst>
            </p:cNvPr>
            <p:cNvSpPr/>
            <p:nvPr/>
          </p:nvSpPr>
          <p:spPr>
            <a:xfrm>
              <a:off x="365760" y="3584448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5D44D2BB-1E39-7A75-45B4-B393C241E2A3}"/>
                </a:ext>
              </a:extLst>
            </p:cNvPr>
            <p:cNvSpPr/>
            <p:nvPr/>
          </p:nvSpPr>
          <p:spPr>
            <a:xfrm>
              <a:off x="6035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MaterialSkin 다크 테마 적용</a:t>
              </a:r>
              <a:endParaRPr lang="en-US" sz="1600" dirty="0"/>
            </a:p>
          </p:txBody>
        </p:sp>
        <p:sp>
          <p:nvSpPr>
            <p:cNvPr id="15" name="Shape 16">
              <a:extLst>
                <a:ext uri="{FF2B5EF4-FFF2-40B4-BE49-F238E27FC236}">
                  <a16:creationId xmlns:a16="http://schemas.microsoft.com/office/drawing/2014/main" id="{9907BC01-0D24-7465-B30C-F5A916F069AE}"/>
                </a:ext>
              </a:extLst>
            </p:cNvPr>
            <p:cNvSpPr/>
            <p:nvPr/>
          </p:nvSpPr>
          <p:spPr>
            <a:xfrm>
              <a:off x="365760" y="4206240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577FE396-6832-628D-0175-8101D2CDB842}"/>
                </a:ext>
              </a:extLst>
            </p:cNvPr>
            <p:cNvSpPr/>
            <p:nvPr/>
          </p:nvSpPr>
          <p:spPr>
            <a:xfrm>
              <a:off x="6035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코드 그룹 · 주석 체계 정리</a:t>
              </a:r>
              <a:endParaRPr lang="en-US" sz="1600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17D85C84-EBD6-6892-9AD1-4FBD311695B3}"/>
                </a:ext>
              </a:extLst>
            </p:cNvPr>
            <p:cNvSpPr/>
            <p:nvPr/>
          </p:nvSpPr>
          <p:spPr>
            <a:xfrm>
              <a:off x="32278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E05A1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DE225046-A641-6230-8886-DC9948D8980A}"/>
                </a:ext>
              </a:extLst>
            </p:cNvPr>
            <p:cNvSpPr/>
            <p:nvPr/>
          </p:nvSpPr>
          <p:spPr>
            <a:xfrm>
              <a:off x="3227832" y="960120"/>
              <a:ext cx="2816352" cy="493776"/>
            </a:xfrm>
            <a:prstGeom prst="rect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70DF3758-CDC0-C519-232B-6493D569C3A0}"/>
                </a:ext>
              </a:extLst>
            </p:cNvPr>
            <p:cNvSpPr/>
            <p:nvPr/>
          </p:nvSpPr>
          <p:spPr>
            <a:xfrm>
              <a:off x="33192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2</a:t>
              </a:r>
              <a:endParaRPr lang="en-US" sz="16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AD02A242-944C-ACE2-D396-8043E957ACC4}"/>
                </a:ext>
              </a:extLst>
            </p:cNvPr>
            <p:cNvSpPr/>
            <p:nvPr/>
          </p:nvSpPr>
          <p:spPr>
            <a:xfrm>
              <a:off x="42793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3/8 ~ 3/9</a:t>
              </a:r>
              <a:endParaRPr lang="en-US" sz="1600" dirty="0"/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2E29757C-67D0-C90D-BB22-6031D5DC4F91}"/>
                </a:ext>
              </a:extLst>
            </p:cNvPr>
            <p:cNvSpPr/>
            <p:nvPr/>
          </p:nvSpPr>
          <p:spPr>
            <a:xfrm>
              <a:off x="33192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검사 로직 안정화</a:t>
              </a:r>
              <a:endParaRPr lang="en-US" sz="1600" dirty="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7B12F14C-C6EA-E58C-1D8D-8AD8FA5DDA10}"/>
                </a:ext>
              </a:extLst>
            </p:cNvPr>
            <p:cNvSpPr/>
            <p:nvPr/>
          </p:nvSpPr>
          <p:spPr>
            <a:xfrm>
              <a:off x="3337560" y="1719072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8AD94E03-5C91-F0AD-EE43-521D44469320}"/>
                </a:ext>
              </a:extLst>
            </p:cNvPr>
            <p:cNvSpPr/>
            <p:nvPr/>
          </p:nvSpPr>
          <p:spPr>
            <a:xfrm>
              <a:off x="35753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매칭 스코어 임계값 튜닝</a:t>
              </a:r>
              <a:endParaRPr lang="en-US" sz="160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2C58722B-FC13-826D-B966-A48173FFE5FA}"/>
                </a:ext>
              </a:extLst>
            </p:cNvPr>
            <p:cNvSpPr/>
            <p:nvPr/>
          </p:nvSpPr>
          <p:spPr>
            <a:xfrm>
              <a:off x="3337560" y="2340864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FF7D5FBC-CB49-29B4-2C9B-FE6366261485}"/>
                </a:ext>
              </a:extLst>
            </p:cNvPr>
            <p:cNvSpPr/>
            <p:nvPr/>
          </p:nvSpPr>
          <p:spPr>
            <a:xfrm>
              <a:off x="35753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ROI 체크박스 연동 (Keyboard/Bolt/Mark)</a:t>
              </a:r>
              <a:endParaRPr lang="en-US" sz="1600" dirty="0"/>
            </a:p>
          </p:txBody>
        </p:sp>
        <p:sp>
          <p:nvSpPr>
            <p:cNvPr id="26" name="Shape 27">
              <a:extLst>
                <a:ext uri="{FF2B5EF4-FFF2-40B4-BE49-F238E27FC236}">
                  <a16:creationId xmlns:a16="http://schemas.microsoft.com/office/drawing/2014/main" id="{C604283C-E708-5EDD-0101-77BB9B3CB2E6}"/>
                </a:ext>
              </a:extLst>
            </p:cNvPr>
            <p:cNvSpPr/>
            <p:nvPr/>
          </p:nvSpPr>
          <p:spPr>
            <a:xfrm>
              <a:off x="3337560" y="2962656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1F9694D1-217B-FC32-0D84-2FDE8C1546C2}"/>
                </a:ext>
              </a:extLst>
            </p:cNvPr>
            <p:cNvSpPr/>
            <p:nvPr/>
          </p:nvSpPr>
          <p:spPr>
            <a:xfrm>
              <a:off x="35753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이미지 순서 표시 (n/N 카운터)</a:t>
              </a:r>
              <a:endParaRPr lang="en-US" sz="1600" dirty="0"/>
            </a:p>
          </p:txBody>
        </p:sp>
        <p:sp>
          <p:nvSpPr>
            <p:cNvPr id="28" name="Shape 29">
              <a:extLst>
                <a:ext uri="{FF2B5EF4-FFF2-40B4-BE49-F238E27FC236}">
                  <a16:creationId xmlns:a16="http://schemas.microsoft.com/office/drawing/2014/main" id="{85D0F246-E8B4-289B-68B4-677D5D910181}"/>
                </a:ext>
              </a:extLst>
            </p:cNvPr>
            <p:cNvSpPr/>
            <p:nvPr/>
          </p:nvSpPr>
          <p:spPr>
            <a:xfrm>
              <a:off x="3337560" y="3584448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DF02DF8C-B7F1-C635-C4BA-D87B77B18C09}"/>
                </a:ext>
              </a:extLst>
            </p:cNvPr>
            <p:cNvSpPr/>
            <p:nvPr/>
          </p:nvSpPr>
          <p:spPr>
            <a:xfrm>
              <a:off x="35753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재검사 확인 팝업 구현</a:t>
              </a:r>
              <a:endParaRPr lang="en-US" sz="1600" dirty="0"/>
            </a:p>
          </p:txBody>
        </p:sp>
        <p:sp>
          <p:nvSpPr>
            <p:cNvPr id="30" name="Shape 31">
              <a:extLst>
                <a:ext uri="{FF2B5EF4-FFF2-40B4-BE49-F238E27FC236}">
                  <a16:creationId xmlns:a16="http://schemas.microsoft.com/office/drawing/2014/main" id="{587CFB09-34DD-20EF-836E-BAE955857AF2}"/>
                </a:ext>
              </a:extLst>
            </p:cNvPr>
            <p:cNvSpPr/>
            <p:nvPr/>
          </p:nvSpPr>
          <p:spPr>
            <a:xfrm>
              <a:off x="3337560" y="4206240"/>
              <a:ext cx="164592" cy="164592"/>
            </a:xfrm>
            <a:prstGeom prst="ellipse">
              <a:avLst/>
            </a:prstGeom>
            <a:solidFill>
              <a:srgbClr val="E05A1A"/>
            </a:solidFill>
            <a:ln w="12700">
              <a:solidFill>
                <a:srgbClr val="E05A1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EB2664DA-BAA1-36F1-21E1-DDFFE71EFB10}"/>
                </a:ext>
              </a:extLst>
            </p:cNvPr>
            <p:cNvSpPr/>
            <p:nvPr/>
          </p:nvSpPr>
          <p:spPr>
            <a:xfrm>
              <a:off x="35753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검사 결과 이미지 자동 저장</a:t>
              </a:r>
              <a:endParaRPr lang="en-US" sz="1600" dirty="0"/>
            </a:p>
          </p:txBody>
        </p:sp>
        <p:sp>
          <p:nvSpPr>
            <p:cNvPr id="32" name="Shape 33">
              <a:extLst>
                <a:ext uri="{FF2B5EF4-FFF2-40B4-BE49-F238E27FC236}">
                  <a16:creationId xmlns:a16="http://schemas.microsoft.com/office/drawing/2014/main" id="{2908C228-E77D-1CB8-F843-C4E1CEFA2F1B}"/>
                </a:ext>
              </a:extLst>
            </p:cNvPr>
            <p:cNvSpPr/>
            <p:nvPr/>
          </p:nvSpPr>
          <p:spPr>
            <a:xfrm>
              <a:off x="6199632" y="960120"/>
              <a:ext cx="2816352" cy="3886200"/>
            </a:xfrm>
            <a:prstGeom prst="rect">
              <a:avLst/>
            </a:prstGeom>
            <a:solidFill>
              <a:srgbClr val="1B2A4A"/>
            </a:solidFill>
            <a:ln w="15240">
              <a:solidFill>
                <a:srgbClr val="4A9F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1" name="Shape 34">
              <a:extLst>
                <a:ext uri="{FF2B5EF4-FFF2-40B4-BE49-F238E27FC236}">
                  <a16:creationId xmlns:a16="http://schemas.microsoft.com/office/drawing/2014/main" id="{E065E742-590B-9BB6-9897-9713564B3CCF}"/>
                </a:ext>
              </a:extLst>
            </p:cNvPr>
            <p:cNvSpPr/>
            <p:nvPr/>
          </p:nvSpPr>
          <p:spPr>
            <a:xfrm>
              <a:off x="6199632" y="960120"/>
              <a:ext cx="2816352" cy="493776"/>
            </a:xfrm>
            <a:prstGeom prst="rect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2" name="Text 35">
              <a:extLst>
                <a:ext uri="{FF2B5EF4-FFF2-40B4-BE49-F238E27FC236}">
                  <a16:creationId xmlns:a16="http://schemas.microsoft.com/office/drawing/2014/main" id="{CA65330E-A25C-97BF-6C80-AB8EBE679951}"/>
                </a:ext>
              </a:extLst>
            </p:cNvPr>
            <p:cNvSpPr/>
            <p:nvPr/>
          </p:nvSpPr>
          <p:spPr>
            <a:xfrm>
              <a:off x="6291072" y="9966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SPRINT 3</a:t>
              </a:r>
              <a:endParaRPr lang="en-US" sz="1600" dirty="0"/>
            </a:p>
          </p:txBody>
        </p:sp>
        <p:sp>
          <p:nvSpPr>
            <p:cNvPr id="923" name="Text 36">
              <a:extLst>
                <a:ext uri="{FF2B5EF4-FFF2-40B4-BE49-F238E27FC236}">
                  <a16:creationId xmlns:a16="http://schemas.microsoft.com/office/drawing/2014/main" id="{8AF34EAC-C344-1966-F6AA-266F84E6DBAF}"/>
                </a:ext>
              </a:extLst>
            </p:cNvPr>
            <p:cNvSpPr/>
            <p:nvPr/>
          </p:nvSpPr>
          <p:spPr>
            <a:xfrm>
              <a:off x="7251192" y="996696"/>
              <a:ext cx="1691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1B2A4A"/>
                  </a:solidFill>
                </a:rPr>
                <a:t>3/10 ~ 3/11</a:t>
              </a:r>
              <a:endParaRPr lang="en-US" sz="1600" dirty="0"/>
            </a:p>
          </p:txBody>
        </p:sp>
        <p:sp>
          <p:nvSpPr>
            <p:cNvPr id="924" name="Text 37">
              <a:extLst>
                <a:ext uri="{FF2B5EF4-FFF2-40B4-BE49-F238E27FC236}">
                  <a16:creationId xmlns:a16="http://schemas.microsoft.com/office/drawing/2014/main" id="{FC0D292A-39B5-ABE1-4240-BE8B0C50F4A4}"/>
                </a:ext>
              </a:extLst>
            </p:cNvPr>
            <p:cNvSpPr/>
            <p:nvPr/>
          </p:nvSpPr>
          <p:spPr>
            <a:xfrm>
              <a:off x="6291072" y="1252728"/>
              <a:ext cx="2633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A4A"/>
                  </a:solidFill>
                </a:rPr>
                <a:t>UI 완성 &amp; 통계 자동화</a:t>
              </a:r>
              <a:endParaRPr lang="en-US" sz="1600" dirty="0"/>
            </a:p>
          </p:txBody>
        </p:sp>
        <p:sp>
          <p:nvSpPr>
            <p:cNvPr id="925" name="Shape 38">
              <a:extLst>
                <a:ext uri="{FF2B5EF4-FFF2-40B4-BE49-F238E27FC236}">
                  <a16:creationId xmlns:a16="http://schemas.microsoft.com/office/drawing/2014/main" id="{ADE7EB8A-EF92-AB81-0841-79C4A6753C19}"/>
                </a:ext>
              </a:extLst>
            </p:cNvPr>
            <p:cNvSpPr/>
            <p:nvPr/>
          </p:nvSpPr>
          <p:spPr>
            <a:xfrm>
              <a:off x="6309360" y="1719072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6" name="Text 39">
              <a:extLst>
                <a:ext uri="{FF2B5EF4-FFF2-40B4-BE49-F238E27FC236}">
                  <a16:creationId xmlns:a16="http://schemas.microsoft.com/office/drawing/2014/main" id="{BD6720BE-B402-EDFE-93D2-6D2FD9523BC3}"/>
                </a:ext>
              </a:extLst>
            </p:cNvPr>
            <p:cNvSpPr/>
            <p:nvPr/>
          </p:nvSpPr>
          <p:spPr>
            <a:xfrm>
              <a:off x="6547104" y="1664208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TrendChartForm 불량률 차트 통합</a:t>
              </a:r>
              <a:endParaRPr lang="en-US" sz="1600" dirty="0"/>
            </a:p>
          </p:txBody>
        </p:sp>
        <p:sp>
          <p:nvSpPr>
            <p:cNvPr id="927" name="Shape 40">
              <a:extLst>
                <a:ext uri="{FF2B5EF4-FFF2-40B4-BE49-F238E27FC236}">
                  <a16:creationId xmlns:a16="http://schemas.microsoft.com/office/drawing/2014/main" id="{2FFF431F-67A3-2745-6B1E-8FB90151AC36}"/>
                </a:ext>
              </a:extLst>
            </p:cNvPr>
            <p:cNvSpPr/>
            <p:nvPr/>
          </p:nvSpPr>
          <p:spPr>
            <a:xfrm>
              <a:off x="6309360" y="2340864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28" name="Text 41">
              <a:extLst>
                <a:ext uri="{FF2B5EF4-FFF2-40B4-BE49-F238E27FC236}">
                  <a16:creationId xmlns:a16="http://schemas.microsoft.com/office/drawing/2014/main" id="{D26FB042-41BC-1A35-0D8D-E8629C607CDE}"/>
                </a:ext>
              </a:extLst>
            </p:cNvPr>
            <p:cNvSpPr/>
            <p:nvPr/>
          </p:nvSpPr>
          <p:spPr>
            <a:xfrm>
              <a:off x="6547104" y="2286000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CLAHE + Laplacian 각인 최종 튜닝</a:t>
              </a:r>
              <a:endParaRPr lang="en-US" sz="1600" dirty="0"/>
            </a:p>
          </p:txBody>
        </p:sp>
        <p:sp>
          <p:nvSpPr>
            <p:cNvPr id="929" name="Shape 42">
              <a:extLst>
                <a:ext uri="{FF2B5EF4-FFF2-40B4-BE49-F238E27FC236}">
                  <a16:creationId xmlns:a16="http://schemas.microsoft.com/office/drawing/2014/main" id="{CAF76BA1-7F03-B53B-9B90-A824C1C6F335}"/>
                </a:ext>
              </a:extLst>
            </p:cNvPr>
            <p:cNvSpPr/>
            <p:nvPr/>
          </p:nvSpPr>
          <p:spPr>
            <a:xfrm>
              <a:off x="6309360" y="2962656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0" name="Text 43">
              <a:extLst>
                <a:ext uri="{FF2B5EF4-FFF2-40B4-BE49-F238E27FC236}">
                  <a16:creationId xmlns:a16="http://schemas.microsoft.com/office/drawing/2014/main" id="{827B4218-C243-124E-EFD1-14C28ACCCCCA}"/>
                </a:ext>
              </a:extLst>
            </p:cNvPr>
            <p:cNvSpPr/>
            <p:nvPr/>
          </p:nvSpPr>
          <p:spPr>
            <a:xfrm>
              <a:off x="6547104" y="2907792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Segoe UI 폰트 통일 &amp; 라벨 조정</a:t>
              </a:r>
              <a:endParaRPr lang="en-US" sz="1600" dirty="0"/>
            </a:p>
          </p:txBody>
        </p:sp>
        <p:sp>
          <p:nvSpPr>
            <p:cNvPr id="931" name="Shape 44">
              <a:extLst>
                <a:ext uri="{FF2B5EF4-FFF2-40B4-BE49-F238E27FC236}">
                  <a16:creationId xmlns:a16="http://schemas.microsoft.com/office/drawing/2014/main" id="{8AF335CE-D1FB-C2D0-43DD-4F09EFE786FA}"/>
                </a:ext>
              </a:extLst>
            </p:cNvPr>
            <p:cNvSpPr/>
            <p:nvPr/>
          </p:nvSpPr>
          <p:spPr>
            <a:xfrm>
              <a:off x="6309360" y="3584448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2" name="Text 45">
              <a:extLst>
                <a:ext uri="{FF2B5EF4-FFF2-40B4-BE49-F238E27FC236}">
                  <a16:creationId xmlns:a16="http://schemas.microsoft.com/office/drawing/2014/main" id="{3F02171A-C95B-A6CA-4A38-EB01FC9FD353}"/>
                </a:ext>
              </a:extLst>
            </p:cNvPr>
            <p:cNvSpPr/>
            <p:nvPr/>
          </p:nvSpPr>
          <p:spPr>
            <a:xfrm>
              <a:off x="6547104" y="3529584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Tact Time 측정 / UPH 자동 계산</a:t>
              </a:r>
              <a:endParaRPr lang="en-US" sz="1600" dirty="0"/>
            </a:p>
          </p:txBody>
        </p:sp>
        <p:sp>
          <p:nvSpPr>
            <p:cNvPr id="933" name="Shape 46">
              <a:extLst>
                <a:ext uri="{FF2B5EF4-FFF2-40B4-BE49-F238E27FC236}">
                  <a16:creationId xmlns:a16="http://schemas.microsoft.com/office/drawing/2014/main" id="{7AD7D49E-CF90-C139-C3AC-78E8DB682A34}"/>
                </a:ext>
              </a:extLst>
            </p:cNvPr>
            <p:cNvSpPr/>
            <p:nvPr/>
          </p:nvSpPr>
          <p:spPr>
            <a:xfrm>
              <a:off x="6309360" y="4206240"/>
              <a:ext cx="164592" cy="164592"/>
            </a:xfrm>
            <a:prstGeom prst="ellipse">
              <a:avLst/>
            </a:prstGeom>
            <a:solidFill>
              <a:srgbClr val="4A9FE8"/>
            </a:solidFill>
            <a:ln w="12700">
              <a:solidFill>
                <a:srgbClr val="4A9FE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34" name="Text 47">
              <a:extLst>
                <a:ext uri="{FF2B5EF4-FFF2-40B4-BE49-F238E27FC236}">
                  <a16:creationId xmlns:a16="http://schemas.microsoft.com/office/drawing/2014/main" id="{591B0ED7-B67A-2B40-A556-383B63E8A005}"/>
                </a:ext>
              </a:extLst>
            </p:cNvPr>
            <p:cNvSpPr/>
            <p:nvPr/>
          </p:nvSpPr>
          <p:spPr>
            <a:xfrm>
              <a:off x="6547104" y="4151376"/>
              <a:ext cx="235915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CADCFC"/>
                  </a:solidFill>
                </a:rPr>
                <a:t>CSV 저장 + 비동기 저장 스레드 분리</a:t>
              </a:r>
              <a:endParaRPr lang="en-US" sz="1600" dirty="0"/>
            </a:p>
          </p:txBody>
        </p:sp>
        <p:sp>
          <p:nvSpPr>
            <p:cNvPr id="935" name="Text 48">
              <a:extLst>
                <a:ext uri="{FF2B5EF4-FFF2-40B4-BE49-F238E27FC236}">
                  <a16:creationId xmlns:a16="http://schemas.microsoft.com/office/drawing/2014/main" id="{485D7B0C-4868-6A74-BE9D-92A744925A5D}"/>
                </a:ext>
              </a:extLst>
            </p:cNvPr>
            <p:cNvSpPr/>
            <p:nvPr/>
          </p:nvSpPr>
          <p:spPr>
            <a:xfrm>
              <a:off x="274320" y="4864608"/>
              <a:ext cx="8595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Sprint 1: ~12 commits  ·  Sprint 2: ~10 commits  ·  Sprint 3: ~12 commits  =  총 34+ commits / 8일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187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CC507E-CEEE-CA96-3D8E-82524F36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B7D557-7DFE-9453-4469-A46C730F98CD}"/>
              </a:ext>
            </a:extLst>
          </p:cNvPr>
          <p:cNvSpPr/>
          <p:nvPr/>
        </p:nvSpPr>
        <p:spPr>
          <a:xfrm>
            <a:off x="6766153" y="4970600"/>
            <a:ext cx="1470244" cy="176515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UI 개요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시스템 UI 전체 화면 구성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1CFD08-8C33-D45A-0792-003169A1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6746B4-6864-0B2F-C104-45653A11D918}"/>
              </a:ext>
            </a:extLst>
          </p:cNvPr>
          <p:cNvSpPr/>
          <p:nvPr/>
        </p:nvSpPr>
        <p:spPr>
          <a:xfrm>
            <a:off x="8034045" y="1800893"/>
            <a:ext cx="934864" cy="43481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우측 Inspect 탭 &gt; 검사 버튼 클릭 시 검사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666D-363D-CD79-821E-FB178AF3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94B9069D-0F20-DE3C-3ED6-B7C462CF01F5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E875BA8-C386-FDE6-5456-03C30E4B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00" y="995000"/>
            <a:ext cx="8216785" cy="5688000"/>
          </a:xfrm>
          <a:prstGeom prst="rect">
            <a:avLst/>
          </a:prstGeom>
        </p:spPr>
      </p:pic>
      <p:sp>
        <p:nvSpPr>
          <p:cNvPr id="901" name="header_bar">
            <a:extLst>
              <a:ext uri="{FF2B5EF4-FFF2-40B4-BE49-F238E27FC236}">
                <a16:creationId xmlns:a16="http://schemas.microsoft.com/office/drawing/2014/main" id="{D26A1C78-AB0E-2AE5-6EFC-DC42B2FAD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39CC7443-07CA-1376-AA33-F4163E54A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EEF6BCAB-378C-3B94-75F0-A30D27180DEF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1927ED-47C9-1794-84B8-B03ECFB1FC56}"/>
              </a:ext>
            </a:extLst>
          </p:cNvPr>
          <p:cNvSpPr/>
          <p:nvPr/>
        </p:nvSpPr>
        <p:spPr>
          <a:xfrm>
            <a:off x="6814845" y="5820590"/>
            <a:ext cx="741424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RunForm 시작 버튼 클릭 시 검사 1회 시작</a:t>
            </a:r>
          </a:p>
        </p:txBody>
      </p:sp>
    </p:spTree>
    <p:extLst>
      <p:ext uri="{BB962C8B-B14F-4D97-AF65-F5344CB8AC3E}">
        <p14:creationId xmlns:p14="http://schemas.microsoft.com/office/powerpoint/2010/main" val="141265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3B6B-A94A-016D-924F-B8F94A5E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6856ACF8-E1FE-5981-E440-2CA67FD1E3B6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3E1203-D0E9-471A-B4F9-9B7255230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>
            <a:extLst>
              <a:ext uri="{FF2B5EF4-FFF2-40B4-BE49-F238E27FC236}">
                <a16:creationId xmlns:a16="http://schemas.microsoft.com/office/drawing/2014/main" id="{CB4A6099-F692-F656-A445-D8DE445320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C495A8DF-5A5A-099F-550A-A26933B3B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AFC6C896-AFB5-EAE8-5234-9E6920774950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895B4E-0687-FC90-0543-3EA4606B3CBB}"/>
              </a:ext>
            </a:extLst>
          </p:cNvPr>
          <p:cNvSpPr/>
          <p:nvPr/>
        </p:nvSpPr>
        <p:spPr>
          <a:xfrm>
            <a:off x="6814845" y="5820590"/>
            <a:ext cx="741424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01C514-EABE-DE63-A391-4895E7881FDB}"/>
              </a:ext>
            </a:extLst>
          </p:cNvPr>
          <p:cNvSpPr/>
          <p:nvPr/>
        </p:nvSpPr>
        <p:spPr>
          <a:xfrm>
            <a:off x="2618072" y="1258982"/>
            <a:ext cx="1062849" cy="55527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검사 실행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Cycle Mode 설정 후 시작 버튼 클릭 시 1 cycle 검사 시작</a:t>
            </a:r>
          </a:p>
        </p:txBody>
      </p:sp>
    </p:spTree>
    <p:extLst>
      <p:ext uri="{BB962C8B-B14F-4D97-AF65-F5344CB8AC3E}">
        <p14:creationId xmlns:p14="http://schemas.microsoft.com/office/powerpoint/2010/main" val="159544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2D07F6-ACC4-B1F4-D56E-3FD47C6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68" y="995000"/>
            <a:ext cx="8216000" cy="568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31E10C-80F7-3130-4003-758EFA00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607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C7DD54-4CAE-6D9F-C5A0-0E8216A45376}"/>
              </a:ext>
            </a:extLst>
          </p:cNvPr>
          <p:cNvSpPr/>
          <p:nvPr/>
        </p:nvSpPr>
        <p:spPr>
          <a:xfrm>
            <a:off x="7977013" y="2115663"/>
            <a:ext cx="2362742" cy="10365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sng" dirty="0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ROI 필터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InspROI 창의 Check Box로 특정 ROI만 선택 표시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2D07F6-ACC4-B1F4-D56E-3FD47C6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0" y="995000"/>
            <a:ext cx="8216000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6301AB-6628-3DD6-1A80-F9105F859168}"/>
              </a:ext>
            </a:extLst>
          </p:cNvPr>
          <p:cNvSpPr/>
          <p:nvPr/>
        </p:nvSpPr>
        <p:spPr>
          <a:xfrm>
            <a:off x="4605252" y="5274467"/>
            <a:ext cx="2310938" cy="140951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확인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ResultForm 트렌드 탭에서 Trend Graph 확인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FBC0EC-CAAC-20C7-F73B-826C4DAD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3" y="995000"/>
            <a:ext cx="8283865" cy="5688000"/>
          </a:xfrm>
          <a:prstGeom prst="rect">
            <a:avLst/>
          </a:prstGeom>
        </p:spPr>
      </p:pic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07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1DA2751-B3A0-539A-9168-A29E06F0CA15}"/>
              </a:ext>
            </a:extLst>
          </p:cNvPr>
          <p:cNvGrpSpPr/>
          <p:nvPr/>
        </p:nvGrpSpPr>
        <p:grpSpPr>
          <a:xfrm>
            <a:off x="8627791" y="4396155"/>
            <a:ext cx="3238561" cy="1846845"/>
            <a:chOff x="8627791" y="4396155"/>
            <a:chExt cx="3238561" cy="1846845"/>
          </a:xfrm>
        </p:grpSpPr>
        <p:sp>
          <p:nvSpPr>
            <p:cNvPr id="7" name="header_title">
              <a:extLst>
                <a:ext uri="{FF2B5EF4-FFF2-40B4-BE49-F238E27FC236}">
                  <a16:creationId xmlns:a16="http://schemas.microsoft.com/office/drawing/2014/main" id="{A5C584C6-7D31-33FC-96F8-6A52E2864A25}"/>
                </a:ext>
              </a:extLst>
            </p:cNvPr>
            <p:cNvSpPr txBox="1"/>
            <p:nvPr/>
          </p:nvSpPr>
          <p:spPr>
            <a:xfrm>
              <a:off x="9029391" y="5423000"/>
              <a:ext cx="2435361" cy="8200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ko-KR" altLang="en-US" sz="20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저장된 </a:t>
              </a:r>
              <a:r>
                <a:rPr lang="ko-KR" altLang="en-US" sz="2000" b="1" dirty="0" err="1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TrendChart</a:t>
              </a:r>
              <a:endParaRPr lang="ko-KR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B809343-354D-ED91-510F-D15730E7B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791" y="4396155"/>
              <a:ext cx="3238561" cy="1231846"/>
            </a:xfrm>
            <a:prstGeom prst="rect">
              <a:avLst/>
            </a:prstGeom>
            <a:ln w="28575">
              <a:solidFill>
                <a:schemeClr val="tx2"/>
              </a:solidFill>
            </a:ln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2390C8-5820-FFF1-CB2E-99CD62178C15}"/>
              </a:ext>
            </a:extLst>
          </p:cNvPr>
          <p:cNvSpPr/>
          <p:nvPr/>
        </p:nvSpPr>
        <p:spPr>
          <a:xfrm>
            <a:off x="4075314" y="6380018"/>
            <a:ext cx="500841" cy="30298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ResultForm에서 Trend Graph PNG 파일로 저장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/>
          <p:cNvSpPr>
            <a:spLocks noGrp="1"/>
          </p:cNvSpPr>
          <p:nvPr/>
        </p:nvSpPr>
        <p:spPr>
          <a:xfrm>
            <a:off x="-4000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/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/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/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10" name="cat_badge"/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/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결과 판정에 따라 폴더 구분 자동 저장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05DBC6-1895-5BF9-847C-824A00889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203" y="2055326"/>
            <a:ext cx="7979593" cy="3567348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C4AE-E8B7-1E2F-B00F-3FF91929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content_bg">
            <a:extLst>
              <a:ext uri="{FF2B5EF4-FFF2-40B4-BE49-F238E27FC236}">
                <a16:creationId xmlns:a16="http://schemas.microsoft.com/office/drawing/2014/main" id="{E84026D3-CEC6-77D9-6339-EAB41AC5CAFA}"/>
              </a:ext>
            </a:extLst>
          </p:cNvPr>
          <p:cNvSpPr>
            <a:spLocks noGrp="1"/>
          </p:cNvSpPr>
          <p:nvPr/>
        </p:nvSpPr>
        <p:spPr>
          <a:xfrm>
            <a:off x="-4000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901" name="header_bar">
            <a:extLst>
              <a:ext uri="{FF2B5EF4-FFF2-40B4-BE49-F238E27FC236}">
                <a16:creationId xmlns:a16="http://schemas.microsoft.com/office/drawing/2014/main" id="{8C65742F-C6D1-52F6-B37B-8AB9D5558E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accent_stripe">
            <a:extLst>
              <a:ext uri="{FF2B5EF4-FFF2-40B4-BE49-F238E27FC236}">
                <a16:creationId xmlns:a16="http://schemas.microsoft.com/office/drawing/2014/main" id="{670AAFDD-CB70-31B8-08C6-E6BE953A5A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4" name="step_badge">
            <a:extLst>
              <a:ext uri="{FF2B5EF4-FFF2-40B4-BE49-F238E27FC236}">
                <a16:creationId xmlns:a16="http://schemas.microsoft.com/office/drawing/2014/main" id="{AA5A0FCB-133E-C8FD-458B-A280C87B731E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10" name="cat_badge">
            <a:extLst>
              <a:ext uri="{FF2B5EF4-FFF2-40B4-BE49-F238E27FC236}">
                <a16:creationId xmlns:a16="http://schemas.microsoft.com/office/drawing/2014/main" id="{4ABA0C3F-5147-4AD7-E5AE-398E7569FD72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결과 저장</a:t>
            </a:r>
          </a:p>
        </p:txBody>
      </p:sp>
      <p:sp>
        <p:nvSpPr>
          <p:cNvPr id="903" name="header_title">
            <a:extLst>
              <a:ext uri="{FF2B5EF4-FFF2-40B4-BE49-F238E27FC236}">
                <a16:creationId xmlns:a16="http://schemas.microsoft.com/office/drawing/2014/main" id="{FFB8DCD5-C7AA-DACD-7D94-E6D8587A3C27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검사 결과 </a:t>
            </a:r>
            <a:r>
              <a:rPr lang="en-US" altLang="ko-KR" sz="2000" b="1" dirty="0">
                <a:solidFill>
                  <a:srgbClr val="FFFFFF"/>
                </a:solidFill>
              </a:rPr>
              <a:t>Logs</a:t>
            </a:r>
            <a:r>
              <a:rPr lang="ko-KR" altLang="en-US" sz="2000" b="1" dirty="0">
                <a:solidFill>
                  <a:srgbClr val="FFFFFF"/>
                </a:solidFill>
              </a:rPr>
              <a:t> 폴더에 자동 저장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192906-A8E3-8DD9-E51C-FA18B98A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53" t="7009" r="37264" b="63067"/>
          <a:stretch>
            <a:fillRect/>
          </a:stretch>
        </p:blipFill>
        <p:spPr>
          <a:xfrm>
            <a:off x="162942" y="1037208"/>
            <a:ext cx="4093738" cy="1799047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D3219C-E25E-90A3-119B-86B910003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19" y="2245406"/>
            <a:ext cx="9478698" cy="4467849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889FE3F-7CA8-1998-F12B-BBF2265328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52418" y="2994800"/>
            <a:ext cx="1358167" cy="355636"/>
          </a:xfrm>
          <a:prstGeom prst="bentConnector3">
            <a:avLst>
              <a:gd name="adj1" fmla="val 99635"/>
            </a:avLst>
          </a:prstGeom>
          <a:ln w="38100">
            <a:solidFill>
              <a:srgbClr val="E05A1A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71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_bg">
            <a:extLst>
              <a:ext uri="{FF2B5EF4-FFF2-40B4-BE49-F238E27FC236}">
                <a16:creationId xmlns:a16="http://schemas.microsoft.com/office/drawing/2014/main" id="{CE6C3C2F-6A12-695D-14D8-762AF0BEB2F1}"/>
              </a:ext>
            </a:extLst>
          </p:cNvPr>
          <p:cNvSpPr>
            <a:spLocks noGrp="1"/>
          </p:cNvSpPr>
          <p:nvPr/>
        </p:nvSpPr>
        <p:spPr>
          <a:xfrm>
            <a:off x="0" y="820000"/>
            <a:ext cx="12192000" cy="6038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/>
          <p:nvPr/>
        </p:nvSpPr>
        <p:spPr>
          <a:xfrm>
            <a:off x="670560" y="1194816"/>
            <a:ext cx="1085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C2B4A"/>
                </a:solidFill>
              </a:rPr>
              <a:t>프로젝트 GitHub 저장소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0560" y="1682496"/>
            <a:ext cx="10850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45577"/>
                </a:solidFill>
              </a:rPr>
              <a:t>아래 두 저장소에서 Xylophone 검사 시스템의 </a:t>
            </a:r>
            <a:r>
              <a:rPr lang="en-US" sz="1400" dirty="0" err="1">
                <a:solidFill>
                  <a:srgbClr val="445577"/>
                </a:solidFill>
              </a:rPr>
              <a:t>전체</a:t>
            </a:r>
            <a:r>
              <a:rPr lang="en-US" sz="1400" dirty="0">
                <a:solidFill>
                  <a:srgbClr val="445577"/>
                </a:solidFill>
              </a:rPr>
              <a:t> </a:t>
            </a:r>
            <a:r>
              <a:rPr lang="en-US" sz="1400" dirty="0" err="1">
                <a:solidFill>
                  <a:srgbClr val="445577"/>
                </a:solidFill>
              </a:rPr>
              <a:t>소스코드</a:t>
            </a:r>
            <a:r>
              <a:rPr lang="en-US" sz="1400" dirty="0">
                <a:solidFill>
                  <a:srgbClr val="445577"/>
                </a:solidFill>
              </a:rPr>
              <a:t>, </a:t>
            </a:r>
            <a:r>
              <a:rPr lang="ko-KR" altLang="en-US" sz="1400" dirty="0">
                <a:solidFill>
                  <a:srgbClr val="445577"/>
                </a:solidFill>
              </a:rPr>
              <a:t>작동 영상</a:t>
            </a:r>
            <a:r>
              <a:rPr lang="en-US" altLang="ko-KR" sz="1400" dirty="0">
                <a:solidFill>
                  <a:srgbClr val="445577"/>
                </a:solidFill>
              </a:rPr>
              <a:t>, </a:t>
            </a:r>
            <a:r>
              <a:rPr lang="ko-KR" altLang="en-US" sz="1400" dirty="0">
                <a:solidFill>
                  <a:srgbClr val="445577"/>
                </a:solidFill>
              </a:rPr>
              <a:t>해당 </a:t>
            </a:r>
            <a:r>
              <a:rPr lang="en-US" altLang="ko-KR" sz="1400" dirty="0">
                <a:solidFill>
                  <a:srgbClr val="445577"/>
                </a:solidFill>
              </a:rPr>
              <a:t>ppt, Sample Image File</a:t>
            </a:r>
            <a:r>
              <a:rPr lang="ko-KR" altLang="en-US" sz="1400" dirty="0">
                <a:solidFill>
                  <a:srgbClr val="445577"/>
                </a:solidFill>
              </a:rPr>
              <a:t>을</a:t>
            </a:r>
            <a:r>
              <a:rPr lang="en-US" sz="1400" dirty="0">
                <a:solidFill>
                  <a:srgbClr val="445577"/>
                </a:solidFill>
              </a:rPr>
              <a:t> 확인할 수 있습니다.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09600" y="2292096"/>
            <a:ext cx="1097280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09600" y="2292096"/>
            <a:ext cx="85344" cy="1487424"/>
          </a:xfrm>
          <a:prstGeom prst="rect">
            <a:avLst/>
          </a:prstGeom>
          <a:solidFill>
            <a:srgbClr val="E05C20"/>
          </a:solidFill>
          <a:ln w="12700">
            <a:solidFill>
              <a:srgbClr val="E05C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77824" y="2389632"/>
            <a:ext cx="4876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2B4A"/>
                </a:solidFill>
              </a:rPr>
              <a:t>① 독립 저장소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" y="2767584"/>
            <a:ext cx="6705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5577"/>
                </a:solidFill>
              </a:rPr>
              <a:t>Xylophone 프로젝트 전용 저장소 (메인 브랜치)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77824" y="3145536"/>
            <a:ext cx="85344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7824" y="314553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URL</a:t>
            </a:r>
            <a:endParaRPr lang="en-US" sz="12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1792224" y="314553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u="sng" dirty="0">
                <a:solidFill>
                  <a:srgbClr val="2A5CA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https://github.com/kimamugessi/Xylophone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09600" y="3998976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600" y="3998976"/>
            <a:ext cx="85344" cy="1645920"/>
          </a:xfrm>
          <a:prstGeom prst="rect">
            <a:avLst/>
          </a:prstGeom>
          <a:solidFill>
            <a:srgbClr val="2A5CAA"/>
          </a:solidFill>
          <a:ln w="12700">
            <a:solidFill>
              <a:srgbClr val="2A5C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77824" y="4096512"/>
            <a:ext cx="7315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2B4A"/>
                </a:solidFill>
              </a:rPr>
              <a:t>② 통합 저장소 (브랜치)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4474464"/>
            <a:ext cx="9144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5577"/>
                </a:solidFill>
              </a:rPr>
              <a:t>JYVIsion 통합 저장소 내 Xylophone Inspection 전용 브랜치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77824" y="4852416"/>
            <a:ext cx="316992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2A5C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77824" y="4852416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2A5CAA"/>
                </a:solidFill>
              </a:rPr>
              <a:t>Branch : </a:t>
            </a:r>
            <a:r>
              <a:rPr lang="en-US" sz="1300" dirty="0" err="1">
                <a:solidFill>
                  <a:srgbClr val="2A5CAA"/>
                </a:solidFill>
              </a:rPr>
              <a:t>XylophoneInspection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7824" y="5218176"/>
            <a:ext cx="853440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77824" y="521817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URL</a:t>
            </a:r>
            <a:endParaRPr lang="en-US" sz="1200" dirty="0"/>
          </a:p>
        </p:txBody>
      </p:sp>
      <p:sp>
        <p:nvSpPr>
          <p:cNvPr id="25" name="Text 23">
            <a:hlinkClick r:id="rId4"/>
          </p:cNvPr>
          <p:cNvSpPr/>
          <p:nvPr/>
        </p:nvSpPr>
        <p:spPr>
          <a:xfrm>
            <a:off x="1792224" y="521817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u="sng" dirty="0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https://github.com/kimamugessi/JYVIsion  →  </a:t>
            </a:r>
            <a:r>
              <a:rPr lang="en-US" sz="1333" u="sng" dirty="0" err="1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XylophoneInspection</a:t>
            </a:r>
            <a:r>
              <a:rPr lang="en-US" sz="1333" u="sng" dirty="0">
                <a:solidFill>
                  <a:srgbClr val="2A5CA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Branch</a:t>
            </a:r>
            <a:endParaRPr lang="en-US" sz="1333" dirty="0"/>
          </a:p>
        </p:txBody>
      </p:sp>
      <p:sp>
        <p:nvSpPr>
          <p:cNvPr id="35" name="header_bar">
            <a:extLst>
              <a:ext uri="{FF2B5EF4-FFF2-40B4-BE49-F238E27FC236}">
                <a16:creationId xmlns:a16="http://schemas.microsoft.com/office/drawing/2014/main" id="{75136F87-C389-D64E-6413-9033F03D9B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20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36" name="accent_stripe">
            <a:extLst>
              <a:ext uri="{FF2B5EF4-FFF2-40B4-BE49-F238E27FC236}">
                <a16:creationId xmlns:a16="http://schemas.microsoft.com/office/drawing/2014/main" id="{23367CD5-6216-5516-591C-183689926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0000" cy="82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37" name="step_badge">
            <a:extLst>
              <a:ext uri="{FF2B5EF4-FFF2-40B4-BE49-F238E27FC236}">
                <a16:creationId xmlns:a16="http://schemas.microsoft.com/office/drawing/2014/main" id="{3140EAA8-4416-0422-A75A-35807C906CD3}"/>
              </a:ext>
            </a:extLst>
          </p:cNvPr>
          <p:cNvSpPr>
            <a:spLocks noGrp="1"/>
          </p:cNvSpPr>
          <p:nvPr/>
        </p:nvSpPr>
        <p:spPr>
          <a:xfrm>
            <a:off x="11492000" y="0"/>
            <a:ext cx="700000" cy="820000"/>
          </a:xfrm>
          <a:prstGeom prst="rect">
            <a:avLst/>
          </a:prstGeom>
          <a:solidFill>
            <a:srgbClr val="E05A1A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cat_badge">
            <a:extLst>
              <a:ext uri="{FF2B5EF4-FFF2-40B4-BE49-F238E27FC236}">
                <a16:creationId xmlns:a16="http://schemas.microsoft.com/office/drawing/2014/main" id="{C7EAB118-4EBE-522B-6528-6E4661D18BA2}"/>
              </a:ext>
            </a:extLst>
          </p:cNvPr>
          <p:cNvSpPr>
            <a:spLocks noGrp="1"/>
          </p:cNvSpPr>
          <p:nvPr/>
        </p:nvSpPr>
        <p:spPr>
          <a:xfrm>
            <a:off x="320000" y="110000"/>
            <a:ext cx="1350000" cy="600000"/>
          </a:xfrm>
          <a:prstGeom prst="roundRect">
            <a:avLst>
              <a:gd name="adj" fmla="val 20000"/>
            </a:avLst>
          </a:prstGeom>
          <a:solidFill>
            <a:srgbClr val="E05A1A">
              <a:alpha val="28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BB88"/>
                </a:solidFill>
              </a:rPr>
              <a:t>기타</a:t>
            </a:r>
          </a:p>
        </p:txBody>
      </p:sp>
      <p:sp>
        <p:nvSpPr>
          <p:cNvPr id="39" name="header_title">
            <a:extLst>
              <a:ext uri="{FF2B5EF4-FFF2-40B4-BE49-F238E27FC236}">
                <a16:creationId xmlns:a16="http://schemas.microsoft.com/office/drawing/2014/main" id="{86E8F070-5B0B-8108-D667-7563BF96BA8A}"/>
              </a:ext>
            </a:extLst>
          </p:cNvPr>
          <p:cNvSpPr txBox="1"/>
          <p:nvPr/>
        </p:nvSpPr>
        <p:spPr>
          <a:xfrm>
            <a:off x="1830000" y="0"/>
            <a:ext cx="9562000" cy="8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</a:rPr>
              <a:t>소스 코드 및 저장소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end_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</p:spPr>
        <p:txBody>
          <a:bodyPr/>
          <a:lstStyle/>
          <a:p>
            <a:endParaRPr lang="ko-KR"/>
          </a:p>
        </p:txBody>
      </p:sp>
      <p:sp>
        <p:nvSpPr>
          <p:cNvPr id="902" name="end_accent"/>
          <p:cNvSpPr>
            <a:spLocks noGrp="1"/>
          </p:cNvSpPr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E05A1A"/>
          </a:solidFill>
        </p:spPr>
        <p:txBody>
          <a:bodyPr/>
          <a:lstStyle/>
          <a:p>
            <a:endParaRPr lang="ko-KR"/>
          </a:p>
        </p:txBody>
      </p:sp>
      <p:sp>
        <p:nvSpPr>
          <p:cNvPr id="903" name="end_title"/>
          <p:cNvSpPr txBox="1"/>
          <p:nvPr/>
        </p:nvSpPr>
        <p:spPr>
          <a:xfrm>
            <a:off x="0" y="2200000"/>
            <a:ext cx="12192000" cy="18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8000" b="1" dirty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904" name="end_sub"/>
          <p:cNvSpPr txBox="1"/>
          <p:nvPr/>
        </p:nvSpPr>
        <p:spPr>
          <a:xfrm>
            <a:off x="0" y="4100000"/>
            <a:ext cx="12192000" cy="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srgbClr val="A8BAC8"/>
                </a:solidFill>
              </a:rPr>
              <a:t>Xylophone Bolt &amp; Engraving Inspection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1131</Words>
  <Application>Microsoft Office PowerPoint</Application>
  <PresentationFormat>와이드스크린</PresentationFormat>
  <Paragraphs>296</Paragraphs>
  <Slides>21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지예 김</dc:creator>
  <cp:lastModifiedBy>지예 김</cp:lastModifiedBy>
  <cp:revision>14</cp:revision>
  <dcterms:created xsi:type="dcterms:W3CDTF">2026-03-10T23:19:42Z</dcterms:created>
  <dcterms:modified xsi:type="dcterms:W3CDTF">2026-03-16T13:55:10Z</dcterms:modified>
</cp:coreProperties>
</file>