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69" r:id="rId3"/>
    <p:sldId id="270" r:id="rId4"/>
    <p:sldId id="271" r:id="rId5"/>
    <p:sldId id="272" r:id="rId6"/>
    <p:sldId id="275" r:id="rId7"/>
    <p:sldId id="273" r:id="rId8"/>
    <p:sldId id="274" r:id="rId9"/>
    <p:sldId id="276" r:id="rId10"/>
    <p:sldId id="277" r:id="rId11"/>
    <p:sldId id="257" r:id="rId12"/>
    <p:sldId id="278" r:id="rId13"/>
    <p:sldId id="258" r:id="rId14"/>
    <p:sldId id="264" r:id="rId15"/>
    <p:sldId id="265" r:id="rId16"/>
    <p:sldId id="260" r:id="rId17"/>
    <p:sldId id="263" r:id="rId18"/>
    <p:sldId id="259" r:id="rId19"/>
    <p:sldId id="262" r:id="rId20"/>
    <p:sldId id="266" r:id="rId21"/>
    <p:sldId id="268" r:id="rId22"/>
    <p:sldId id="261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B2A4A"/>
    <a:srgbClr val="FF3300"/>
    <a:srgbClr val="E05A1A"/>
    <a:srgbClr val="4A9F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0000" autoAdjust="0"/>
  </p:normalViewPr>
  <p:slideViewPr>
    <p:cSldViewPr snapToGrid="0">
      <p:cViewPr varScale="1">
        <p:scale>
          <a:sx n="83" d="100"/>
          <a:sy n="83" d="100"/>
        </p:scale>
        <p:origin x="785" y="7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E73FE-0CFC-4F5D-881E-394882073767}" type="datetimeFigureOut">
              <a:rPr lang="ko-KR" altLang="en-US" smtClean="0"/>
              <a:t>2026-03-11 (Wed)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B1ED34-7657-420E-92A0-622A801254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0185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B1ED34-7657-420E-92A0-622A8012543D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10605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8A434-3AB8-0A80-B7E6-2C7E827D2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EED3D7E-D0A3-D547-2BC3-80B0D7D3F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6531BC-7C92-1490-18B8-46BDCA28BE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AF64F6-BA15-5410-6090-833812F890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B1ED34-7657-420E-92A0-622A8012543D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36843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66408-1E43-EA91-31BF-674C78963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55B207-628F-FF82-3CD9-79B2FE4744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DFB1BE-8770-9320-D79E-BF582DB447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9BFE6A-6AFE-FE4A-2026-DED0D9CB92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B1ED34-7657-420E-92A0-622A8012543D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56493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729DD-9FDB-38B0-6106-3F5FF6161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A2AECE0-FE6E-D309-F5FB-E9C4A70CFE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0F15550-F2CC-34C0-C864-B3E318C153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D01DB0-9EA7-E1CC-71FA-BEB801583B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B1ED34-7657-420E-92A0-622A8012543D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19151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3E24A-EAA0-47BB-492B-6E650B294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AF3586-FEBB-E27D-6166-22B3668D2F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B4EC06F-F9A0-EE73-E132-68B16F585E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621633-1188-40E2-804E-C6471C7145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B1ED34-7657-420E-92A0-622A8012543D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84626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D248A-F7ED-7527-FAD3-CE77976D4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7819F28-08FE-D478-1D4C-206BCD8F5F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789E7F1-43C8-03FF-79A4-858B9C54DA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DF24B-DBDA-BFEB-41ED-086D3F19E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B1ED34-7657-420E-92A0-622A8012543D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61366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4D3DB-1186-A851-167F-3AACD0457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F317A2-3AB4-3AA2-4259-134B4D3469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C89312-32C4-2ECA-325B-CA53DB8CC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0E7E36-D0DB-E7A3-30C6-3DB4FF8A3D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B1ED34-7657-420E-92A0-622A8012543D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42579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C4AE5-C56C-950F-DD26-BE12EF7EA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CBC972F-6DF7-CFE8-8C8D-635F3A7108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DC9D24D-C43A-0510-E610-BD2174C14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CE694A-AC04-B2C9-8802-D1F97144D4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B1ED34-7657-420E-92A0-622A8012543D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58811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B1ED34-7657-420E-92A0-622A8012543D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21995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6147B6-C843-31F8-A88B-34A487EE55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D901BBD-B142-CAFC-FFDD-9E8176DF2E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9630A0-747D-1C37-8296-13A9E1907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739F6-8EE6-45CE-8EE0-E376A00C4C9A}" type="datetimeFigureOut">
              <a:rPr lang="ko-KR" altLang="en-US" smtClean="0"/>
              <a:t>2026-03-11 (Wed)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7DB52B-C4CA-0DD3-EB5E-A9BC055BA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0D1072-CB98-9065-DC5C-B79A1EAC5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CA90E-4576-4BCC-A55C-5A8B6578B9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35875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F2CCC0-2D43-C7D1-A4B8-29E9766D4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BF2EA5-32DA-431F-2A36-3B13F730CD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C73569-3BD6-012D-A49C-56D8D38A0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739F6-8EE6-45CE-8EE0-E376A00C4C9A}" type="datetimeFigureOut">
              <a:rPr lang="ko-KR" altLang="en-US" smtClean="0"/>
              <a:t>2026-03-11 (Wed)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35240E8-43A4-861D-90A6-3EF1B892F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42E629-5D44-A4D7-52E8-6B0ADA985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CA90E-4576-4BCC-A55C-5A8B6578B9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69520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170CDB-D52E-3DA3-7CF1-0B992D7087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607F862-D7D6-FBD0-DFD0-8DE52CA1D7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D9CF35B-B3ED-2BA1-7308-7D6C83F94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739F6-8EE6-45CE-8EE0-E376A00C4C9A}" type="datetimeFigureOut">
              <a:rPr lang="ko-KR" altLang="en-US" smtClean="0"/>
              <a:t>2026-03-11 (Wed)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8D18A7E-9852-0C7A-A277-312877EA9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EAF856-AEE6-73E9-FE59-DD78854D4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CA90E-4576-4BCC-A55C-5A8B6578B9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6841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DF13F7-B184-165B-35EB-0F56B72E1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6EFC65-6DBE-CDC4-7401-10E6FB9951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59B588-CF98-A69C-D8A3-743E05AFE3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3187BD-5F67-A86F-18B4-52D9C124F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739F6-8EE6-45CE-8EE0-E376A00C4C9A}" type="datetimeFigureOut">
              <a:rPr lang="ko-KR" altLang="en-US" smtClean="0"/>
              <a:t>2026-03-11 (Wed)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07FE987-CB25-B03F-EA1B-876AC41C6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20CD892-8C71-C3EF-D8D1-3E3E221B1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CA90E-4576-4BCC-A55C-5A8B6578B9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45776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0137F0-99B9-B37F-D4B8-4A741C981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1EED653-FD38-B5B6-95B3-58256E868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1D51171-62C1-ECE4-7E07-227472DBF1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6DB4944-0C81-5D10-44CA-A88B5698D0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3F966F8-B03B-7012-6979-54A6C0D13C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AE62BD0-C774-DC01-B0AA-74006E062B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739F6-8EE6-45CE-8EE0-E376A00C4C9A}" type="datetimeFigureOut">
              <a:rPr lang="ko-KR" altLang="en-US" smtClean="0"/>
              <a:t>2026-03-11 (Wed)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7147B8C-0A9F-1F65-7B95-33C48DF343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A80FA77-B334-8554-7E8A-05A3FC0E2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CA90E-4576-4BCC-A55C-5A8B6578B9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18890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A58216-EF1E-54F4-6259-264D06361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6F7C06F-6F23-6B26-598A-B3B2B547A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739F6-8EE6-45CE-8EE0-E376A00C4C9A}" type="datetimeFigureOut">
              <a:rPr lang="ko-KR" altLang="en-US" smtClean="0"/>
              <a:t>2026-03-11 (Wed)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05D373B-69D6-F607-313E-13613D2848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C34CC75-A94A-4C45-248B-B33F289A3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CA90E-4576-4BCC-A55C-5A8B6578B9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36012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5A1687D-1A9F-57F4-30F5-C2A6B390D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739F6-8EE6-45CE-8EE0-E376A00C4C9A}" type="datetimeFigureOut">
              <a:rPr lang="ko-KR" altLang="en-US" smtClean="0"/>
              <a:t>2026-03-11 (Wed)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9B9DE78-7882-CE59-BA25-25EC9D192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B4E081-A2A4-EF80-272F-5ABE87D62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CA90E-4576-4BCC-A55C-5A8B6578B9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90706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420344-B7A2-C809-9DF9-A6F942B68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C70E68-A4B7-0937-0947-04B71BA71E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8353587-D8EC-DD47-96A0-D7E6B8EECD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54A1CDA-332D-8EB9-396E-47C0491BD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739F6-8EE6-45CE-8EE0-E376A00C4C9A}" type="datetimeFigureOut">
              <a:rPr lang="ko-KR" altLang="en-US" smtClean="0"/>
              <a:t>2026-03-11 (Wed)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C30767A-41CB-0BEB-5018-2F2F38791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D6AAAD2-9E13-7E2C-1E24-96C76B8CA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CA90E-4576-4BCC-A55C-5A8B6578B9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2669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716B26-12F3-9D39-05C1-F78E0B6C29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61ADF7A-F096-7A15-09C4-63A10429D4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BDF0B9F-B63B-CE97-BFEC-E26B328782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BF710D1-FCF0-8EE5-975F-07319D5D6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739F6-8EE6-45CE-8EE0-E376A00C4C9A}" type="datetimeFigureOut">
              <a:rPr lang="ko-KR" altLang="en-US" smtClean="0"/>
              <a:t>2026-03-11 (Wed)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620B798-E62A-3A95-1378-E51FA4B19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4B2A103-193D-B191-92F1-6A058AF53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CA90E-4576-4BCC-A55C-5A8B6578B9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8717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009846-63D3-A9F8-DDF9-444BED13E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0BE18DD-1711-A824-9FC1-6F72AB2018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70CB86-2AD3-0C5B-91EC-794177A1F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739F6-8EE6-45CE-8EE0-E376A00C4C9A}" type="datetimeFigureOut">
              <a:rPr lang="ko-KR" altLang="en-US" smtClean="0"/>
              <a:t>2026-03-11 (Wed)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D890A0-CD65-43E3-265B-412C93722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A16C05A-5C93-9115-297A-BD9072666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CA90E-4576-4BCC-A55C-5A8B6578B9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116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08F396B-5A85-8A15-57BE-893672ACD1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11E28AA-1085-464F-8998-1733984AA3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8FC555-8A1C-2AFD-489D-0E89557C8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739F6-8EE6-45CE-8EE0-E376A00C4C9A}" type="datetimeFigureOut">
              <a:rPr lang="ko-KR" altLang="en-US" smtClean="0"/>
              <a:t>2026-03-11 (Wed)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71CD9E-1A4A-2526-9EC4-E450F5029E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CF4B76-225D-F47C-8E24-3D108AA9C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CA90E-4576-4BCC-A55C-5A8B6578B9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54183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2089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801DA1-6489-E9DA-A5F9-39285216D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66388A1-511E-6884-E647-DBA56E8CBF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048E78D-AC72-90F9-90C3-07562DA28E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2739F6-8EE6-45CE-8EE0-E376A00C4C9A}" type="datetimeFigureOut">
              <a:rPr lang="ko-KR" altLang="en-US" smtClean="0"/>
              <a:t>2026-03-11 (Wed)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BB0D63-05F2-84CF-6D03-E710B53831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0400EC-D7EB-979E-A7BD-DB14DABA83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2CA90E-4576-4BCC-A55C-5A8B6578B9B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5148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imamugessi/Xylophone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github.com/kimamugessi/JYVIsion" TargetMode="Externa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title_bg_full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 lang="ko-KR"/>
          </a:p>
        </p:txBody>
      </p:sp>
      <p:sp>
        <p:nvSpPr>
          <p:cNvPr id="802" name="accent_left"/>
          <p:cNvSpPr>
            <a:spLocks noGrp="1"/>
          </p:cNvSpPr>
          <p:nvPr/>
        </p:nvSpPr>
        <p:spPr>
          <a:xfrm>
            <a:off x="0" y="0"/>
            <a:ext cx="240000" cy="6858000"/>
          </a:xfrm>
          <a:prstGeom prst="rect">
            <a:avLst/>
          </a:prstGeom>
          <a:solidFill>
            <a:srgbClr val="E05A1A"/>
          </a:solidFill>
        </p:spPr>
        <p:txBody>
          <a:bodyPr/>
          <a:lstStyle/>
          <a:p>
            <a:endParaRPr lang="ko-KR"/>
          </a:p>
        </p:txBody>
      </p:sp>
      <p:sp>
        <p:nvSpPr>
          <p:cNvPr id="803" name="accent_bottom"/>
          <p:cNvSpPr>
            <a:spLocks noGrp="1"/>
          </p:cNvSpPr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E05A1A"/>
          </a:solidFill>
        </p:spPr>
        <p:txBody>
          <a:bodyPr/>
          <a:lstStyle/>
          <a:p>
            <a:endParaRPr lang="ko-KR"/>
          </a:p>
        </p:txBody>
      </p:sp>
      <p:sp>
        <p:nvSpPr>
          <p:cNvPr id="804" name="main_title"/>
          <p:cNvSpPr txBox="1"/>
          <p:nvPr/>
        </p:nvSpPr>
        <p:spPr>
          <a:xfrm>
            <a:off x="600000" y="1800000"/>
            <a:ext cx="10800000" cy="20000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5400" b="1" dirty="0">
                <a:solidFill>
                  <a:srgbClr val="FFFFFF"/>
                </a:solidFill>
              </a:rPr>
              <a:t>실로폰 볼트, 각인 유무 검사기</a:t>
            </a:r>
          </a:p>
        </p:txBody>
      </p:sp>
      <p:sp>
        <p:nvSpPr>
          <p:cNvPr id="806" name="badge"/>
          <p:cNvSpPr txBox="1"/>
          <p:nvPr/>
        </p:nvSpPr>
        <p:spPr>
          <a:xfrm>
            <a:off x="600000" y="3950000"/>
            <a:ext cx="3200000" cy="330000"/>
          </a:xfrm>
          <a:prstGeom prst="rect">
            <a:avLst/>
          </a:prstGeom>
          <a:solidFill>
            <a:srgbClr val="E05A1A"/>
          </a:solidFill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400" b="1" dirty="0">
                <a:solidFill>
                  <a:srgbClr val="FFFFFF"/>
                </a:solidFill>
              </a:rPr>
              <a:t>INSPECTION SYSTEM</a:t>
            </a:r>
          </a:p>
        </p:txBody>
      </p:sp>
      <p:sp>
        <p:nvSpPr>
          <p:cNvPr id="805" name="subtitle"/>
          <p:cNvSpPr txBox="1"/>
          <p:nvPr/>
        </p:nvSpPr>
        <p:spPr>
          <a:xfrm>
            <a:off x="600000" y="4380000"/>
            <a:ext cx="10800000" cy="5000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algn="ctr"/>
            <a:r>
              <a:rPr lang="ko-KR" altLang="en-US" sz="2000" dirty="0">
                <a:solidFill>
                  <a:srgbClr val="A8BAC8"/>
                </a:solidFill>
              </a:rPr>
              <a:t>Xylophone Bolt &amp; Engraving Visual Inspection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D4D7B-CCFC-8D12-7A79-5352B38A3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content_bg">
            <a:extLst>
              <a:ext uri="{FF2B5EF4-FFF2-40B4-BE49-F238E27FC236}">
                <a16:creationId xmlns:a16="http://schemas.microsoft.com/office/drawing/2014/main" id="{1A7DF3F7-FD19-7171-88C5-1FBD20C2A7CA}"/>
              </a:ext>
            </a:extLst>
          </p:cNvPr>
          <p:cNvSpPr>
            <a:spLocks noGrp="1"/>
          </p:cNvSpPr>
          <p:nvPr/>
        </p:nvSpPr>
        <p:spPr>
          <a:xfrm>
            <a:off x="0" y="820000"/>
            <a:ext cx="12192000" cy="6038000"/>
          </a:xfrm>
          <a:prstGeom prst="rect">
            <a:avLst/>
          </a:prstGeom>
          <a:solidFill>
            <a:srgbClr val="EEF1F5"/>
          </a:solidFill>
        </p:spPr>
        <p:txBody>
          <a:bodyPr/>
          <a:lstStyle/>
          <a:p>
            <a:endParaRPr lang="ko-KR"/>
          </a:p>
        </p:txBody>
      </p:sp>
      <p:sp>
        <p:nvSpPr>
          <p:cNvPr id="901" name="header_bar">
            <a:extLst>
              <a:ext uri="{FF2B5EF4-FFF2-40B4-BE49-F238E27FC236}">
                <a16:creationId xmlns:a16="http://schemas.microsoft.com/office/drawing/2014/main" id="{ACE7E5DD-B69E-3D87-E561-8F45BD5FAAE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2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 lang="ko-KR"/>
          </a:p>
        </p:txBody>
      </p:sp>
      <p:sp>
        <p:nvSpPr>
          <p:cNvPr id="902" name="accent_stripe">
            <a:extLst>
              <a:ext uri="{FF2B5EF4-FFF2-40B4-BE49-F238E27FC236}">
                <a16:creationId xmlns:a16="http://schemas.microsoft.com/office/drawing/2014/main" id="{33D156C9-3AA4-68AE-BFDD-77F69B5AA38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0000" cy="820000"/>
          </a:xfrm>
          <a:prstGeom prst="rect">
            <a:avLst/>
          </a:prstGeom>
          <a:solidFill>
            <a:srgbClr val="E05A1A"/>
          </a:solidFill>
        </p:spPr>
        <p:txBody>
          <a:bodyPr/>
          <a:lstStyle/>
          <a:p>
            <a:endParaRPr lang="ko-KR"/>
          </a:p>
        </p:txBody>
      </p:sp>
      <p:sp>
        <p:nvSpPr>
          <p:cNvPr id="904" name="step_badge">
            <a:extLst>
              <a:ext uri="{FF2B5EF4-FFF2-40B4-BE49-F238E27FC236}">
                <a16:creationId xmlns:a16="http://schemas.microsoft.com/office/drawing/2014/main" id="{FB7BAA9C-F7D1-B55B-17BE-EBAA8411DC5E}"/>
              </a:ext>
            </a:extLst>
          </p:cNvPr>
          <p:cNvSpPr>
            <a:spLocks noGrp="1"/>
          </p:cNvSpPr>
          <p:nvPr/>
        </p:nvSpPr>
        <p:spPr>
          <a:xfrm>
            <a:off x="11492000" y="0"/>
            <a:ext cx="700000" cy="820000"/>
          </a:xfrm>
          <a:prstGeom prst="rect">
            <a:avLst/>
          </a:prstGeom>
          <a:solidFill>
            <a:srgbClr val="E05A1A"/>
          </a:solidFill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910" name="cat_badge">
            <a:extLst>
              <a:ext uri="{FF2B5EF4-FFF2-40B4-BE49-F238E27FC236}">
                <a16:creationId xmlns:a16="http://schemas.microsoft.com/office/drawing/2014/main" id="{EFCC09E3-BCF8-0291-8A5D-7273F080770A}"/>
              </a:ext>
            </a:extLst>
          </p:cNvPr>
          <p:cNvSpPr>
            <a:spLocks noGrp="1"/>
          </p:cNvSpPr>
          <p:nvPr/>
        </p:nvSpPr>
        <p:spPr>
          <a:xfrm>
            <a:off x="320000" y="110000"/>
            <a:ext cx="1350000" cy="600000"/>
          </a:xfrm>
          <a:prstGeom prst="roundRect">
            <a:avLst>
              <a:gd name="adj" fmla="val 20000"/>
            </a:avLst>
          </a:prstGeom>
          <a:solidFill>
            <a:srgbClr val="E05A1A">
              <a:alpha val="28000"/>
            </a:srgbClr>
          </a:solidFill>
          <a:ln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400" b="1" dirty="0">
                <a:solidFill>
                  <a:srgbClr val="FFBB88"/>
                </a:solidFill>
              </a:rPr>
              <a:t>개요</a:t>
            </a:r>
          </a:p>
        </p:txBody>
      </p:sp>
      <p:sp>
        <p:nvSpPr>
          <p:cNvPr id="903" name="header_title">
            <a:extLst>
              <a:ext uri="{FF2B5EF4-FFF2-40B4-BE49-F238E27FC236}">
                <a16:creationId xmlns:a16="http://schemas.microsoft.com/office/drawing/2014/main" id="{316431B5-7AC5-7FFB-E296-984F94A61EE9}"/>
              </a:ext>
            </a:extLst>
          </p:cNvPr>
          <p:cNvSpPr txBox="1"/>
          <p:nvPr/>
        </p:nvSpPr>
        <p:spPr>
          <a:xfrm>
            <a:off x="1830000" y="0"/>
            <a:ext cx="9562000" cy="8200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r>
              <a:rPr lang="ko-KR" altLang="en-US" sz="2000" b="1" dirty="0">
                <a:solidFill>
                  <a:srgbClr val="FFFFFF"/>
                </a:solidFill>
              </a:rPr>
              <a:t>프로젝트 개요</a:t>
            </a:r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0FA0B009-9651-5428-AD15-FF6A73F6CE03}"/>
              </a:ext>
            </a:extLst>
          </p:cNvPr>
          <p:cNvGrpSpPr/>
          <p:nvPr/>
        </p:nvGrpSpPr>
        <p:grpSpPr>
          <a:xfrm>
            <a:off x="433190" y="1218050"/>
            <a:ext cx="11325620" cy="5389784"/>
            <a:chOff x="320040" y="1097280"/>
            <a:chExt cx="8549640" cy="3867912"/>
          </a:xfrm>
        </p:grpSpPr>
        <p:sp>
          <p:nvSpPr>
            <p:cNvPr id="40" name="Shape 3">
              <a:extLst>
                <a:ext uri="{FF2B5EF4-FFF2-40B4-BE49-F238E27FC236}">
                  <a16:creationId xmlns:a16="http://schemas.microsoft.com/office/drawing/2014/main" id="{09C1A38E-04CD-B530-6107-A13FF60823FE}"/>
                </a:ext>
              </a:extLst>
            </p:cNvPr>
            <p:cNvSpPr/>
            <p:nvPr/>
          </p:nvSpPr>
          <p:spPr>
            <a:xfrm>
              <a:off x="320040" y="1097280"/>
              <a:ext cx="4114800" cy="15544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0D8EC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" name="Shape 4">
              <a:extLst>
                <a:ext uri="{FF2B5EF4-FFF2-40B4-BE49-F238E27FC236}">
                  <a16:creationId xmlns:a16="http://schemas.microsoft.com/office/drawing/2014/main" id="{8AA5E232-DA9B-7428-06FF-EE5E1390CF4B}"/>
                </a:ext>
              </a:extLst>
            </p:cNvPr>
            <p:cNvSpPr/>
            <p:nvPr/>
          </p:nvSpPr>
          <p:spPr>
            <a:xfrm>
              <a:off x="320040" y="1097280"/>
              <a:ext cx="54864" cy="1554480"/>
            </a:xfrm>
            <a:prstGeom prst="rect">
              <a:avLst/>
            </a:prstGeom>
            <a:solidFill>
              <a:srgbClr val="E05A1A"/>
            </a:solidFill>
            <a:ln w="12700">
              <a:solidFill>
                <a:srgbClr val="E05A1A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2" name="Text 5">
              <a:extLst>
                <a:ext uri="{FF2B5EF4-FFF2-40B4-BE49-F238E27FC236}">
                  <a16:creationId xmlns:a16="http://schemas.microsoft.com/office/drawing/2014/main" id="{B5ACDA61-0ACF-DE7B-1481-747ACAA652EB}"/>
                </a:ext>
              </a:extLst>
            </p:cNvPr>
            <p:cNvSpPr/>
            <p:nvPr/>
          </p:nvSpPr>
          <p:spPr>
            <a:xfrm>
              <a:off x="457200" y="1207008"/>
              <a:ext cx="38404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B2A4A"/>
                  </a:solidFill>
                </a:rPr>
                <a:t>🎹  검사 대상</a:t>
              </a:r>
              <a:endParaRPr lang="en-US" dirty="0"/>
            </a:p>
          </p:txBody>
        </p:sp>
        <p:sp>
          <p:nvSpPr>
            <p:cNvPr id="43" name="Text 6">
              <a:extLst>
                <a:ext uri="{FF2B5EF4-FFF2-40B4-BE49-F238E27FC236}">
                  <a16:creationId xmlns:a16="http://schemas.microsoft.com/office/drawing/2014/main" id="{784D9AFA-CBC0-129F-F0CE-15941D785DB6}"/>
                </a:ext>
              </a:extLst>
            </p:cNvPr>
            <p:cNvSpPr/>
            <p:nvPr/>
          </p:nvSpPr>
          <p:spPr>
            <a:xfrm>
              <a:off x="457200" y="1609344"/>
              <a:ext cx="3840480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30000"/>
                </a:lnSpc>
                <a:buNone/>
              </a:pPr>
              <a:r>
                <a:rPr lang="en-US" sz="1400" dirty="0" err="1">
                  <a:solidFill>
                    <a:srgbClr val="3A4A6B"/>
                  </a:solidFill>
                </a:rPr>
                <a:t>실로폰</a:t>
              </a:r>
              <a:r>
                <a:rPr lang="en-US" sz="1400" dirty="0">
                  <a:solidFill>
                    <a:srgbClr val="3A4A6B"/>
                  </a:solidFill>
                </a:rPr>
                <a:t> 건반 부품</a:t>
              </a:r>
              <a:endParaRPr lang="en-US" dirty="0"/>
            </a:p>
            <a:p>
              <a:pPr marL="0" indent="0">
                <a:lnSpc>
                  <a:spcPct val="130000"/>
                </a:lnSpc>
                <a:buNone/>
              </a:pPr>
              <a:r>
                <a:rPr lang="en-US" sz="1400" dirty="0">
                  <a:solidFill>
                    <a:srgbClr val="3A4A6B"/>
                  </a:solidFill>
                </a:rPr>
                <a:t>볼트 체결 상태 + 각인(Mark) </a:t>
              </a:r>
              <a:r>
                <a:rPr lang="ko-KR" altLang="en-US" sz="1400" dirty="0">
                  <a:solidFill>
                    <a:srgbClr val="3A4A6B"/>
                  </a:solidFill>
                </a:rPr>
                <a:t>유무</a:t>
              </a:r>
              <a:r>
                <a:rPr lang="en-US" sz="1400" dirty="0">
                  <a:solidFill>
                    <a:srgbClr val="3A4A6B"/>
                  </a:solidFill>
                </a:rPr>
                <a:t> 자동 판정</a:t>
              </a:r>
              <a:endParaRPr lang="en-US" dirty="0"/>
            </a:p>
          </p:txBody>
        </p:sp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D00EA473-3C01-16B6-BC8C-9598C77E91AB}"/>
                </a:ext>
              </a:extLst>
            </p:cNvPr>
            <p:cNvSpPr/>
            <p:nvPr/>
          </p:nvSpPr>
          <p:spPr>
            <a:xfrm>
              <a:off x="4754880" y="1097280"/>
              <a:ext cx="4114800" cy="15544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0D8EC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" name="Shape 8">
              <a:extLst>
                <a:ext uri="{FF2B5EF4-FFF2-40B4-BE49-F238E27FC236}">
                  <a16:creationId xmlns:a16="http://schemas.microsoft.com/office/drawing/2014/main" id="{5D837131-F3EB-CEC9-E953-596D533150C2}"/>
                </a:ext>
              </a:extLst>
            </p:cNvPr>
            <p:cNvSpPr/>
            <p:nvPr/>
          </p:nvSpPr>
          <p:spPr>
            <a:xfrm>
              <a:off x="4754880" y="1097280"/>
              <a:ext cx="54864" cy="1554480"/>
            </a:xfrm>
            <a:prstGeom prst="rect">
              <a:avLst/>
            </a:prstGeom>
            <a:solidFill>
              <a:srgbClr val="E05A1A"/>
            </a:solidFill>
            <a:ln w="12700">
              <a:solidFill>
                <a:srgbClr val="E05A1A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" name="Text 9">
              <a:extLst>
                <a:ext uri="{FF2B5EF4-FFF2-40B4-BE49-F238E27FC236}">
                  <a16:creationId xmlns:a16="http://schemas.microsoft.com/office/drawing/2014/main" id="{BE23CE6E-1E98-5FF0-FDC8-1C35AA4E98B5}"/>
                </a:ext>
              </a:extLst>
            </p:cNvPr>
            <p:cNvSpPr/>
            <p:nvPr/>
          </p:nvSpPr>
          <p:spPr>
            <a:xfrm>
              <a:off x="4892040" y="1207008"/>
              <a:ext cx="38404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B2A4A"/>
                  </a:solidFill>
                </a:rPr>
                <a:t>📷  영상 취득</a:t>
              </a:r>
              <a:endParaRPr lang="en-US" dirty="0"/>
            </a:p>
          </p:txBody>
        </p:sp>
        <p:sp>
          <p:nvSpPr>
            <p:cNvPr id="47" name="Text 10">
              <a:extLst>
                <a:ext uri="{FF2B5EF4-FFF2-40B4-BE49-F238E27FC236}">
                  <a16:creationId xmlns:a16="http://schemas.microsoft.com/office/drawing/2014/main" id="{5F76ECB1-99DF-B884-5755-87C6D1C8508B}"/>
                </a:ext>
              </a:extLst>
            </p:cNvPr>
            <p:cNvSpPr/>
            <p:nvPr/>
          </p:nvSpPr>
          <p:spPr>
            <a:xfrm>
              <a:off x="4892040" y="1609344"/>
              <a:ext cx="3840480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30000"/>
                </a:lnSpc>
                <a:buNone/>
              </a:pPr>
              <a:r>
                <a:rPr lang="en-US" sz="1400" dirty="0">
                  <a:solidFill>
                    <a:srgbClr val="3A4A6B"/>
                  </a:solidFill>
                </a:rPr>
                <a:t>실시간 카메라 (WebCam / HikRobot)</a:t>
              </a:r>
              <a:endParaRPr lang="en-US" dirty="0"/>
            </a:p>
            <a:p>
              <a:pPr marL="0" indent="0">
                <a:lnSpc>
                  <a:spcPct val="130000"/>
                </a:lnSpc>
                <a:buNone/>
              </a:pPr>
              <a:r>
                <a:rPr lang="en-US" sz="1400" dirty="0">
                  <a:solidFill>
                    <a:srgbClr val="3A4A6B"/>
                  </a:solidFill>
                </a:rPr>
                <a:t>가상 그랩 (폴더 이미지 시뮬레이션)</a:t>
              </a:r>
              <a:endParaRPr lang="en-US" dirty="0"/>
            </a:p>
          </p:txBody>
        </p:sp>
        <p:sp>
          <p:nvSpPr>
            <p:cNvPr id="48" name="Shape 11">
              <a:extLst>
                <a:ext uri="{FF2B5EF4-FFF2-40B4-BE49-F238E27FC236}">
                  <a16:creationId xmlns:a16="http://schemas.microsoft.com/office/drawing/2014/main" id="{095EBC33-94DF-3ED7-722D-E0EE9401C634}"/>
                </a:ext>
              </a:extLst>
            </p:cNvPr>
            <p:cNvSpPr/>
            <p:nvPr/>
          </p:nvSpPr>
          <p:spPr>
            <a:xfrm>
              <a:off x="320040" y="2880360"/>
              <a:ext cx="4114800" cy="15544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0D8EC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9" name="Shape 12">
              <a:extLst>
                <a:ext uri="{FF2B5EF4-FFF2-40B4-BE49-F238E27FC236}">
                  <a16:creationId xmlns:a16="http://schemas.microsoft.com/office/drawing/2014/main" id="{CB7CB110-7F1A-386D-F8F8-DE0E22F67979}"/>
                </a:ext>
              </a:extLst>
            </p:cNvPr>
            <p:cNvSpPr/>
            <p:nvPr/>
          </p:nvSpPr>
          <p:spPr>
            <a:xfrm>
              <a:off x="320040" y="2880360"/>
              <a:ext cx="54864" cy="1554480"/>
            </a:xfrm>
            <a:prstGeom prst="rect">
              <a:avLst/>
            </a:prstGeom>
            <a:solidFill>
              <a:srgbClr val="E05A1A"/>
            </a:solidFill>
            <a:ln w="12700">
              <a:solidFill>
                <a:srgbClr val="E05A1A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0" name="Text 13">
              <a:extLst>
                <a:ext uri="{FF2B5EF4-FFF2-40B4-BE49-F238E27FC236}">
                  <a16:creationId xmlns:a16="http://schemas.microsoft.com/office/drawing/2014/main" id="{C0F33324-CC22-0C1D-ADAB-475DDCF416D7}"/>
                </a:ext>
              </a:extLst>
            </p:cNvPr>
            <p:cNvSpPr/>
            <p:nvPr/>
          </p:nvSpPr>
          <p:spPr>
            <a:xfrm>
              <a:off x="457200" y="2990088"/>
              <a:ext cx="38404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B2A4A"/>
                  </a:solidFill>
                </a:rPr>
                <a:t>⚙️  핵심 기술</a:t>
              </a:r>
              <a:endParaRPr lang="en-US" dirty="0"/>
            </a:p>
          </p:txBody>
        </p:sp>
        <p:sp>
          <p:nvSpPr>
            <p:cNvPr id="51" name="Text 14">
              <a:extLst>
                <a:ext uri="{FF2B5EF4-FFF2-40B4-BE49-F238E27FC236}">
                  <a16:creationId xmlns:a16="http://schemas.microsoft.com/office/drawing/2014/main" id="{BE656C4A-6801-CB26-84E3-BAE77F4480FB}"/>
                </a:ext>
              </a:extLst>
            </p:cNvPr>
            <p:cNvSpPr/>
            <p:nvPr/>
          </p:nvSpPr>
          <p:spPr>
            <a:xfrm>
              <a:off x="457200" y="3392424"/>
              <a:ext cx="3840480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30000"/>
                </a:lnSpc>
                <a:buNone/>
              </a:pPr>
              <a:r>
                <a:rPr lang="en-US" sz="1400" dirty="0">
                  <a:solidFill>
                    <a:srgbClr val="3A4A6B"/>
                  </a:solidFill>
                </a:rPr>
                <a:t>OpenCvSharp 기반 Computer Vision</a:t>
              </a:r>
              <a:endParaRPr lang="en-US" dirty="0"/>
            </a:p>
            <a:p>
              <a:pPr marL="0" indent="0">
                <a:lnSpc>
                  <a:spcPct val="130000"/>
                </a:lnSpc>
                <a:buNone/>
              </a:pPr>
              <a:r>
                <a:rPr lang="en-US" sz="1400" dirty="0">
                  <a:solidFill>
                    <a:srgbClr val="3A4A6B"/>
                  </a:solidFill>
                </a:rPr>
                <a:t>C# 멀티스레딩 / BlockingCollection 큐</a:t>
              </a:r>
              <a:endParaRPr lang="en-US" dirty="0"/>
            </a:p>
          </p:txBody>
        </p:sp>
        <p:sp>
          <p:nvSpPr>
            <p:cNvPr id="52" name="Shape 15">
              <a:extLst>
                <a:ext uri="{FF2B5EF4-FFF2-40B4-BE49-F238E27FC236}">
                  <a16:creationId xmlns:a16="http://schemas.microsoft.com/office/drawing/2014/main" id="{9EFC4709-BFB2-83E8-0FF8-81B2B762BCA4}"/>
                </a:ext>
              </a:extLst>
            </p:cNvPr>
            <p:cNvSpPr/>
            <p:nvPr/>
          </p:nvSpPr>
          <p:spPr>
            <a:xfrm>
              <a:off x="4754880" y="2880360"/>
              <a:ext cx="4114800" cy="15544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0D8EC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3" name="Shape 16">
              <a:extLst>
                <a:ext uri="{FF2B5EF4-FFF2-40B4-BE49-F238E27FC236}">
                  <a16:creationId xmlns:a16="http://schemas.microsoft.com/office/drawing/2014/main" id="{1330D2DE-A835-BE3E-FCE4-58725E252641}"/>
                </a:ext>
              </a:extLst>
            </p:cNvPr>
            <p:cNvSpPr/>
            <p:nvPr/>
          </p:nvSpPr>
          <p:spPr>
            <a:xfrm>
              <a:off x="4754880" y="2880360"/>
              <a:ext cx="54864" cy="1554480"/>
            </a:xfrm>
            <a:prstGeom prst="rect">
              <a:avLst/>
            </a:prstGeom>
            <a:solidFill>
              <a:srgbClr val="E05A1A"/>
            </a:solidFill>
            <a:ln w="12700">
              <a:solidFill>
                <a:srgbClr val="E05A1A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4" name="Text 17">
              <a:extLst>
                <a:ext uri="{FF2B5EF4-FFF2-40B4-BE49-F238E27FC236}">
                  <a16:creationId xmlns:a16="http://schemas.microsoft.com/office/drawing/2014/main" id="{B8D550C7-B4B4-7E53-C940-4A59D4AA936A}"/>
                </a:ext>
              </a:extLst>
            </p:cNvPr>
            <p:cNvSpPr/>
            <p:nvPr/>
          </p:nvSpPr>
          <p:spPr>
            <a:xfrm>
              <a:off x="4892040" y="2990088"/>
              <a:ext cx="38404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B2A4A"/>
                  </a:solidFill>
                </a:rPr>
                <a:t>💾  결과 처리</a:t>
              </a:r>
              <a:endParaRPr lang="en-US" dirty="0"/>
            </a:p>
          </p:txBody>
        </p:sp>
        <p:sp>
          <p:nvSpPr>
            <p:cNvPr id="55" name="Text 18">
              <a:extLst>
                <a:ext uri="{FF2B5EF4-FFF2-40B4-BE49-F238E27FC236}">
                  <a16:creationId xmlns:a16="http://schemas.microsoft.com/office/drawing/2014/main" id="{895672BA-A5D5-80D0-5CD6-952B30CD7EDE}"/>
                </a:ext>
              </a:extLst>
            </p:cNvPr>
            <p:cNvSpPr/>
            <p:nvPr/>
          </p:nvSpPr>
          <p:spPr>
            <a:xfrm>
              <a:off x="4892040" y="3392424"/>
              <a:ext cx="3840480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30000"/>
                </a:lnSpc>
                <a:buNone/>
              </a:pPr>
              <a:r>
                <a:rPr lang="en-US" sz="1400" dirty="0">
                  <a:solidFill>
                    <a:srgbClr val="3A4A6B"/>
                  </a:solidFill>
                </a:rPr>
                <a:t>OK / NG-BOLT / NG-MARK 폴더 자동 분류</a:t>
              </a:r>
              <a:endParaRPr lang="en-US" dirty="0"/>
            </a:p>
            <a:p>
              <a:pPr marL="0" indent="0">
                <a:lnSpc>
                  <a:spcPct val="130000"/>
                </a:lnSpc>
                <a:buNone/>
              </a:pPr>
              <a:r>
                <a:rPr lang="en-US" sz="1400" dirty="0">
                  <a:solidFill>
                    <a:srgbClr val="3A4A6B"/>
                  </a:solidFill>
                </a:rPr>
                <a:t>비동기 이미지 저장 (별도 전용 </a:t>
              </a:r>
              <a:r>
                <a:rPr lang="en-US" sz="1400" dirty="0" err="1">
                  <a:solidFill>
                    <a:srgbClr val="3A4A6B"/>
                  </a:solidFill>
                </a:rPr>
                <a:t>스레드</a:t>
              </a:r>
              <a:r>
                <a:rPr lang="en-US" sz="1400" dirty="0">
                  <a:solidFill>
                    <a:srgbClr val="3A4A6B"/>
                  </a:solidFill>
                </a:rPr>
                <a:t>)</a:t>
              </a:r>
            </a:p>
            <a:p>
              <a:pPr marL="0" indent="0">
                <a:lnSpc>
                  <a:spcPct val="130000"/>
                </a:lnSpc>
                <a:buNone/>
              </a:pPr>
              <a:r>
                <a:rPr lang="en-US" sz="1400" dirty="0" err="1">
                  <a:solidFill>
                    <a:srgbClr val="3A4A6B"/>
                  </a:solidFill>
                </a:rPr>
                <a:t>Log.cvs</a:t>
              </a:r>
              <a:r>
                <a:rPr lang="ko-KR" altLang="en-US" sz="1400" dirty="0">
                  <a:solidFill>
                    <a:srgbClr val="3A4A6B"/>
                  </a:solidFill>
                </a:rPr>
                <a:t> 파일 생성</a:t>
              </a:r>
              <a:endParaRPr lang="en-US" dirty="0"/>
            </a:p>
          </p:txBody>
        </p:sp>
        <p:sp>
          <p:nvSpPr>
            <p:cNvPr id="56" name="Shape 19">
              <a:extLst>
                <a:ext uri="{FF2B5EF4-FFF2-40B4-BE49-F238E27FC236}">
                  <a16:creationId xmlns:a16="http://schemas.microsoft.com/office/drawing/2014/main" id="{B70D33B1-5E52-36FE-EEA4-95CE9D5DDF69}"/>
                </a:ext>
              </a:extLst>
            </p:cNvPr>
            <p:cNvSpPr/>
            <p:nvPr/>
          </p:nvSpPr>
          <p:spPr>
            <a:xfrm>
              <a:off x="320040" y="4617720"/>
              <a:ext cx="8503920" cy="347472"/>
            </a:xfrm>
            <a:prstGeom prst="rect">
              <a:avLst/>
            </a:prstGeom>
            <a:solidFill>
              <a:srgbClr val="1B2A4A"/>
            </a:solidFill>
            <a:ln w="12700">
              <a:solidFill>
                <a:srgbClr val="1B2A4A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 sz="1400" dirty="0"/>
            </a:p>
          </p:txBody>
        </p:sp>
        <p:sp>
          <p:nvSpPr>
            <p:cNvPr id="57" name="Text 20">
              <a:extLst>
                <a:ext uri="{FF2B5EF4-FFF2-40B4-BE49-F238E27FC236}">
                  <a16:creationId xmlns:a16="http://schemas.microsoft.com/office/drawing/2014/main" id="{547CD1AB-C3F3-2C5B-5B27-268CF7F51C37}"/>
                </a:ext>
              </a:extLst>
            </p:cNvPr>
            <p:cNvSpPr/>
            <p:nvPr/>
          </p:nvSpPr>
          <p:spPr>
            <a:xfrm>
              <a:off x="411480" y="4645152"/>
              <a:ext cx="8321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FFFFFF"/>
                  </a:solidFill>
                </a:rPr>
                <a:t>목표: 제조 라인의 건반 외관 결함을 실시간으로 자동 감지하여 품질 불량률 제로화</a:t>
              </a:r>
              <a:endParaRPr 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3695342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D069E-0A57-E8BF-C863-0BD717A6C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content_bg">
            <a:extLst>
              <a:ext uri="{FF2B5EF4-FFF2-40B4-BE49-F238E27FC236}">
                <a16:creationId xmlns:a16="http://schemas.microsoft.com/office/drawing/2014/main" id="{C47F066F-45EB-AA96-BAAF-7CC4C41FBF1B}"/>
              </a:ext>
            </a:extLst>
          </p:cNvPr>
          <p:cNvSpPr>
            <a:spLocks noGrp="1"/>
          </p:cNvSpPr>
          <p:nvPr/>
        </p:nvSpPr>
        <p:spPr>
          <a:xfrm>
            <a:off x="0" y="820000"/>
            <a:ext cx="12192000" cy="6038000"/>
          </a:xfrm>
          <a:prstGeom prst="rect">
            <a:avLst/>
          </a:prstGeom>
          <a:solidFill>
            <a:srgbClr val="EEF1F5"/>
          </a:solidFill>
        </p:spPr>
        <p:txBody>
          <a:bodyPr/>
          <a:lstStyle/>
          <a:p>
            <a:endParaRPr lang="ko-KR"/>
          </a:p>
        </p:txBody>
      </p:sp>
      <p:sp>
        <p:nvSpPr>
          <p:cNvPr id="901" name="header_bar">
            <a:extLst>
              <a:ext uri="{FF2B5EF4-FFF2-40B4-BE49-F238E27FC236}">
                <a16:creationId xmlns:a16="http://schemas.microsoft.com/office/drawing/2014/main" id="{C0E5D7CE-1344-88CB-911E-795DEF48237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2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 lang="ko-KR"/>
          </a:p>
        </p:txBody>
      </p:sp>
      <p:sp>
        <p:nvSpPr>
          <p:cNvPr id="902" name="accent_stripe">
            <a:extLst>
              <a:ext uri="{FF2B5EF4-FFF2-40B4-BE49-F238E27FC236}">
                <a16:creationId xmlns:a16="http://schemas.microsoft.com/office/drawing/2014/main" id="{99552765-BAF2-EBBC-9419-9A2C29B0BBA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0000" cy="820000"/>
          </a:xfrm>
          <a:prstGeom prst="rect">
            <a:avLst/>
          </a:prstGeom>
          <a:solidFill>
            <a:srgbClr val="E05A1A"/>
          </a:solidFill>
        </p:spPr>
        <p:txBody>
          <a:bodyPr/>
          <a:lstStyle/>
          <a:p>
            <a:endParaRPr lang="ko-KR"/>
          </a:p>
        </p:txBody>
      </p:sp>
      <p:sp>
        <p:nvSpPr>
          <p:cNvPr id="904" name="step_badge">
            <a:extLst>
              <a:ext uri="{FF2B5EF4-FFF2-40B4-BE49-F238E27FC236}">
                <a16:creationId xmlns:a16="http://schemas.microsoft.com/office/drawing/2014/main" id="{812A308A-DB83-903B-9985-332823382069}"/>
              </a:ext>
            </a:extLst>
          </p:cNvPr>
          <p:cNvSpPr>
            <a:spLocks noGrp="1"/>
          </p:cNvSpPr>
          <p:nvPr/>
        </p:nvSpPr>
        <p:spPr>
          <a:xfrm>
            <a:off x="11492000" y="0"/>
            <a:ext cx="700000" cy="820000"/>
          </a:xfrm>
          <a:prstGeom prst="rect">
            <a:avLst/>
          </a:prstGeom>
          <a:solidFill>
            <a:srgbClr val="E05A1A"/>
          </a:solidFill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910" name="cat_badge">
            <a:extLst>
              <a:ext uri="{FF2B5EF4-FFF2-40B4-BE49-F238E27FC236}">
                <a16:creationId xmlns:a16="http://schemas.microsoft.com/office/drawing/2014/main" id="{9597F83C-6B04-A360-97DC-3DA12158052E}"/>
              </a:ext>
            </a:extLst>
          </p:cNvPr>
          <p:cNvSpPr>
            <a:spLocks noGrp="1"/>
          </p:cNvSpPr>
          <p:nvPr/>
        </p:nvSpPr>
        <p:spPr>
          <a:xfrm>
            <a:off x="320000" y="110000"/>
            <a:ext cx="1350000" cy="600000"/>
          </a:xfrm>
          <a:prstGeom prst="roundRect">
            <a:avLst>
              <a:gd name="adj" fmla="val 20000"/>
            </a:avLst>
          </a:prstGeom>
          <a:solidFill>
            <a:srgbClr val="E05A1A">
              <a:alpha val="28000"/>
            </a:srgbClr>
          </a:solidFill>
          <a:ln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400" b="1" dirty="0">
                <a:solidFill>
                  <a:srgbClr val="FFBB88"/>
                </a:solidFill>
              </a:rPr>
              <a:t>목표</a:t>
            </a:r>
          </a:p>
        </p:txBody>
      </p:sp>
      <p:sp>
        <p:nvSpPr>
          <p:cNvPr id="903" name="header_title">
            <a:extLst>
              <a:ext uri="{FF2B5EF4-FFF2-40B4-BE49-F238E27FC236}">
                <a16:creationId xmlns:a16="http://schemas.microsoft.com/office/drawing/2014/main" id="{AC56D0B8-8B18-634A-909D-CB93DD9C58E8}"/>
              </a:ext>
            </a:extLst>
          </p:cNvPr>
          <p:cNvSpPr txBox="1"/>
          <p:nvPr/>
        </p:nvSpPr>
        <p:spPr>
          <a:xfrm>
            <a:off x="1830000" y="0"/>
            <a:ext cx="9562000" cy="8200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r>
              <a:rPr lang="ko-KR" altLang="en-US" sz="2000" b="1" dirty="0">
                <a:solidFill>
                  <a:srgbClr val="FFFFFF"/>
                </a:solidFill>
              </a:rPr>
              <a:t>시스템 목표</a:t>
            </a: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FEFC5715-19DD-B872-D091-33FB0AD52C15}"/>
              </a:ext>
            </a:extLst>
          </p:cNvPr>
          <p:cNvGrpSpPr/>
          <p:nvPr/>
        </p:nvGrpSpPr>
        <p:grpSpPr>
          <a:xfrm>
            <a:off x="703317" y="1876046"/>
            <a:ext cx="10788683" cy="3925908"/>
            <a:chOff x="1418540" y="2112092"/>
            <a:chExt cx="8503920" cy="2871216"/>
          </a:xfrm>
        </p:grpSpPr>
        <p:sp>
          <p:nvSpPr>
            <p:cNvPr id="3" name="Shape 3">
              <a:extLst>
                <a:ext uri="{FF2B5EF4-FFF2-40B4-BE49-F238E27FC236}">
                  <a16:creationId xmlns:a16="http://schemas.microsoft.com/office/drawing/2014/main" id="{ACF0D90D-5D52-1E6B-9495-4F6BFFC8996E}"/>
                </a:ext>
              </a:extLst>
            </p:cNvPr>
            <p:cNvSpPr/>
            <p:nvPr/>
          </p:nvSpPr>
          <p:spPr>
            <a:xfrm>
              <a:off x="1418540" y="2121236"/>
              <a:ext cx="502920" cy="502920"/>
            </a:xfrm>
            <a:prstGeom prst="ellipse">
              <a:avLst/>
            </a:prstGeom>
            <a:solidFill>
              <a:srgbClr val="1B2A4A"/>
            </a:solidFill>
            <a:ln w="12700">
              <a:solidFill>
                <a:srgbClr val="1B2A4A"/>
              </a:solidFill>
              <a:prstDash val="solid"/>
            </a:ln>
          </p:spPr>
          <p:txBody>
            <a:bodyPr/>
            <a:lstStyle/>
            <a:p>
              <a:endParaRPr lang="ko-KR" altLang="en-US">
                <a:solidFill>
                  <a:schemeClr val="bg1"/>
                </a:solidFill>
              </a:endParaRPr>
            </a:p>
          </p:txBody>
        </p:sp>
        <p:sp>
          <p:nvSpPr>
            <p:cNvPr id="5" name="Text 4">
              <a:extLst>
                <a:ext uri="{FF2B5EF4-FFF2-40B4-BE49-F238E27FC236}">
                  <a16:creationId xmlns:a16="http://schemas.microsoft.com/office/drawing/2014/main" id="{7D7E0582-67F4-0002-4A89-4709AC50AEB3}"/>
                </a:ext>
              </a:extLst>
            </p:cNvPr>
            <p:cNvSpPr/>
            <p:nvPr/>
          </p:nvSpPr>
          <p:spPr>
            <a:xfrm>
              <a:off x="1418540" y="2121236"/>
              <a:ext cx="50292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chemeClr val="bg1"/>
                  </a:solidFill>
                </a:rPr>
                <a:t>01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6" name="Text 5">
              <a:extLst>
                <a:ext uri="{FF2B5EF4-FFF2-40B4-BE49-F238E27FC236}">
                  <a16:creationId xmlns:a16="http://schemas.microsoft.com/office/drawing/2014/main" id="{CB60ECE2-CF6B-C416-8584-F0EBBE33F459}"/>
                </a:ext>
              </a:extLst>
            </p:cNvPr>
            <p:cNvSpPr/>
            <p:nvPr/>
          </p:nvSpPr>
          <p:spPr>
            <a:xfrm>
              <a:off x="2058620" y="2112092"/>
              <a:ext cx="2560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chemeClr val="tx2"/>
                  </a:solidFill>
                </a:rPr>
                <a:t>완전 자동화 검사</a:t>
              </a:r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7" name="Text 6">
              <a:extLst>
                <a:ext uri="{FF2B5EF4-FFF2-40B4-BE49-F238E27FC236}">
                  <a16:creationId xmlns:a16="http://schemas.microsoft.com/office/drawing/2014/main" id="{12DF6897-B755-B8E8-89C0-2E8D9F46F96A}"/>
                </a:ext>
              </a:extLst>
            </p:cNvPr>
            <p:cNvSpPr/>
            <p:nvPr/>
          </p:nvSpPr>
          <p:spPr>
            <a:xfrm>
              <a:off x="2058620" y="2386412"/>
              <a:ext cx="77724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chemeClr val="tx2"/>
                  </a:solidFill>
                </a:rPr>
                <a:t>작업자 없이 카메라 트리거 → 검사 → 결과 저장까지 무인 자동 처리</a:t>
              </a:r>
            </a:p>
          </p:txBody>
        </p:sp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9CE20627-0E3D-29B1-0F4C-41C7BAF3D735}"/>
                </a:ext>
              </a:extLst>
            </p:cNvPr>
            <p:cNvSpPr/>
            <p:nvPr/>
          </p:nvSpPr>
          <p:spPr>
            <a:xfrm>
              <a:off x="1418540" y="2669876"/>
              <a:ext cx="8503920" cy="0"/>
            </a:xfrm>
            <a:prstGeom prst="line">
              <a:avLst/>
            </a:prstGeom>
            <a:noFill/>
            <a:ln w="6350">
              <a:solidFill>
                <a:srgbClr val="243352"/>
              </a:solidFill>
              <a:prstDash val="solid"/>
            </a:ln>
          </p:spPr>
          <p:txBody>
            <a:bodyPr/>
            <a:lstStyle/>
            <a:p>
              <a:endParaRPr lang="ko-KR" altLang="en-US">
                <a:solidFill>
                  <a:schemeClr val="tx2"/>
                </a:solidFill>
              </a:endParaRPr>
            </a:p>
          </p:txBody>
        </p:sp>
        <p:sp>
          <p:nvSpPr>
            <p:cNvPr id="10" name="Shape 8">
              <a:extLst>
                <a:ext uri="{FF2B5EF4-FFF2-40B4-BE49-F238E27FC236}">
                  <a16:creationId xmlns:a16="http://schemas.microsoft.com/office/drawing/2014/main" id="{88F09C53-9C0E-1B88-2628-C33839D89EAD}"/>
                </a:ext>
              </a:extLst>
            </p:cNvPr>
            <p:cNvSpPr/>
            <p:nvPr/>
          </p:nvSpPr>
          <p:spPr>
            <a:xfrm>
              <a:off x="1418540" y="2880188"/>
              <a:ext cx="502920" cy="502920"/>
            </a:xfrm>
            <a:prstGeom prst="ellipse">
              <a:avLst/>
            </a:prstGeom>
            <a:solidFill>
              <a:srgbClr val="1B2A4A"/>
            </a:solidFill>
            <a:ln w="12700">
              <a:solidFill>
                <a:srgbClr val="1B2A4A"/>
              </a:solidFill>
              <a:prstDash val="solid"/>
            </a:ln>
          </p:spPr>
          <p:txBody>
            <a:bodyPr/>
            <a:lstStyle/>
            <a:p>
              <a:endParaRPr lang="ko-KR" altLang="en-US">
                <a:solidFill>
                  <a:schemeClr val="tx2"/>
                </a:solidFill>
              </a:endParaRPr>
            </a:p>
          </p:txBody>
        </p:sp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E8CDEAD4-BC50-3017-FC38-62CB71B2F447}"/>
                </a:ext>
              </a:extLst>
            </p:cNvPr>
            <p:cNvSpPr/>
            <p:nvPr/>
          </p:nvSpPr>
          <p:spPr>
            <a:xfrm>
              <a:off x="1418540" y="2880188"/>
              <a:ext cx="50292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chemeClr val="bg1"/>
                  </a:solidFill>
                </a:rPr>
                <a:t>02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12ECEF8A-73AA-6023-CC3B-01037866F3FD}"/>
                </a:ext>
              </a:extLst>
            </p:cNvPr>
            <p:cNvSpPr/>
            <p:nvPr/>
          </p:nvSpPr>
          <p:spPr>
            <a:xfrm>
              <a:off x="2058620" y="2871044"/>
              <a:ext cx="2560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chemeClr val="tx2"/>
                  </a:solidFill>
                </a:rPr>
                <a:t>실시간 불량 판정</a:t>
              </a:r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0ADF1770-44C0-2310-0DE6-05C280766E7F}"/>
                </a:ext>
              </a:extLst>
            </p:cNvPr>
            <p:cNvSpPr/>
            <p:nvPr/>
          </p:nvSpPr>
          <p:spPr>
            <a:xfrm>
              <a:off x="2058620" y="3145364"/>
              <a:ext cx="77724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chemeClr val="tx2"/>
                  </a:solidFill>
                </a:rPr>
                <a:t>건반 1개당 볼트(상/하) 2개 + 각인 1개를 프레임 내 동시 판정</a:t>
              </a:r>
            </a:p>
          </p:txBody>
        </p:sp>
        <p:sp>
          <p:nvSpPr>
            <p:cNvPr id="14" name="Shape 12">
              <a:extLst>
                <a:ext uri="{FF2B5EF4-FFF2-40B4-BE49-F238E27FC236}">
                  <a16:creationId xmlns:a16="http://schemas.microsoft.com/office/drawing/2014/main" id="{1080A04F-086F-84E0-209E-6E3F42F0713E}"/>
                </a:ext>
              </a:extLst>
            </p:cNvPr>
            <p:cNvSpPr/>
            <p:nvPr/>
          </p:nvSpPr>
          <p:spPr>
            <a:xfrm>
              <a:off x="1418540" y="3428828"/>
              <a:ext cx="8503920" cy="0"/>
            </a:xfrm>
            <a:prstGeom prst="line">
              <a:avLst/>
            </a:prstGeom>
            <a:noFill/>
            <a:ln w="6350">
              <a:solidFill>
                <a:srgbClr val="243352"/>
              </a:solidFill>
              <a:prstDash val="solid"/>
            </a:ln>
          </p:spPr>
          <p:txBody>
            <a:bodyPr/>
            <a:lstStyle/>
            <a:p>
              <a:endParaRPr lang="ko-KR" altLang="en-US">
                <a:solidFill>
                  <a:schemeClr val="tx2"/>
                </a:solidFill>
              </a:endParaRPr>
            </a:p>
          </p:txBody>
        </p:sp>
        <p:sp>
          <p:nvSpPr>
            <p:cNvPr id="15" name="Shape 13">
              <a:extLst>
                <a:ext uri="{FF2B5EF4-FFF2-40B4-BE49-F238E27FC236}">
                  <a16:creationId xmlns:a16="http://schemas.microsoft.com/office/drawing/2014/main" id="{4007A9F0-8E4D-348F-4709-24C65FB113BE}"/>
                </a:ext>
              </a:extLst>
            </p:cNvPr>
            <p:cNvSpPr/>
            <p:nvPr/>
          </p:nvSpPr>
          <p:spPr>
            <a:xfrm>
              <a:off x="1418540" y="3639140"/>
              <a:ext cx="502920" cy="502920"/>
            </a:xfrm>
            <a:prstGeom prst="ellipse">
              <a:avLst/>
            </a:prstGeom>
            <a:solidFill>
              <a:srgbClr val="1B2A4A"/>
            </a:solidFill>
            <a:ln w="12700">
              <a:solidFill>
                <a:srgbClr val="1B2A4A"/>
              </a:solidFill>
              <a:prstDash val="solid"/>
            </a:ln>
          </p:spPr>
          <p:txBody>
            <a:bodyPr/>
            <a:lstStyle/>
            <a:p>
              <a:endParaRPr lang="ko-KR" altLang="en-US">
                <a:solidFill>
                  <a:schemeClr val="tx2"/>
                </a:solidFill>
              </a:endParaRPr>
            </a:p>
          </p:txBody>
        </p:sp>
        <p:sp>
          <p:nvSpPr>
            <p:cNvPr id="16" name="Text 14">
              <a:extLst>
                <a:ext uri="{FF2B5EF4-FFF2-40B4-BE49-F238E27FC236}">
                  <a16:creationId xmlns:a16="http://schemas.microsoft.com/office/drawing/2014/main" id="{F373FF69-632F-C4F6-B049-52097FBC2D5E}"/>
                </a:ext>
              </a:extLst>
            </p:cNvPr>
            <p:cNvSpPr/>
            <p:nvPr/>
          </p:nvSpPr>
          <p:spPr>
            <a:xfrm>
              <a:off x="1418540" y="3639140"/>
              <a:ext cx="50292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chemeClr val="bg1"/>
                  </a:solidFill>
                </a:rPr>
                <a:t>03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17" name="Text 15">
              <a:extLst>
                <a:ext uri="{FF2B5EF4-FFF2-40B4-BE49-F238E27FC236}">
                  <a16:creationId xmlns:a16="http://schemas.microsoft.com/office/drawing/2014/main" id="{B85A7EB5-BCDE-7ECA-BFA1-6CB4C8BE9979}"/>
                </a:ext>
              </a:extLst>
            </p:cNvPr>
            <p:cNvSpPr/>
            <p:nvPr/>
          </p:nvSpPr>
          <p:spPr>
            <a:xfrm>
              <a:off x="2058620" y="3629996"/>
              <a:ext cx="2560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chemeClr val="tx2"/>
                  </a:solidFill>
                </a:rPr>
                <a:t>고속 병렬 처리</a:t>
              </a:r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8" name="Text 16">
              <a:extLst>
                <a:ext uri="{FF2B5EF4-FFF2-40B4-BE49-F238E27FC236}">
                  <a16:creationId xmlns:a16="http://schemas.microsoft.com/office/drawing/2014/main" id="{F90921ED-E32B-B503-EBF2-BECD04A5F6CB}"/>
                </a:ext>
              </a:extLst>
            </p:cNvPr>
            <p:cNvSpPr/>
            <p:nvPr/>
          </p:nvSpPr>
          <p:spPr>
            <a:xfrm>
              <a:off x="2058620" y="3904316"/>
              <a:ext cx="77724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chemeClr val="tx2"/>
                  </a:solidFill>
                </a:rPr>
                <a:t>Parallel.For로 다수 건반 ROI를 동시 탐색, 검사 처리량 극대화</a:t>
              </a:r>
            </a:p>
          </p:txBody>
        </p:sp>
        <p:sp>
          <p:nvSpPr>
            <p:cNvPr id="19" name="Shape 17">
              <a:extLst>
                <a:ext uri="{FF2B5EF4-FFF2-40B4-BE49-F238E27FC236}">
                  <a16:creationId xmlns:a16="http://schemas.microsoft.com/office/drawing/2014/main" id="{721CDD45-0B31-4192-C16A-4A47272E312D}"/>
                </a:ext>
              </a:extLst>
            </p:cNvPr>
            <p:cNvSpPr/>
            <p:nvPr/>
          </p:nvSpPr>
          <p:spPr>
            <a:xfrm>
              <a:off x="1418540" y="4187780"/>
              <a:ext cx="8503920" cy="0"/>
            </a:xfrm>
            <a:prstGeom prst="line">
              <a:avLst/>
            </a:prstGeom>
            <a:noFill/>
            <a:ln w="6350">
              <a:solidFill>
                <a:srgbClr val="243352"/>
              </a:solidFill>
              <a:prstDash val="solid"/>
            </a:ln>
          </p:spPr>
          <p:txBody>
            <a:bodyPr/>
            <a:lstStyle/>
            <a:p>
              <a:endParaRPr lang="ko-KR" altLang="en-US">
                <a:solidFill>
                  <a:schemeClr val="tx2"/>
                </a:solidFill>
              </a:endParaRPr>
            </a:p>
          </p:txBody>
        </p:sp>
        <p:sp>
          <p:nvSpPr>
            <p:cNvPr id="20" name="Shape 18">
              <a:extLst>
                <a:ext uri="{FF2B5EF4-FFF2-40B4-BE49-F238E27FC236}">
                  <a16:creationId xmlns:a16="http://schemas.microsoft.com/office/drawing/2014/main" id="{2F4D77C2-6AE2-B7F2-096E-B700F93082C8}"/>
                </a:ext>
              </a:extLst>
            </p:cNvPr>
            <p:cNvSpPr/>
            <p:nvPr/>
          </p:nvSpPr>
          <p:spPr>
            <a:xfrm>
              <a:off x="1418540" y="4398092"/>
              <a:ext cx="502920" cy="502920"/>
            </a:xfrm>
            <a:prstGeom prst="ellipse">
              <a:avLst/>
            </a:prstGeom>
            <a:solidFill>
              <a:srgbClr val="1B2A4A"/>
            </a:solidFill>
            <a:ln w="12700">
              <a:solidFill>
                <a:srgbClr val="1B2A4A"/>
              </a:solidFill>
              <a:prstDash val="solid"/>
            </a:ln>
          </p:spPr>
          <p:txBody>
            <a:bodyPr/>
            <a:lstStyle/>
            <a:p>
              <a:endParaRPr lang="ko-KR" altLang="en-US">
                <a:solidFill>
                  <a:schemeClr val="bg1"/>
                </a:solidFill>
              </a:endParaRPr>
            </a:p>
          </p:txBody>
        </p:sp>
        <p:sp>
          <p:nvSpPr>
            <p:cNvPr id="21" name="Text 19">
              <a:extLst>
                <a:ext uri="{FF2B5EF4-FFF2-40B4-BE49-F238E27FC236}">
                  <a16:creationId xmlns:a16="http://schemas.microsoft.com/office/drawing/2014/main" id="{4C76A1E3-E310-80A8-DACA-B1082C88653C}"/>
                </a:ext>
              </a:extLst>
            </p:cNvPr>
            <p:cNvSpPr/>
            <p:nvPr/>
          </p:nvSpPr>
          <p:spPr>
            <a:xfrm>
              <a:off x="1418540" y="4398092"/>
              <a:ext cx="50292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chemeClr val="bg1"/>
                  </a:solidFill>
                </a:rPr>
                <a:t>04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22" name="Text 20">
              <a:extLst>
                <a:ext uri="{FF2B5EF4-FFF2-40B4-BE49-F238E27FC236}">
                  <a16:creationId xmlns:a16="http://schemas.microsoft.com/office/drawing/2014/main" id="{6FBD6DE7-21A6-66F4-2847-AB23981A4B27}"/>
                </a:ext>
              </a:extLst>
            </p:cNvPr>
            <p:cNvSpPr/>
            <p:nvPr/>
          </p:nvSpPr>
          <p:spPr>
            <a:xfrm>
              <a:off x="2058620" y="4388948"/>
              <a:ext cx="2560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chemeClr val="tx2"/>
                  </a:solidFill>
                </a:rPr>
                <a:t>무중단 저장 안정성</a:t>
              </a:r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23" name="Text 21">
              <a:extLst>
                <a:ext uri="{FF2B5EF4-FFF2-40B4-BE49-F238E27FC236}">
                  <a16:creationId xmlns:a16="http://schemas.microsoft.com/office/drawing/2014/main" id="{06EED182-4A4E-E501-D381-819149303D95}"/>
                </a:ext>
              </a:extLst>
            </p:cNvPr>
            <p:cNvSpPr/>
            <p:nvPr/>
          </p:nvSpPr>
          <p:spPr>
            <a:xfrm>
              <a:off x="2058620" y="4663268"/>
              <a:ext cx="77724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chemeClr val="tx2"/>
                  </a:solidFill>
                </a:rPr>
                <a:t>BlockingCollection 큐 + 전용 스레드로 저장 지연 없이 검사 연속 진행</a:t>
              </a:r>
            </a:p>
          </p:txBody>
        </p:sp>
        <p:sp>
          <p:nvSpPr>
            <p:cNvPr id="24" name="Shape 22">
              <a:extLst>
                <a:ext uri="{FF2B5EF4-FFF2-40B4-BE49-F238E27FC236}">
                  <a16:creationId xmlns:a16="http://schemas.microsoft.com/office/drawing/2014/main" id="{710DF600-10A9-EFED-ED06-CF7903341B70}"/>
                </a:ext>
              </a:extLst>
            </p:cNvPr>
            <p:cNvSpPr/>
            <p:nvPr/>
          </p:nvSpPr>
          <p:spPr>
            <a:xfrm>
              <a:off x="1418540" y="4946732"/>
              <a:ext cx="8503920" cy="0"/>
            </a:xfrm>
            <a:prstGeom prst="line">
              <a:avLst/>
            </a:prstGeom>
            <a:noFill/>
            <a:ln w="6350">
              <a:solidFill>
                <a:srgbClr val="243352"/>
              </a:solidFill>
              <a:prstDash val="solid"/>
            </a:ln>
          </p:spPr>
          <p:txBody>
            <a:bodyPr/>
            <a:lstStyle/>
            <a:p>
              <a:endParaRPr lang="ko-KR" altLang="en-US">
                <a:solidFill>
                  <a:schemeClr val="tx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636246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4A39F-9909-BF9D-49D2-E5214F332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content_bg">
            <a:extLst>
              <a:ext uri="{FF2B5EF4-FFF2-40B4-BE49-F238E27FC236}">
                <a16:creationId xmlns:a16="http://schemas.microsoft.com/office/drawing/2014/main" id="{71382FCF-5318-E523-9F15-125A26CC3A95}"/>
              </a:ext>
            </a:extLst>
          </p:cNvPr>
          <p:cNvSpPr>
            <a:spLocks noGrp="1"/>
          </p:cNvSpPr>
          <p:nvPr/>
        </p:nvSpPr>
        <p:spPr>
          <a:xfrm>
            <a:off x="0" y="820000"/>
            <a:ext cx="12192000" cy="6038000"/>
          </a:xfrm>
          <a:prstGeom prst="rect">
            <a:avLst/>
          </a:prstGeom>
          <a:solidFill>
            <a:srgbClr val="EEF1F5"/>
          </a:solidFill>
        </p:spPr>
        <p:txBody>
          <a:bodyPr/>
          <a:lstStyle/>
          <a:p>
            <a:endParaRPr lang="ko-KR"/>
          </a:p>
        </p:txBody>
      </p:sp>
      <p:sp>
        <p:nvSpPr>
          <p:cNvPr id="901" name="header_bar">
            <a:extLst>
              <a:ext uri="{FF2B5EF4-FFF2-40B4-BE49-F238E27FC236}">
                <a16:creationId xmlns:a16="http://schemas.microsoft.com/office/drawing/2014/main" id="{DB946529-A4A6-E9FE-A306-CC8811AD73E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2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 lang="ko-KR"/>
          </a:p>
        </p:txBody>
      </p:sp>
      <p:sp>
        <p:nvSpPr>
          <p:cNvPr id="902" name="accent_stripe">
            <a:extLst>
              <a:ext uri="{FF2B5EF4-FFF2-40B4-BE49-F238E27FC236}">
                <a16:creationId xmlns:a16="http://schemas.microsoft.com/office/drawing/2014/main" id="{1A99B80D-ED82-95A5-F74B-7981B1115C9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0000" cy="820000"/>
          </a:xfrm>
          <a:prstGeom prst="rect">
            <a:avLst/>
          </a:prstGeom>
          <a:solidFill>
            <a:srgbClr val="E05A1A"/>
          </a:solidFill>
        </p:spPr>
        <p:txBody>
          <a:bodyPr/>
          <a:lstStyle/>
          <a:p>
            <a:endParaRPr lang="ko-KR"/>
          </a:p>
        </p:txBody>
      </p:sp>
      <p:sp>
        <p:nvSpPr>
          <p:cNvPr id="904" name="step_badge">
            <a:extLst>
              <a:ext uri="{FF2B5EF4-FFF2-40B4-BE49-F238E27FC236}">
                <a16:creationId xmlns:a16="http://schemas.microsoft.com/office/drawing/2014/main" id="{9F42515A-773E-FC7F-D176-7835F3B9B937}"/>
              </a:ext>
            </a:extLst>
          </p:cNvPr>
          <p:cNvSpPr>
            <a:spLocks noGrp="1"/>
          </p:cNvSpPr>
          <p:nvPr/>
        </p:nvSpPr>
        <p:spPr>
          <a:xfrm>
            <a:off x="11492000" y="0"/>
            <a:ext cx="700000" cy="820000"/>
          </a:xfrm>
          <a:prstGeom prst="rect">
            <a:avLst/>
          </a:prstGeom>
          <a:solidFill>
            <a:srgbClr val="E05A1A"/>
          </a:solidFill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910" name="cat_badge">
            <a:extLst>
              <a:ext uri="{FF2B5EF4-FFF2-40B4-BE49-F238E27FC236}">
                <a16:creationId xmlns:a16="http://schemas.microsoft.com/office/drawing/2014/main" id="{CC002D82-BC23-E6B2-131C-7C46E1A0A53F}"/>
              </a:ext>
            </a:extLst>
          </p:cNvPr>
          <p:cNvSpPr>
            <a:spLocks noGrp="1"/>
          </p:cNvSpPr>
          <p:nvPr/>
        </p:nvSpPr>
        <p:spPr>
          <a:xfrm>
            <a:off x="320000" y="110000"/>
            <a:ext cx="1350000" cy="600000"/>
          </a:xfrm>
          <a:prstGeom prst="roundRect">
            <a:avLst>
              <a:gd name="adj" fmla="val 20000"/>
            </a:avLst>
          </a:prstGeom>
          <a:solidFill>
            <a:srgbClr val="E05A1A">
              <a:alpha val="28000"/>
            </a:srgbClr>
          </a:solidFill>
          <a:ln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400" b="1" dirty="0">
                <a:solidFill>
                  <a:srgbClr val="FFBB88"/>
                </a:solidFill>
              </a:rPr>
              <a:t>아키텍처</a:t>
            </a:r>
          </a:p>
        </p:txBody>
      </p:sp>
      <p:sp>
        <p:nvSpPr>
          <p:cNvPr id="903" name="header_title">
            <a:extLst>
              <a:ext uri="{FF2B5EF4-FFF2-40B4-BE49-F238E27FC236}">
                <a16:creationId xmlns:a16="http://schemas.microsoft.com/office/drawing/2014/main" id="{34F5EAD0-AA07-4971-47BD-BD4344761050}"/>
              </a:ext>
            </a:extLst>
          </p:cNvPr>
          <p:cNvSpPr txBox="1"/>
          <p:nvPr/>
        </p:nvSpPr>
        <p:spPr>
          <a:xfrm>
            <a:off x="1830000" y="0"/>
            <a:ext cx="9562000" cy="8200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r>
              <a:rPr lang="ko-KR" altLang="en-US" sz="2000" b="1" dirty="0">
                <a:solidFill>
                  <a:srgbClr val="FFFFFF"/>
                </a:solidFill>
              </a:rPr>
              <a:t>시스템 아키텍처 블록도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D1F5A75D-754A-F08E-7E48-5E7B3D205C18}"/>
              </a:ext>
            </a:extLst>
          </p:cNvPr>
          <p:cNvGrpSpPr/>
          <p:nvPr/>
        </p:nvGrpSpPr>
        <p:grpSpPr>
          <a:xfrm>
            <a:off x="1315000" y="1085709"/>
            <a:ext cx="9562000" cy="5632190"/>
            <a:chOff x="274320" y="960120"/>
            <a:chExt cx="8595360" cy="4389120"/>
          </a:xfrm>
        </p:grpSpPr>
        <p:sp>
          <p:nvSpPr>
            <p:cNvPr id="2" name="Shape 3">
              <a:extLst>
                <a:ext uri="{FF2B5EF4-FFF2-40B4-BE49-F238E27FC236}">
                  <a16:creationId xmlns:a16="http://schemas.microsoft.com/office/drawing/2014/main" id="{5FA12538-C6A6-7117-38D8-5052973FD1A9}"/>
                </a:ext>
              </a:extLst>
            </p:cNvPr>
            <p:cNvSpPr/>
            <p:nvPr/>
          </p:nvSpPr>
          <p:spPr>
            <a:xfrm>
              <a:off x="274320" y="960120"/>
              <a:ext cx="2560320" cy="914400"/>
            </a:xfrm>
            <a:prstGeom prst="rect">
              <a:avLst/>
            </a:prstGeom>
            <a:solidFill>
              <a:srgbClr val="1B2A4A"/>
            </a:solidFill>
            <a:ln w="12700">
              <a:solidFill>
                <a:srgbClr val="C0CCE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 4">
              <a:extLst>
                <a:ext uri="{FF2B5EF4-FFF2-40B4-BE49-F238E27FC236}">
                  <a16:creationId xmlns:a16="http://schemas.microsoft.com/office/drawing/2014/main" id="{5BDD02BD-72C9-B0EC-F43B-A5F44F6E1A8A}"/>
                </a:ext>
              </a:extLst>
            </p:cNvPr>
            <p:cNvSpPr/>
            <p:nvPr/>
          </p:nvSpPr>
          <p:spPr>
            <a:xfrm>
              <a:off x="274320" y="1024128"/>
              <a:ext cx="25603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Camera / ImageLoader</a:t>
              </a:r>
              <a:endParaRPr lang="en-US" sz="1200" dirty="0"/>
            </a:p>
          </p:txBody>
        </p:sp>
        <p:sp>
          <p:nvSpPr>
            <p:cNvPr id="8" name="Text 5">
              <a:extLst>
                <a:ext uri="{FF2B5EF4-FFF2-40B4-BE49-F238E27FC236}">
                  <a16:creationId xmlns:a16="http://schemas.microsoft.com/office/drawing/2014/main" id="{EEDDA938-ECFE-8CD7-DD31-4A54E951E56F}"/>
                </a:ext>
              </a:extLst>
            </p:cNvPr>
            <p:cNvSpPr/>
            <p:nvPr/>
          </p:nvSpPr>
          <p:spPr>
            <a:xfrm>
              <a:off x="274320" y="1353312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CADCFC"/>
                  </a:solidFill>
                </a:rPr>
                <a:t>카메라(WebCam/HikRobot)</a:t>
              </a:r>
              <a:endParaRPr lang="en-US" sz="950" dirty="0"/>
            </a:p>
            <a:p>
              <a:pPr marL="0" indent="0" algn="ctr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CADCFC"/>
                  </a:solidFill>
                </a:rPr>
                <a:t>또는 폴더 이미지 순차 로드</a:t>
              </a:r>
              <a:endParaRPr lang="en-US" sz="950" dirty="0"/>
            </a:p>
          </p:txBody>
        </p:sp>
        <p:sp>
          <p:nvSpPr>
            <p:cNvPr id="26" name="Shape 6">
              <a:extLst>
                <a:ext uri="{FF2B5EF4-FFF2-40B4-BE49-F238E27FC236}">
                  <a16:creationId xmlns:a16="http://schemas.microsoft.com/office/drawing/2014/main" id="{4F05C3F9-2CF4-7CEF-42F8-0D65EFCD7B5D}"/>
                </a:ext>
              </a:extLst>
            </p:cNvPr>
            <p:cNvSpPr/>
            <p:nvPr/>
          </p:nvSpPr>
          <p:spPr>
            <a:xfrm>
              <a:off x="3291840" y="960120"/>
              <a:ext cx="2743200" cy="914400"/>
            </a:xfrm>
            <a:prstGeom prst="rect">
              <a:avLst/>
            </a:prstGeom>
            <a:solidFill>
              <a:srgbClr val="243352"/>
            </a:solidFill>
            <a:ln w="12700">
              <a:solidFill>
                <a:srgbClr val="C0CCE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 7">
              <a:extLst>
                <a:ext uri="{FF2B5EF4-FFF2-40B4-BE49-F238E27FC236}">
                  <a16:creationId xmlns:a16="http://schemas.microsoft.com/office/drawing/2014/main" id="{66CA4241-FF6D-2FE4-C80B-3EB0C71B674D}"/>
                </a:ext>
              </a:extLst>
            </p:cNvPr>
            <p:cNvSpPr/>
            <p:nvPr/>
          </p:nvSpPr>
          <p:spPr>
            <a:xfrm>
              <a:off x="3291840" y="1024128"/>
              <a:ext cx="274320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InspStage</a:t>
              </a:r>
              <a:endParaRPr lang="en-US" sz="1200" dirty="0"/>
            </a:p>
          </p:txBody>
        </p:sp>
        <p:sp>
          <p:nvSpPr>
            <p:cNvPr id="28" name="Text 8">
              <a:extLst>
                <a:ext uri="{FF2B5EF4-FFF2-40B4-BE49-F238E27FC236}">
                  <a16:creationId xmlns:a16="http://schemas.microsoft.com/office/drawing/2014/main" id="{67566D2B-5E8A-8FED-8A48-5F878124792F}"/>
                </a:ext>
              </a:extLst>
            </p:cNvPr>
            <p:cNvSpPr/>
            <p:nvPr/>
          </p:nvSpPr>
          <p:spPr>
            <a:xfrm>
              <a:off x="3291840" y="1353312"/>
              <a:ext cx="27432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CADCFC"/>
                  </a:solidFill>
                </a:rPr>
                <a:t>스테이지 통합 관리</a:t>
              </a:r>
              <a:endParaRPr lang="en-US" sz="950" dirty="0"/>
            </a:p>
            <a:p>
              <a:pPr marL="0" indent="0" algn="ctr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CADCFC"/>
                  </a:solidFill>
                </a:rPr>
                <a:t>버퍼 / 모델 / 시퀀스</a:t>
              </a:r>
              <a:endParaRPr lang="en-US" sz="950" dirty="0"/>
            </a:p>
          </p:txBody>
        </p:sp>
        <p:sp>
          <p:nvSpPr>
            <p:cNvPr id="29" name="Shape 9">
              <a:extLst>
                <a:ext uri="{FF2B5EF4-FFF2-40B4-BE49-F238E27FC236}">
                  <a16:creationId xmlns:a16="http://schemas.microsoft.com/office/drawing/2014/main" id="{32A33705-3336-D7CF-DF8D-5DEC2B87DDA9}"/>
                </a:ext>
              </a:extLst>
            </p:cNvPr>
            <p:cNvSpPr/>
            <p:nvPr/>
          </p:nvSpPr>
          <p:spPr>
            <a:xfrm>
              <a:off x="6400800" y="960120"/>
              <a:ext cx="2468880" cy="914400"/>
            </a:xfrm>
            <a:prstGeom prst="rect">
              <a:avLst/>
            </a:prstGeom>
            <a:solidFill>
              <a:srgbClr val="2E4470"/>
            </a:solidFill>
            <a:ln w="12700">
              <a:solidFill>
                <a:srgbClr val="C0CCE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 10">
              <a:extLst>
                <a:ext uri="{FF2B5EF4-FFF2-40B4-BE49-F238E27FC236}">
                  <a16:creationId xmlns:a16="http://schemas.microsoft.com/office/drawing/2014/main" id="{B414CAF2-69CA-BDFC-46C5-80CAD175C42F}"/>
                </a:ext>
              </a:extLst>
            </p:cNvPr>
            <p:cNvSpPr/>
            <p:nvPr/>
          </p:nvSpPr>
          <p:spPr>
            <a:xfrm>
              <a:off x="6400800" y="1024128"/>
              <a:ext cx="246888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InspWorker</a:t>
              </a:r>
              <a:endParaRPr lang="en-US" sz="1200" dirty="0"/>
            </a:p>
          </p:txBody>
        </p:sp>
        <p:sp>
          <p:nvSpPr>
            <p:cNvPr id="31" name="Text 11">
              <a:extLst>
                <a:ext uri="{FF2B5EF4-FFF2-40B4-BE49-F238E27FC236}">
                  <a16:creationId xmlns:a16="http://schemas.microsoft.com/office/drawing/2014/main" id="{C47F7856-0E1F-87BC-AF41-70F63005CBBD}"/>
                </a:ext>
              </a:extLst>
            </p:cNvPr>
            <p:cNvSpPr/>
            <p:nvPr/>
          </p:nvSpPr>
          <p:spPr>
            <a:xfrm>
              <a:off x="6400800" y="1353312"/>
              <a:ext cx="2468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CADCFC"/>
                  </a:solidFill>
                </a:rPr>
                <a:t>검사 알고리즘 실행</a:t>
              </a:r>
              <a:endParaRPr lang="en-US" sz="950" dirty="0"/>
            </a:p>
            <a:p>
              <a:pPr marL="0" indent="0" algn="ctr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CADCFC"/>
                  </a:solidFill>
                </a:rPr>
                <a:t>RunKeyMatch / RunBoltMark</a:t>
              </a:r>
              <a:endParaRPr lang="en-US" sz="950" dirty="0"/>
            </a:p>
          </p:txBody>
        </p:sp>
        <p:sp>
          <p:nvSpPr>
            <p:cNvPr id="32" name="Shape 12">
              <a:extLst>
                <a:ext uri="{FF2B5EF4-FFF2-40B4-BE49-F238E27FC236}">
                  <a16:creationId xmlns:a16="http://schemas.microsoft.com/office/drawing/2014/main" id="{6CEEA91C-9B21-04C6-FBDC-AA4E148B9B57}"/>
                </a:ext>
              </a:extLst>
            </p:cNvPr>
            <p:cNvSpPr/>
            <p:nvPr/>
          </p:nvSpPr>
          <p:spPr>
            <a:xfrm>
              <a:off x="2834640" y="1417320"/>
              <a:ext cx="457200" cy="0"/>
            </a:xfrm>
            <a:prstGeom prst="line">
              <a:avLst/>
            </a:prstGeom>
            <a:noFill/>
            <a:ln w="2286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Shape 13">
              <a:extLst>
                <a:ext uri="{FF2B5EF4-FFF2-40B4-BE49-F238E27FC236}">
                  <a16:creationId xmlns:a16="http://schemas.microsoft.com/office/drawing/2014/main" id="{DF900FC0-CE8D-0B19-0FBD-60BD475CE989}"/>
                </a:ext>
              </a:extLst>
            </p:cNvPr>
            <p:cNvSpPr/>
            <p:nvPr/>
          </p:nvSpPr>
          <p:spPr>
            <a:xfrm>
              <a:off x="6035040" y="1417320"/>
              <a:ext cx="365760" cy="0"/>
            </a:xfrm>
            <a:prstGeom prst="line">
              <a:avLst/>
            </a:prstGeom>
            <a:noFill/>
            <a:ln w="2286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Shape 14">
              <a:extLst>
                <a:ext uri="{FF2B5EF4-FFF2-40B4-BE49-F238E27FC236}">
                  <a16:creationId xmlns:a16="http://schemas.microsoft.com/office/drawing/2014/main" id="{6C0C0166-C51C-A9B9-A6FC-82C69B30151F}"/>
                </a:ext>
              </a:extLst>
            </p:cNvPr>
            <p:cNvSpPr/>
            <p:nvPr/>
          </p:nvSpPr>
          <p:spPr>
            <a:xfrm>
              <a:off x="274320" y="2331720"/>
              <a:ext cx="2011680" cy="822960"/>
            </a:xfrm>
            <a:prstGeom prst="rect">
              <a:avLst/>
            </a:prstGeom>
            <a:solidFill>
              <a:srgbClr val="2E4470"/>
            </a:solidFill>
            <a:ln w="12700">
              <a:solidFill>
                <a:srgbClr val="C0CCE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 15">
              <a:extLst>
                <a:ext uri="{FF2B5EF4-FFF2-40B4-BE49-F238E27FC236}">
                  <a16:creationId xmlns:a16="http://schemas.microsoft.com/office/drawing/2014/main" id="{8230DA34-AACC-0AFF-046A-C72B5C13F755}"/>
                </a:ext>
              </a:extLst>
            </p:cNvPr>
            <p:cNvSpPr/>
            <p:nvPr/>
          </p:nvSpPr>
          <p:spPr>
            <a:xfrm>
              <a:off x="274320" y="2596896"/>
              <a:ext cx="201168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KeyMatch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건반 위치 탐색</a:t>
              </a:r>
              <a:endParaRPr lang="en-US" sz="1200" dirty="0"/>
            </a:p>
          </p:txBody>
        </p:sp>
        <p:sp>
          <p:nvSpPr>
            <p:cNvPr id="36" name="Shape 16">
              <a:extLst>
                <a:ext uri="{FF2B5EF4-FFF2-40B4-BE49-F238E27FC236}">
                  <a16:creationId xmlns:a16="http://schemas.microsoft.com/office/drawing/2014/main" id="{B0964A4C-2B29-9A64-573E-FCA6FFA3F8D7}"/>
                </a:ext>
              </a:extLst>
            </p:cNvPr>
            <p:cNvSpPr/>
            <p:nvPr/>
          </p:nvSpPr>
          <p:spPr>
            <a:xfrm>
              <a:off x="1280160" y="1920240"/>
              <a:ext cx="0" cy="411480"/>
            </a:xfrm>
            <a:prstGeom prst="line">
              <a:avLst/>
            </a:prstGeom>
            <a:noFill/>
            <a:ln w="2286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7" name="Shape 17">
              <a:extLst>
                <a:ext uri="{FF2B5EF4-FFF2-40B4-BE49-F238E27FC236}">
                  <a16:creationId xmlns:a16="http://schemas.microsoft.com/office/drawing/2014/main" id="{CE1F4712-062B-5437-E132-B8F5C91999F3}"/>
                </a:ext>
              </a:extLst>
            </p:cNvPr>
            <p:cNvSpPr/>
            <p:nvPr/>
          </p:nvSpPr>
          <p:spPr>
            <a:xfrm>
              <a:off x="2468880" y="2331720"/>
              <a:ext cx="2011680" cy="822960"/>
            </a:xfrm>
            <a:prstGeom prst="rect">
              <a:avLst/>
            </a:prstGeom>
            <a:solidFill>
              <a:srgbClr val="2E4470"/>
            </a:solidFill>
            <a:ln w="12700">
              <a:solidFill>
                <a:srgbClr val="C0CCE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" name="Text 18">
              <a:extLst>
                <a:ext uri="{FF2B5EF4-FFF2-40B4-BE49-F238E27FC236}">
                  <a16:creationId xmlns:a16="http://schemas.microsoft.com/office/drawing/2014/main" id="{EF5B697E-F95E-7BFB-247E-4158053C25A8}"/>
                </a:ext>
              </a:extLst>
            </p:cNvPr>
            <p:cNvSpPr/>
            <p:nvPr/>
          </p:nvSpPr>
          <p:spPr>
            <a:xfrm>
              <a:off x="2468880" y="2596896"/>
              <a:ext cx="201168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FindActualKeyRect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픽셀 경계 분석</a:t>
              </a:r>
              <a:endParaRPr lang="en-US" sz="1200" dirty="0"/>
            </a:p>
          </p:txBody>
        </p:sp>
        <p:sp>
          <p:nvSpPr>
            <p:cNvPr id="39" name="Shape 19">
              <a:extLst>
                <a:ext uri="{FF2B5EF4-FFF2-40B4-BE49-F238E27FC236}">
                  <a16:creationId xmlns:a16="http://schemas.microsoft.com/office/drawing/2014/main" id="{9865E2EF-88A5-FBB1-8C76-6FA9C24253D8}"/>
                </a:ext>
              </a:extLst>
            </p:cNvPr>
            <p:cNvSpPr/>
            <p:nvPr/>
          </p:nvSpPr>
          <p:spPr>
            <a:xfrm>
              <a:off x="3474720" y="1920240"/>
              <a:ext cx="0" cy="411480"/>
            </a:xfrm>
            <a:prstGeom prst="line">
              <a:avLst/>
            </a:prstGeom>
            <a:noFill/>
            <a:ln w="2286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Shape 20">
              <a:extLst>
                <a:ext uri="{FF2B5EF4-FFF2-40B4-BE49-F238E27FC236}">
                  <a16:creationId xmlns:a16="http://schemas.microsoft.com/office/drawing/2014/main" id="{BAF667C7-7E72-6F95-745D-726EB83991A6}"/>
                </a:ext>
              </a:extLst>
            </p:cNvPr>
            <p:cNvSpPr/>
            <p:nvPr/>
          </p:nvSpPr>
          <p:spPr>
            <a:xfrm>
              <a:off x="4663440" y="2331720"/>
              <a:ext cx="2011680" cy="822960"/>
            </a:xfrm>
            <a:prstGeom prst="rect">
              <a:avLst/>
            </a:prstGeom>
            <a:solidFill>
              <a:srgbClr val="243352"/>
            </a:solidFill>
            <a:ln w="12700">
              <a:solidFill>
                <a:srgbClr val="C0CCE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" name="Text 21">
              <a:extLst>
                <a:ext uri="{FF2B5EF4-FFF2-40B4-BE49-F238E27FC236}">
                  <a16:creationId xmlns:a16="http://schemas.microsoft.com/office/drawing/2014/main" id="{8A269444-2D92-BC00-FDE7-5896C69EB1FD}"/>
                </a:ext>
              </a:extLst>
            </p:cNvPr>
            <p:cNvSpPr/>
            <p:nvPr/>
          </p:nvSpPr>
          <p:spPr>
            <a:xfrm>
              <a:off x="4663440" y="2596896"/>
              <a:ext cx="201168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CheckBolt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볼트 유무 판정</a:t>
              </a:r>
              <a:endParaRPr lang="en-US" sz="1200" dirty="0"/>
            </a:p>
          </p:txBody>
        </p:sp>
        <p:sp>
          <p:nvSpPr>
            <p:cNvPr id="42" name="Shape 22">
              <a:extLst>
                <a:ext uri="{FF2B5EF4-FFF2-40B4-BE49-F238E27FC236}">
                  <a16:creationId xmlns:a16="http://schemas.microsoft.com/office/drawing/2014/main" id="{121CCA1C-FD3B-D9B2-18FE-3582C976CDE3}"/>
                </a:ext>
              </a:extLst>
            </p:cNvPr>
            <p:cNvSpPr/>
            <p:nvPr/>
          </p:nvSpPr>
          <p:spPr>
            <a:xfrm>
              <a:off x="5669280" y="1920240"/>
              <a:ext cx="0" cy="411480"/>
            </a:xfrm>
            <a:prstGeom prst="line">
              <a:avLst/>
            </a:prstGeom>
            <a:noFill/>
            <a:ln w="2286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Shape 23">
              <a:extLst>
                <a:ext uri="{FF2B5EF4-FFF2-40B4-BE49-F238E27FC236}">
                  <a16:creationId xmlns:a16="http://schemas.microsoft.com/office/drawing/2014/main" id="{68E03662-1DC1-B9B6-1924-3286EEA3A40F}"/>
                </a:ext>
              </a:extLst>
            </p:cNvPr>
            <p:cNvSpPr/>
            <p:nvPr/>
          </p:nvSpPr>
          <p:spPr>
            <a:xfrm>
              <a:off x="6858000" y="2331720"/>
              <a:ext cx="2011680" cy="822960"/>
            </a:xfrm>
            <a:prstGeom prst="rect">
              <a:avLst/>
            </a:prstGeom>
            <a:solidFill>
              <a:srgbClr val="243352"/>
            </a:solidFill>
            <a:ln w="12700">
              <a:solidFill>
                <a:srgbClr val="C0CCE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Text 24">
              <a:extLst>
                <a:ext uri="{FF2B5EF4-FFF2-40B4-BE49-F238E27FC236}">
                  <a16:creationId xmlns:a16="http://schemas.microsoft.com/office/drawing/2014/main" id="{023DC0BD-D6CD-C987-84A6-353E30BF99CB}"/>
                </a:ext>
              </a:extLst>
            </p:cNvPr>
            <p:cNvSpPr/>
            <p:nvPr/>
          </p:nvSpPr>
          <p:spPr>
            <a:xfrm>
              <a:off x="6858000" y="2596896"/>
              <a:ext cx="201168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CheckMark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CLAHE+Laplacian</a:t>
              </a:r>
              <a:endParaRPr lang="en-US" sz="1200" dirty="0"/>
            </a:p>
          </p:txBody>
        </p:sp>
        <p:sp>
          <p:nvSpPr>
            <p:cNvPr id="45" name="Shape 25">
              <a:extLst>
                <a:ext uri="{FF2B5EF4-FFF2-40B4-BE49-F238E27FC236}">
                  <a16:creationId xmlns:a16="http://schemas.microsoft.com/office/drawing/2014/main" id="{763484E7-B1FE-681F-8A63-5CC5C5F8A300}"/>
                </a:ext>
              </a:extLst>
            </p:cNvPr>
            <p:cNvSpPr/>
            <p:nvPr/>
          </p:nvSpPr>
          <p:spPr>
            <a:xfrm>
              <a:off x="7863840" y="1920240"/>
              <a:ext cx="0" cy="411480"/>
            </a:xfrm>
            <a:prstGeom prst="line">
              <a:avLst/>
            </a:prstGeom>
            <a:noFill/>
            <a:ln w="2286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" name="Shape 26">
              <a:extLst>
                <a:ext uri="{FF2B5EF4-FFF2-40B4-BE49-F238E27FC236}">
                  <a16:creationId xmlns:a16="http://schemas.microsoft.com/office/drawing/2014/main" id="{D50CB4CB-1628-9EEC-52F6-BCB454E0DB6E}"/>
                </a:ext>
              </a:extLst>
            </p:cNvPr>
            <p:cNvSpPr/>
            <p:nvPr/>
          </p:nvSpPr>
          <p:spPr>
            <a:xfrm>
              <a:off x="274320" y="3611880"/>
              <a:ext cx="2560320" cy="777240"/>
            </a:xfrm>
            <a:prstGeom prst="rect">
              <a:avLst/>
            </a:prstGeom>
            <a:solidFill>
              <a:srgbClr val="E8EDF7"/>
            </a:solidFill>
            <a:ln w="12700">
              <a:solidFill>
                <a:srgbClr val="C0CCE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Text 27">
              <a:extLst>
                <a:ext uri="{FF2B5EF4-FFF2-40B4-BE49-F238E27FC236}">
                  <a16:creationId xmlns:a16="http://schemas.microsoft.com/office/drawing/2014/main" id="{02218BDA-14E3-8CE0-4F29-B4390D669B8A}"/>
                </a:ext>
              </a:extLst>
            </p:cNvPr>
            <p:cNvSpPr/>
            <p:nvPr/>
          </p:nvSpPr>
          <p:spPr>
            <a:xfrm>
              <a:off x="274320" y="3675888"/>
              <a:ext cx="25603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1B2A4A"/>
                  </a:solidFill>
                </a:rPr>
                <a:t>ImageSpace (버퍼)</a:t>
              </a:r>
              <a:endParaRPr lang="en-US" sz="1200" dirty="0"/>
            </a:p>
          </p:txBody>
        </p:sp>
        <p:sp>
          <p:nvSpPr>
            <p:cNvPr id="48" name="Text 28">
              <a:extLst>
                <a:ext uri="{FF2B5EF4-FFF2-40B4-BE49-F238E27FC236}">
                  <a16:creationId xmlns:a16="http://schemas.microsoft.com/office/drawing/2014/main" id="{7215E811-633C-57BC-CA33-F14CE5D9B002}"/>
                </a:ext>
              </a:extLst>
            </p:cNvPr>
            <p:cNvSpPr/>
            <p:nvPr/>
          </p:nvSpPr>
          <p:spPr>
            <a:xfrm>
              <a:off x="274320" y="4005072"/>
              <a:ext cx="256032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A6E8A"/>
                  </a:solidFill>
                </a:rPr>
                <a:t>Gray / Color 채널 분리</a:t>
              </a:r>
              <a:endParaRPr lang="en-US" sz="950" dirty="0"/>
            </a:p>
          </p:txBody>
        </p:sp>
        <p:sp>
          <p:nvSpPr>
            <p:cNvPr id="49" name="Shape 29">
              <a:extLst>
                <a:ext uri="{FF2B5EF4-FFF2-40B4-BE49-F238E27FC236}">
                  <a16:creationId xmlns:a16="http://schemas.microsoft.com/office/drawing/2014/main" id="{D5A03AB5-AE61-A40B-1CEA-E03D9E35E264}"/>
                </a:ext>
              </a:extLst>
            </p:cNvPr>
            <p:cNvSpPr/>
            <p:nvPr/>
          </p:nvSpPr>
          <p:spPr>
            <a:xfrm>
              <a:off x="3291840" y="3611880"/>
              <a:ext cx="2743200" cy="777240"/>
            </a:xfrm>
            <a:prstGeom prst="rect">
              <a:avLst/>
            </a:prstGeom>
            <a:solidFill>
              <a:srgbClr val="E8EDF7"/>
            </a:solidFill>
            <a:ln w="12700">
              <a:solidFill>
                <a:srgbClr val="C0CCE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0" name="Text 30">
              <a:extLst>
                <a:ext uri="{FF2B5EF4-FFF2-40B4-BE49-F238E27FC236}">
                  <a16:creationId xmlns:a16="http://schemas.microsoft.com/office/drawing/2014/main" id="{439E7838-ADEA-27F9-813F-1C2C99E44CB2}"/>
                </a:ext>
              </a:extLst>
            </p:cNvPr>
            <p:cNvSpPr/>
            <p:nvPr/>
          </p:nvSpPr>
          <p:spPr>
            <a:xfrm>
              <a:off x="3291840" y="3675888"/>
              <a:ext cx="274320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1B2A4A"/>
                  </a:solidFill>
                </a:rPr>
                <a:t>UI 표시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1B2A4A"/>
                  </a:solidFill>
                </a:rPr>
                <a:t>CameraForm / ResultForm</a:t>
              </a:r>
              <a:endParaRPr lang="en-US" sz="1200" dirty="0"/>
            </a:p>
          </p:txBody>
        </p:sp>
        <p:sp>
          <p:nvSpPr>
            <p:cNvPr id="51" name="Text 31">
              <a:extLst>
                <a:ext uri="{FF2B5EF4-FFF2-40B4-BE49-F238E27FC236}">
                  <a16:creationId xmlns:a16="http://schemas.microsoft.com/office/drawing/2014/main" id="{907AF83C-0411-5297-45E7-DD2470A816A4}"/>
                </a:ext>
              </a:extLst>
            </p:cNvPr>
            <p:cNvSpPr/>
            <p:nvPr/>
          </p:nvSpPr>
          <p:spPr>
            <a:xfrm>
              <a:off x="3291840" y="4005072"/>
              <a:ext cx="27432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A6E8A"/>
                  </a:solidFill>
                </a:rPr>
                <a:t>DrawInspectInfo</a:t>
              </a:r>
              <a:endParaRPr lang="en-US" sz="950" dirty="0"/>
            </a:p>
            <a:p>
              <a:pPr marL="0" indent="0" algn="ctr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A6E8A"/>
                  </a:solidFill>
                </a:rPr>
                <a:t>실시간 박스 오버레이</a:t>
              </a:r>
              <a:endParaRPr lang="en-US" sz="950" dirty="0"/>
            </a:p>
          </p:txBody>
        </p:sp>
        <p:sp>
          <p:nvSpPr>
            <p:cNvPr id="52" name="Shape 32">
              <a:extLst>
                <a:ext uri="{FF2B5EF4-FFF2-40B4-BE49-F238E27FC236}">
                  <a16:creationId xmlns:a16="http://schemas.microsoft.com/office/drawing/2014/main" id="{7BF7B21D-DECA-1A4B-6B62-CA02FA2695D4}"/>
                </a:ext>
              </a:extLst>
            </p:cNvPr>
            <p:cNvSpPr/>
            <p:nvPr/>
          </p:nvSpPr>
          <p:spPr>
            <a:xfrm>
              <a:off x="6400800" y="3611880"/>
              <a:ext cx="2468880" cy="777240"/>
            </a:xfrm>
            <a:prstGeom prst="rect">
              <a:avLst/>
            </a:prstGeom>
            <a:solidFill>
              <a:srgbClr val="E8EDF7"/>
            </a:solidFill>
            <a:ln w="12700">
              <a:solidFill>
                <a:srgbClr val="C0CCE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3" name="Text 33">
              <a:extLst>
                <a:ext uri="{FF2B5EF4-FFF2-40B4-BE49-F238E27FC236}">
                  <a16:creationId xmlns:a16="http://schemas.microsoft.com/office/drawing/2014/main" id="{CD6E5695-596B-AF01-A344-92BB7B5DCE5B}"/>
                </a:ext>
              </a:extLst>
            </p:cNvPr>
            <p:cNvSpPr/>
            <p:nvPr/>
          </p:nvSpPr>
          <p:spPr>
            <a:xfrm>
              <a:off x="6400800" y="3675888"/>
              <a:ext cx="246888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1B2A4A"/>
                  </a:solidFill>
                </a:rPr>
                <a:t>SaveQueue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1B2A4A"/>
                  </a:solidFill>
                </a:rPr>
                <a:t>비동기 저장 스레드</a:t>
              </a:r>
              <a:endParaRPr lang="en-US" sz="1200" dirty="0"/>
            </a:p>
          </p:txBody>
        </p:sp>
        <p:sp>
          <p:nvSpPr>
            <p:cNvPr id="54" name="Text 34">
              <a:extLst>
                <a:ext uri="{FF2B5EF4-FFF2-40B4-BE49-F238E27FC236}">
                  <a16:creationId xmlns:a16="http://schemas.microsoft.com/office/drawing/2014/main" id="{13DE7EC7-ABEA-D722-D7E7-3410662F2C9E}"/>
                </a:ext>
              </a:extLst>
            </p:cNvPr>
            <p:cNvSpPr/>
            <p:nvPr/>
          </p:nvSpPr>
          <p:spPr>
            <a:xfrm>
              <a:off x="6400800" y="4005072"/>
              <a:ext cx="246888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A6E8A"/>
                  </a:solidFill>
                </a:rPr>
                <a:t>OK / NG-BOLT / NG-MARK</a:t>
              </a:r>
              <a:endParaRPr lang="en-US" sz="950" dirty="0"/>
            </a:p>
            <a:p>
              <a:pPr marL="0" indent="0" algn="ctr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A6E8A"/>
                  </a:solidFill>
                </a:rPr>
                <a:t>폴더 자동 분류 저장</a:t>
              </a:r>
              <a:endParaRPr lang="en-US" sz="950" dirty="0"/>
            </a:p>
          </p:txBody>
        </p:sp>
        <p:sp>
          <p:nvSpPr>
            <p:cNvPr id="55" name="Shape 35">
              <a:extLst>
                <a:ext uri="{FF2B5EF4-FFF2-40B4-BE49-F238E27FC236}">
                  <a16:creationId xmlns:a16="http://schemas.microsoft.com/office/drawing/2014/main" id="{19BCF711-F7E1-293F-9B7D-DE15EA62D685}"/>
                </a:ext>
              </a:extLst>
            </p:cNvPr>
            <p:cNvSpPr/>
            <p:nvPr/>
          </p:nvSpPr>
          <p:spPr>
            <a:xfrm>
              <a:off x="1554480" y="3154680"/>
              <a:ext cx="0" cy="457200"/>
            </a:xfrm>
            <a:prstGeom prst="line">
              <a:avLst/>
            </a:prstGeom>
            <a:noFill/>
            <a:ln w="2286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6" name="Shape 36">
              <a:extLst>
                <a:ext uri="{FF2B5EF4-FFF2-40B4-BE49-F238E27FC236}">
                  <a16:creationId xmlns:a16="http://schemas.microsoft.com/office/drawing/2014/main" id="{6396EEEC-C523-D75C-9B7E-D9F5BE0F5E75}"/>
                </a:ext>
              </a:extLst>
            </p:cNvPr>
            <p:cNvSpPr/>
            <p:nvPr/>
          </p:nvSpPr>
          <p:spPr>
            <a:xfrm>
              <a:off x="4663440" y="3154680"/>
              <a:ext cx="0" cy="457200"/>
            </a:xfrm>
            <a:prstGeom prst="line">
              <a:avLst/>
            </a:prstGeom>
            <a:noFill/>
            <a:ln w="2286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7" name="Shape 37">
              <a:extLst>
                <a:ext uri="{FF2B5EF4-FFF2-40B4-BE49-F238E27FC236}">
                  <a16:creationId xmlns:a16="http://schemas.microsoft.com/office/drawing/2014/main" id="{E5F5E693-7CF1-5E17-1F68-74735FCFAEDA}"/>
                </a:ext>
              </a:extLst>
            </p:cNvPr>
            <p:cNvSpPr/>
            <p:nvPr/>
          </p:nvSpPr>
          <p:spPr>
            <a:xfrm>
              <a:off x="7635240" y="3154680"/>
              <a:ext cx="0" cy="457200"/>
            </a:xfrm>
            <a:prstGeom prst="line">
              <a:avLst/>
            </a:prstGeom>
            <a:noFill/>
            <a:ln w="2286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8" name="Shape 38">
              <a:extLst>
                <a:ext uri="{FF2B5EF4-FFF2-40B4-BE49-F238E27FC236}">
                  <a16:creationId xmlns:a16="http://schemas.microsoft.com/office/drawing/2014/main" id="{77031261-C626-27D1-D7D5-2782CE4538FB}"/>
                </a:ext>
              </a:extLst>
            </p:cNvPr>
            <p:cNvSpPr/>
            <p:nvPr/>
          </p:nvSpPr>
          <p:spPr>
            <a:xfrm>
              <a:off x="3108960" y="4572000"/>
              <a:ext cx="3108960" cy="777240"/>
            </a:xfrm>
            <a:prstGeom prst="rect">
              <a:avLst/>
            </a:prstGeom>
            <a:solidFill>
              <a:srgbClr val="1B2A4A"/>
            </a:solidFill>
            <a:ln w="12700">
              <a:solidFill>
                <a:srgbClr val="C0CCE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9" name="Text 39">
              <a:extLst>
                <a:ext uri="{FF2B5EF4-FFF2-40B4-BE49-F238E27FC236}">
                  <a16:creationId xmlns:a16="http://schemas.microsoft.com/office/drawing/2014/main" id="{AB95ADBB-8302-3CBF-8CF4-D56CF7ECE99F}"/>
                </a:ext>
              </a:extLst>
            </p:cNvPr>
            <p:cNvSpPr/>
            <p:nvPr/>
          </p:nvSpPr>
          <p:spPr>
            <a:xfrm>
              <a:off x="3108960" y="4636008"/>
              <a:ext cx="310896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VisionSequence (PLC)</a:t>
              </a:r>
              <a:endParaRPr lang="en-US" sz="1200" dirty="0"/>
            </a:p>
          </p:txBody>
        </p:sp>
        <p:sp>
          <p:nvSpPr>
            <p:cNvPr id="60" name="Text 40">
              <a:extLst>
                <a:ext uri="{FF2B5EF4-FFF2-40B4-BE49-F238E27FC236}">
                  <a16:creationId xmlns:a16="http://schemas.microsoft.com/office/drawing/2014/main" id="{CFDDD425-00A4-69EE-277A-3ABA8B9E817B}"/>
                </a:ext>
              </a:extLst>
            </p:cNvPr>
            <p:cNvSpPr/>
            <p:nvPr/>
          </p:nvSpPr>
          <p:spPr>
            <a:xfrm>
              <a:off x="3108960" y="5074820"/>
              <a:ext cx="3108960" cy="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>
              <a:lvl1pPr algn="l"/>
            </a:lstStyle>
            <a:p>
              <a:pPr marL="0" indent="0" algn="ctr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CADCFC"/>
                  </a:solidFill>
                </a:rPr>
                <a:t>SeqCmd.InspStart → Grab</a:t>
              </a:r>
              <a:endParaRPr lang="en-US" sz="950" dirty="0"/>
            </a:p>
            <a:p>
              <a:pPr marL="0" indent="0" algn="ctr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CADCFC"/>
                  </a:solidFill>
                </a:rPr>
                <a:t>SeqCmd.InspEnd → 결과 전송</a:t>
              </a:r>
              <a:endParaRPr lang="en-US" sz="950" dirty="0"/>
            </a:p>
          </p:txBody>
        </p:sp>
        <p:sp>
          <p:nvSpPr>
            <p:cNvPr id="61" name="Shape 41">
              <a:extLst>
                <a:ext uri="{FF2B5EF4-FFF2-40B4-BE49-F238E27FC236}">
                  <a16:creationId xmlns:a16="http://schemas.microsoft.com/office/drawing/2014/main" id="{05ECDCB0-96D0-B6B5-C3FC-1759BC97458A}"/>
                </a:ext>
              </a:extLst>
            </p:cNvPr>
            <p:cNvSpPr/>
            <p:nvPr/>
          </p:nvSpPr>
          <p:spPr>
            <a:xfrm>
              <a:off x="4663440" y="4389120"/>
              <a:ext cx="0" cy="182880"/>
            </a:xfrm>
            <a:prstGeom prst="line">
              <a:avLst/>
            </a:prstGeom>
            <a:noFill/>
            <a:ln w="1905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2" name="Shape 42">
              <a:extLst>
                <a:ext uri="{FF2B5EF4-FFF2-40B4-BE49-F238E27FC236}">
                  <a16:creationId xmlns:a16="http://schemas.microsoft.com/office/drawing/2014/main" id="{92A887D2-25B8-C50E-78BA-9E3EFCEEADFB}"/>
                </a:ext>
              </a:extLst>
            </p:cNvPr>
            <p:cNvSpPr/>
            <p:nvPr/>
          </p:nvSpPr>
          <p:spPr>
            <a:xfrm>
              <a:off x="4663440" y="4389120"/>
              <a:ext cx="0" cy="182880"/>
            </a:xfrm>
            <a:prstGeom prst="line">
              <a:avLst/>
            </a:prstGeom>
            <a:noFill/>
            <a:ln w="2286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1269183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F4885-A3D5-72C1-ED64-0F049CE46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content_bg">
            <a:extLst>
              <a:ext uri="{FF2B5EF4-FFF2-40B4-BE49-F238E27FC236}">
                <a16:creationId xmlns:a16="http://schemas.microsoft.com/office/drawing/2014/main" id="{A0CC8AE1-3292-CA05-B2C6-E7CC6221781F}"/>
              </a:ext>
            </a:extLst>
          </p:cNvPr>
          <p:cNvSpPr>
            <a:spLocks noGrp="1"/>
          </p:cNvSpPr>
          <p:nvPr/>
        </p:nvSpPr>
        <p:spPr>
          <a:xfrm>
            <a:off x="0" y="820000"/>
            <a:ext cx="12192000" cy="6038000"/>
          </a:xfrm>
          <a:prstGeom prst="rect">
            <a:avLst/>
          </a:prstGeom>
          <a:solidFill>
            <a:srgbClr val="EEF1F5"/>
          </a:solidFill>
        </p:spPr>
        <p:txBody>
          <a:bodyPr/>
          <a:lstStyle/>
          <a:p>
            <a:endParaRPr lang="ko-KR"/>
          </a:p>
        </p:txBody>
      </p:sp>
      <p:sp>
        <p:nvSpPr>
          <p:cNvPr id="901" name="header_bar">
            <a:extLst>
              <a:ext uri="{FF2B5EF4-FFF2-40B4-BE49-F238E27FC236}">
                <a16:creationId xmlns:a16="http://schemas.microsoft.com/office/drawing/2014/main" id="{02D0A539-8233-FCEC-A8EE-13B43D8B066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2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 lang="ko-KR"/>
          </a:p>
        </p:txBody>
      </p:sp>
      <p:sp>
        <p:nvSpPr>
          <p:cNvPr id="902" name="accent_stripe">
            <a:extLst>
              <a:ext uri="{FF2B5EF4-FFF2-40B4-BE49-F238E27FC236}">
                <a16:creationId xmlns:a16="http://schemas.microsoft.com/office/drawing/2014/main" id="{C0945449-6A2C-1498-EF85-4C47A48AD3B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0000" cy="820000"/>
          </a:xfrm>
          <a:prstGeom prst="rect">
            <a:avLst/>
          </a:prstGeom>
          <a:solidFill>
            <a:srgbClr val="E05A1A"/>
          </a:solidFill>
        </p:spPr>
        <p:txBody>
          <a:bodyPr/>
          <a:lstStyle/>
          <a:p>
            <a:endParaRPr lang="ko-KR"/>
          </a:p>
        </p:txBody>
      </p:sp>
      <p:sp>
        <p:nvSpPr>
          <p:cNvPr id="904" name="step_badge">
            <a:extLst>
              <a:ext uri="{FF2B5EF4-FFF2-40B4-BE49-F238E27FC236}">
                <a16:creationId xmlns:a16="http://schemas.microsoft.com/office/drawing/2014/main" id="{284F6F21-2BE1-8473-6620-C368D92FF882}"/>
              </a:ext>
            </a:extLst>
          </p:cNvPr>
          <p:cNvSpPr>
            <a:spLocks noGrp="1"/>
          </p:cNvSpPr>
          <p:nvPr/>
        </p:nvSpPr>
        <p:spPr>
          <a:xfrm>
            <a:off x="11492000" y="0"/>
            <a:ext cx="700000" cy="820000"/>
          </a:xfrm>
          <a:prstGeom prst="rect">
            <a:avLst/>
          </a:prstGeom>
          <a:solidFill>
            <a:srgbClr val="E05A1A"/>
          </a:solidFill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910" name="cat_badge">
            <a:extLst>
              <a:ext uri="{FF2B5EF4-FFF2-40B4-BE49-F238E27FC236}">
                <a16:creationId xmlns:a16="http://schemas.microsoft.com/office/drawing/2014/main" id="{6E971927-64DA-53C5-42B9-DBBCE0BCF03E}"/>
              </a:ext>
            </a:extLst>
          </p:cNvPr>
          <p:cNvSpPr>
            <a:spLocks noGrp="1"/>
          </p:cNvSpPr>
          <p:nvPr/>
        </p:nvSpPr>
        <p:spPr>
          <a:xfrm>
            <a:off x="320000" y="110000"/>
            <a:ext cx="1350000" cy="600000"/>
          </a:xfrm>
          <a:prstGeom prst="roundRect">
            <a:avLst>
              <a:gd name="adj" fmla="val 20000"/>
            </a:avLst>
          </a:prstGeom>
          <a:solidFill>
            <a:srgbClr val="E05A1A">
              <a:alpha val="28000"/>
            </a:srgbClr>
          </a:solidFill>
          <a:ln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400" b="1" dirty="0">
                <a:solidFill>
                  <a:srgbClr val="FFBB88"/>
                </a:solidFill>
              </a:rPr>
              <a:t>알고리즘</a:t>
            </a:r>
          </a:p>
        </p:txBody>
      </p:sp>
      <p:sp>
        <p:nvSpPr>
          <p:cNvPr id="903" name="header_title">
            <a:extLst>
              <a:ext uri="{FF2B5EF4-FFF2-40B4-BE49-F238E27FC236}">
                <a16:creationId xmlns:a16="http://schemas.microsoft.com/office/drawing/2014/main" id="{2F4D77D9-DA10-E6DE-CC8E-DA663D120CC4}"/>
              </a:ext>
            </a:extLst>
          </p:cNvPr>
          <p:cNvSpPr txBox="1"/>
          <p:nvPr/>
        </p:nvSpPr>
        <p:spPr>
          <a:xfrm>
            <a:off x="1830000" y="0"/>
            <a:ext cx="9562000" cy="8200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r>
              <a:rPr lang="ko-KR" altLang="en-US" sz="2000" b="1" dirty="0">
                <a:solidFill>
                  <a:srgbClr val="FFFFFF"/>
                </a:solidFill>
              </a:rPr>
              <a:t>핵심 알고리즘 상세</a:t>
            </a:r>
          </a:p>
        </p:txBody>
      </p:sp>
      <p:grpSp>
        <p:nvGrpSpPr>
          <p:cNvPr id="919" name="그룹 918">
            <a:extLst>
              <a:ext uri="{FF2B5EF4-FFF2-40B4-BE49-F238E27FC236}">
                <a16:creationId xmlns:a16="http://schemas.microsoft.com/office/drawing/2014/main" id="{93DC12DF-E965-9D8E-15B2-F164A63FA1D6}"/>
              </a:ext>
            </a:extLst>
          </p:cNvPr>
          <p:cNvGrpSpPr/>
          <p:nvPr/>
        </p:nvGrpSpPr>
        <p:grpSpPr>
          <a:xfrm>
            <a:off x="1031431" y="1270671"/>
            <a:ext cx="10129137" cy="4905842"/>
            <a:chOff x="274320" y="960120"/>
            <a:chExt cx="8595360" cy="3977640"/>
          </a:xfrm>
        </p:grpSpPr>
        <p:sp>
          <p:nvSpPr>
            <p:cNvPr id="3" name="Shape 3">
              <a:extLst>
                <a:ext uri="{FF2B5EF4-FFF2-40B4-BE49-F238E27FC236}">
                  <a16:creationId xmlns:a16="http://schemas.microsoft.com/office/drawing/2014/main" id="{0F366FF7-952A-47C8-40CB-490968127D86}"/>
                </a:ext>
              </a:extLst>
            </p:cNvPr>
            <p:cNvSpPr/>
            <p:nvPr/>
          </p:nvSpPr>
          <p:spPr>
            <a:xfrm>
              <a:off x="274320" y="960120"/>
              <a:ext cx="4114800" cy="3977640"/>
            </a:xfrm>
            <a:prstGeom prst="rect">
              <a:avLst/>
            </a:prstGeom>
            <a:solidFill>
              <a:srgbClr val="0D2340"/>
            </a:solidFill>
            <a:ln w="15240">
              <a:solidFill>
                <a:srgbClr val="4A9FE8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5" name="Shape 4">
              <a:extLst>
                <a:ext uri="{FF2B5EF4-FFF2-40B4-BE49-F238E27FC236}">
                  <a16:creationId xmlns:a16="http://schemas.microsoft.com/office/drawing/2014/main" id="{EB2E3D06-C476-EC81-D371-6CD9739FE527}"/>
                </a:ext>
              </a:extLst>
            </p:cNvPr>
            <p:cNvSpPr/>
            <p:nvPr/>
          </p:nvSpPr>
          <p:spPr>
            <a:xfrm>
              <a:off x="274320" y="960120"/>
              <a:ext cx="4114800" cy="384048"/>
            </a:xfrm>
            <a:prstGeom prst="rect">
              <a:avLst/>
            </a:prstGeom>
            <a:solidFill>
              <a:srgbClr val="4A9FE8"/>
            </a:solidFill>
            <a:ln w="1270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6" name="Text 5">
              <a:extLst>
                <a:ext uri="{FF2B5EF4-FFF2-40B4-BE49-F238E27FC236}">
                  <a16:creationId xmlns:a16="http://schemas.microsoft.com/office/drawing/2014/main" id="{CD414606-A8BE-86D9-3E73-26BAECFA62BC}"/>
                </a:ext>
              </a:extLst>
            </p:cNvPr>
            <p:cNvSpPr/>
            <p:nvPr/>
          </p:nvSpPr>
          <p:spPr>
            <a:xfrm>
              <a:off x="320040" y="960120"/>
              <a:ext cx="402336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B2A4A"/>
                  </a:solidFill>
                </a:rPr>
                <a:t>⚙  볼트 검사 (CheckBolt)</a:t>
              </a:r>
              <a:endParaRPr lang="en-US" sz="1600" dirty="0"/>
            </a:p>
          </p:txBody>
        </p:sp>
        <p:sp>
          <p:nvSpPr>
            <p:cNvPr id="7" name="Shape 6">
              <a:extLst>
                <a:ext uri="{FF2B5EF4-FFF2-40B4-BE49-F238E27FC236}">
                  <a16:creationId xmlns:a16="http://schemas.microsoft.com/office/drawing/2014/main" id="{D3C45627-FDFB-ABB4-B9FF-FBBD70889F05}"/>
                </a:ext>
              </a:extLst>
            </p:cNvPr>
            <p:cNvSpPr/>
            <p:nvPr/>
          </p:nvSpPr>
          <p:spPr>
            <a:xfrm>
              <a:off x="411480" y="1572768"/>
              <a:ext cx="347472" cy="347472"/>
            </a:xfrm>
            <a:prstGeom prst="ellipse">
              <a:avLst/>
            </a:prstGeom>
            <a:solidFill>
              <a:srgbClr val="4A9FE8"/>
            </a:solidFill>
            <a:ln w="1270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5AF64B9B-F122-292F-100F-8549FD370D51}"/>
                </a:ext>
              </a:extLst>
            </p:cNvPr>
            <p:cNvSpPr/>
            <p:nvPr/>
          </p:nvSpPr>
          <p:spPr>
            <a:xfrm>
              <a:off x="411480" y="1572768"/>
              <a:ext cx="347472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B2A4A"/>
                  </a:solidFill>
                </a:rPr>
                <a:t>1</a:t>
              </a:r>
              <a:endParaRPr lang="en-US" sz="1400" dirty="0"/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37A6F9EE-07C7-8E69-2715-500346A7068B}"/>
                </a:ext>
              </a:extLst>
            </p:cNvPr>
            <p:cNvSpPr/>
            <p:nvPr/>
          </p:nvSpPr>
          <p:spPr>
            <a:xfrm>
              <a:off x="841248" y="1545336"/>
              <a:ext cx="33832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7DC0F5"/>
                  </a:solidFill>
                </a:rPr>
                <a:t>ROI 설정</a:t>
              </a:r>
              <a:endParaRPr lang="en-US" sz="1400" dirty="0"/>
            </a:p>
          </p:txBody>
        </p:sp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D98C5D80-E7CE-331C-3B0A-BDAC53E56355}"/>
                </a:ext>
              </a:extLst>
            </p:cNvPr>
            <p:cNvSpPr/>
            <p:nvPr/>
          </p:nvSpPr>
          <p:spPr>
            <a:xfrm>
              <a:off x="841248" y="1810512"/>
              <a:ext cx="33832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400" dirty="0">
                  <a:solidFill>
                    <a:srgbClr val="AABEDD"/>
                  </a:solidFill>
                </a:rPr>
                <a:t>볼트 위치(상/하)에 따라</a:t>
              </a:r>
              <a:endParaRPr lang="en-US" sz="1400" dirty="0"/>
            </a:p>
            <a:p>
              <a:pPr marL="0" indent="0">
                <a:lnSpc>
                  <a:spcPct val="120000"/>
                </a:lnSpc>
                <a:buNone/>
              </a:pPr>
              <a:r>
                <a:rPr lang="en-US" sz="1400" dirty="0">
                  <a:solidFill>
                    <a:srgbClr val="AABEDD"/>
                  </a:solidFill>
                </a:rPr>
                <a:t>건반 높이 10% 영역 지정</a:t>
              </a:r>
              <a:endParaRPr lang="en-US" sz="1400" dirty="0"/>
            </a:p>
          </p:txBody>
        </p:sp>
        <p:sp>
          <p:nvSpPr>
            <p:cNvPr id="12" name="Shape 10">
              <a:extLst>
                <a:ext uri="{FF2B5EF4-FFF2-40B4-BE49-F238E27FC236}">
                  <a16:creationId xmlns:a16="http://schemas.microsoft.com/office/drawing/2014/main" id="{26EF7FE2-6252-9738-7FCC-8F23D6C23384}"/>
                </a:ext>
              </a:extLst>
            </p:cNvPr>
            <p:cNvSpPr/>
            <p:nvPr/>
          </p:nvSpPr>
          <p:spPr>
            <a:xfrm>
              <a:off x="411480" y="2395728"/>
              <a:ext cx="347472" cy="347472"/>
            </a:xfrm>
            <a:prstGeom prst="ellipse">
              <a:avLst/>
            </a:prstGeom>
            <a:solidFill>
              <a:srgbClr val="4A9FE8"/>
            </a:solidFill>
            <a:ln w="1270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29761807-48C5-896D-7201-5AE68DB9F386}"/>
                </a:ext>
              </a:extLst>
            </p:cNvPr>
            <p:cNvSpPr/>
            <p:nvPr/>
          </p:nvSpPr>
          <p:spPr>
            <a:xfrm>
              <a:off x="411480" y="2395728"/>
              <a:ext cx="347472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B2A4A"/>
                  </a:solidFill>
                </a:rPr>
                <a:t>2</a:t>
              </a:r>
              <a:endParaRPr lang="en-US" sz="1400" dirty="0"/>
            </a:p>
          </p:txBody>
        </p:sp>
        <p:sp>
          <p:nvSpPr>
            <p:cNvPr id="14" name="Text 12">
              <a:extLst>
                <a:ext uri="{FF2B5EF4-FFF2-40B4-BE49-F238E27FC236}">
                  <a16:creationId xmlns:a16="http://schemas.microsoft.com/office/drawing/2014/main" id="{CE311062-65FD-B5A8-4C0C-34A44812E156}"/>
                </a:ext>
              </a:extLst>
            </p:cNvPr>
            <p:cNvSpPr/>
            <p:nvPr/>
          </p:nvSpPr>
          <p:spPr>
            <a:xfrm>
              <a:off x="841248" y="2368296"/>
              <a:ext cx="33832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7DC0F5"/>
                  </a:solidFill>
                </a:rPr>
                <a:t>Threshold</a:t>
              </a:r>
              <a:endParaRPr lang="en-US" sz="1400" dirty="0"/>
            </a:p>
          </p:txBody>
        </p:sp>
        <p:sp>
          <p:nvSpPr>
            <p:cNvPr id="15" name="Text 13">
              <a:extLst>
                <a:ext uri="{FF2B5EF4-FFF2-40B4-BE49-F238E27FC236}">
                  <a16:creationId xmlns:a16="http://schemas.microsoft.com/office/drawing/2014/main" id="{55E773B8-3891-5CBC-8B10-D0E46847ECDA}"/>
                </a:ext>
              </a:extLst>
            </p:cNvPr>
            <p:cNvSpPr/>
            <p:nvPr/>
          </p:nvSpPr>
          <p:spPr>
            <a:xfrm>
              <a:off x="841248" y="2633472"/>
              <a:ext cx="33832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400" dirty="0">
                  <a:solidFill>
                    <a:srgbClr val="AABEDD"/>
                  </a:solidFill>
                </a:rPr>
                <a:t>Gray 이미지 → 이진화</a:t>
              </a:r>
              <a:endParaRPr lang="en-US" sz="1400" dirty="0"/>
            </a:p>
            <a:p>
              <a:pPr marL="0" indent="0">
                <a:lnSpc>
                  <a:spcPct val="120000"/>
                </a:lnSpc>
                <a:buNone/>
              </a:pPr>
              <a:r>
                <a:rPr lang="en-US" sz="1400" dirty="0">
                  <a:solidFill>
                    <a:srgbClr val="AABEDD"/>
                  </a:solidFill>
                </a:rPr>
                <a:t>(Thresh_Binary_Inv)</a:t>
              </a:r>
              <a:endParaRPr lang="en-US" sz="1400" dirty="0"/>
            </a:p>
          </p:txBody>
        </p:sp>
        <p:sp>
          <p:nvSpPr>
            <p:cNvPr id="16" name="Shape 14">
              <a:extLst>
                <a:ext uri="{FF2B5EF4-FFF2-40B4-BE49-F238E27FC236}">
                  <a16:creationId xmlns:a16="http://schemas.microsoft.com/office/drawing/2014/main" id="{18755E66-9AA8-C1E1-C5C7-F48DD0C7F5A9}"/>
                </a:ext>
              </a:extLst>
            </p:cNvPr>
            <p:cNvSpPr/>
            <p:nvPr/>
          </p:nvSpPr>
          <p:spPr>
            <a:xfrm>
              <a:off x="411480" y="3218688"/>
              <a:ext cx="347472" cy="347472"/>
            </a:xfrm>
            <a:prstGeom prst="ellipse">
              <a:avLst/>
            </a:prstGeom>
            <a:solidFill>
              <a:srgbClr val="4A9FE8"/>
            </a:solidFill>
            <a:ln w="1270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17" name="Text 15">
              <a:extLst>
                <a:ext uri="{FF2B5EF4-FFF2-40B4-BE49-F238E27FC236}">
                  <a16:creationId xmlns:a16="http://schemas.microsoft.com/office/drawing/2014/main" id="{463F6B81-D3B2-800F-CC68-9D8A38DFE5B0}"/>
                </a:ext>
              </a:extLst>
            </p:cNvPr>
            <p:cNvSpPr/>
            <p:nvPr/>
          </p:nvSpPr>
          <p:spPr>
            <a:xfrm>
              <a:off x="411480" y="3218688"/>
              <a:ext cx="347472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B2A4A"/>
                  </a:solidFill>
                </a:rPr>
                <a:t>3</a:t>
              </a:r>
              <a:endParaRPr lang="en-US" sz="1400" dirty="0"/>
            </a:p>
          </p:txBody>
        </p:sp>
        <p:sp>
          <p:nvSpPr>
            <p:cNvPr id="18" name="Text 16">
              <a:extLst>
                <a:ext uri="{FF2B5EF4-FFF2-40B4-BE49-F238E27FC236}">
                  <a16:creationId xmlns:a16="http://schemas.microsoft.com/office/drawing/2014/main" id="{51F56DC5-A0F5-AEE5-AAFC-2A56FF4C2D56}"/>
                </a:ext>
              </a:extLst>
            </p:cNvPr>
            <p:cNvSpPr/>
            <p:nvPr/>
          </p:nvSpPr>
          <p:spPr>
            <a:xfrm>
              <a:off x="841248" y="3191256"/>
              <a:ext cx="33832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7DC0F5"/>
                  </a:solidFill>
                </a:rPr>
                <a:t>Connected</a:t>
              </a:r>
              <a:endParaRPr lang="en-US" sz="1400" dirty="0"/>
            </a:p>
            <a:p>
              <a:pPr marL="0" indent="0">
                <a:buNone/>
              </a:pPr>
              <a:r>
                <a:rPr lang="en-US" sz="1400" b="1" dirty="0">
                  <a:solidFill>
                    <a:srgbClr val="7DC0F5"/>
                  </a:solidFill>
                </a:rPr>
                <a:t>Components</a:t>
              </a:r>
              <a:endParaRPr lang="en-US" sz="1400" dirty="0"/>
            </a:p>
          </p:txBody>
        </p:sp>
        <p:sp>
          <p:nvSpPr>
            <p:cNvPr id="19" name="Text 17">
              <a:extLst>
                <a:ext uri="{FF2B5EF4-FFF2-40B4-BE49-F238E27FC236}">
                  <a16:creationId xmlns:a16="http://schemas.microsoft.com/office/drawing/2014/main" id="{72CF6329-F60A-12F2-58C3-64857F5587FD}"/>
                </a:ext>
              </a:extLst>
            </p:cNvPr>
            <p:cNvSpPr/>
            <p:nvPr/>
          </p:nvSpPr>
          <p:spPr>
            <a:xfrm>
              <a:off x="841248" y="3456432"/>
              <a:ext cx="33832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400" dirty="0">
                  <a:solidFill>
                    <a:srgbClr val="AABEDD"/>
                  </a:solidFill>
                </a:rPr>
                <a:t>레이블링으로 볼트 후보</a:t>
              </a:r>
              <a:endParaRPr lang="en-US" sz="1400" dirty="0"/>
            </a:p>
            <a:p>
              <a:pPr marL="0" indent="0">
                <a:lnSpc>
                  <a:spcPct val="120000"/>
                </a:lnSpc>
                <a:buNone/>
              </a:pPr>
              <a:r>
                <a:rPr lang="en-US" sz="1400" dirty="0">
                  <a:solidFill>
                    <a:srgbClr val="AABEDD"/>
                  </a:solidFill>
                </a:rPr>
                <a:t>블롭(Blob) 추출</a:t>
              </a:r>
              <a:endParaRPr lang="en-US" sz="1400" dirty="0"/>
            </a:p>
          </p:txBody>
        </p:sp>
        <p:sp>
          <p:nvSpPr>
            <p:cNvPr id="20" name="Shape 18">
              <a:extLst>
                <a:ext uri="{FF2B5EF4-FFF2-40B4-BE49-F238E27FC236}">
                  <a16:creationId xmlns:a16="http://schemas.microsoft.com/office/drawing/2014/main" id="{44F33136-7EE4-168A-950B-8AC4543189F0}"/>
                </a:ext>
              </a:extLst>
            </p:cNvPr>
            <p:cNvSpPr/>
            <p:nvPr/>
          </p:nvSpPr>
          <p:spPr>
            <a:xfrm>
              <a:off x="411480" y="4041648"/>
              <a:ext cx="347472" cy="347472"/>
            </a:xfrm>
            <a:prstGeom prst="ellipse">
              <a:avLst/>
            </a:prstGeom>
            <a:solidFill>
              <a:srgbClr val="4A9FE8"/>
            </a:solidFill>
            <a:ln w="1270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21" name="Text 19">
              <a:extLst>
                <a:ext uri="{FF2B5EF4-FFF2-40B4-BE49-F238E27FC236}">
                  <a16:creationId xmlns:a16="http://schemas.microsoft.com/office/drawing/2014/main" id="{D11E937F-B45E-211D-D183-59BA55E6B200}"/>
                </a:ext>
              </a:extLst>
            </p:cNvPr>
            <p:cNvSpPr/>
            <p:nvPr/>
          </p:nvSpPr>
          <p:spPr>
            <a:xfrm>
              <a:off x="411480" y="4041648"/>
              <a:ext cx="347472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B2A4A"/>
                  </a:solidFill>
                </a:rPr>
                <a:t>4</a:t>
              </a:r>
              <a:endParaRPr lang="en-US" sz="1400" dirty="0"/>
            </a:p>
          </p:txBody>
        </p:sp>
        <p:sp>
          <p:nvSpPr>
            <p:cNvPr id="22" name="Text 20">
              <a:extLst>
                <a:ext uri="{FF2B5EF4-FFF2-40B4-BE49-F238E27FC236}">
                  <a16:creationId xmlns:a16="http://schemas.microsoft.com/office/drawing/2014/main" id="{61A9062B-B501-8131-546E-6736EDD266A6}"/>
                </a:ext>
              </a:extLst>
            </p:cNvPr>
            <p:cNvSpPr/>
            <p:nvPr/>
          </p:nvSpPr>
          <p:spPr>
            <a:xfrm>
              <a:off x="841248" y="4014216"/>
              <a:ext cx="33832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7DC0F5"/>
                  </a:solidFill>
                </a:rPr>
                <a:t>크기 필터링</a:t>
              </a:r>
              <a:endParaRPr lang="en-US" sz="1400" dirty="0"/>
            </a:p>
          </p:txBody>
        </p:sp>
        <p:sp>
          <p:nvSpPr>
            <p:cNvPr id="23" name="Text 21">
              <a:extLst>
                <a:ext uri="{FF2B5EF4-FFF2-40B4-BE49-F238E27FC236}">
                  <a16:creationId xmlns:a16="http://schemas.microsoft.com/office/drawing/2014/main" id="{5853D5D4-0FF4-A9A2-FE99-381A004121D2}"/>
                </a:ext>
              </a:extLst>
            </p:cNvPr>
            <p:cNvSpPr/>
            <p:nvPr/>
          </p:nvSpPr>
          <p:spPr>
            <a:xfrm>
              <a:off x="841248" y="4279392"/>
              <a:ext cx="33832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400" dirty="0">
                  <a:solidFill>
                    <a:srgbClr val="AABEDD"/>
                  </a:solidFill>
                </a:rPr>
                <a:t>면적 범위 검증으로</a:t>
              </a:r>
              <a:endParaRPr lang="en-US" sz="1400" dirty="0"/>
            </a:p>
            <a:p>
              <a:pPr marL="0" indent="0">
                <a:lnSpc>
                  <a:spcPct val="120000"/>
                </a:lnSpc>
                <a:buNone/>
              </a:pPr>
              <a:r>
                <a:rPr lang="en-US" sz="1400" dirty="0">
                  <a:solidFill>
                    <a:srgbClr val="AABEDD"/>
                  </a:solidFill>
                </a:rPr>
                <a:t>실제 볼트 여부 최종 판정</a:t>
              </a:r>
              <a:endParaRPr lang="en-US" sz="1400" dirty="0"/>
            </a:p>
          </p:txBody>
        </p:sp>
        <p:sp>
          <p:nvSpPr>
            <p:cNvPr id="24" name="Shape 22">
              <a:extLst>
                <a:ext uri="{FF2B5EF4-FFF2-40B4-BE49-F238E27FC236}">
                  <a16:creationId xmlns:a16="http://schemas.microsoft.com/office/drawing/2014/main" id="{59E80965-1ECF-ED45-6820-4C9DBFD81B29}"/>
                </a:ext>
              </a:extLst>
            </p:cNvPr>
            <p:cNvSpPr/>
            <p:nvPr/>
          </p:nvSpPr>
          <p:spPr>
            <a:xfrm>
              <a:off x="4754880" y="960120"/>
              <a:ext cx="4114800" cy="3977640"/>
            </a:xfrm>
            <a:prstGeom prst="rect">
              <a:avLst/>
            </a:prstGeom>
            <a:solidFill>
              <a:srgbClr val="1B2A4A"/>
            </a:solidFill>
            <a:ln w="15240">
              <a:solidFill>
                <a:srgbClr val="4A9FE8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25" name="Shape 23">
              <a:extLst>
                <a:ext uri="{FF2B5EF4-FFF2-40B4-BE49-F238E27FC236}">
                  <a16:creationId xmlns:a16="http://schemas.microsoft.com/office/drawing/2014/main" id="{2E4B1FF2-A215-95B3-ED8F-F0B274FCFA29}"/>
                </a:ext>
              </a:extLst>
            </p:cNvPr>
            <p:cNvSpPr/>
            <p:nvPr/>
          </p:nvSpPr>
          <p:spPr>
            <a:xfrm>
              <a:off x="4754880" y="960120"/>
              <a:ext cx="4114800" cy="384048"/>
            </a:xfrm>
            <a:prstGeom prst="rect">
              <a:avLst/>
            </a:prstGeom>
            <a:solidFill>
              <a:srgbClr val="4A9FE8"/>
            </a:solidFill>
            <a:ln w="1270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896" name="Text 24">
              <a:extLst>
                <a:ext uri="{FF2B5EF4-FFF2-40B4-BE49-F238E27FC236}">
                  <a16:creationId xmlns:a16="http://schemas.microsoft.com/office/drawing/2014/main" id="{AA166EDB-E941-6850-8834-7AE281B3EEBB}"/>
                </a:ext>
              </a:extLst>
            </p:cNvPr>
            <p:cNvSpPr/>
            <p:nvPr/>
          </p:nvSpPr>
          <p:spPr>
            <a:xfrm>
              <a:off x="4800600" y="960120"/>
              <a:ext cx="402336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B2A4A"/>
                  </a:solidFill>
                </a:rPr>
                <a:t>🔍  각인 검사 (CheckMark)</a:t>
              </a:r>
              <a:endParaRPr lang="en-US" sz="1600" dirty="0"/>
            </a:p>
          </p:txBody>
        </p:sp>
        <p:sp>
          <p:nvSpPr>
            <p:cNvPr id="897" name="Shape 25">
              <a:extLst>
                <a:ext uri="{FF2B5EF4-FFF2-40B4-BE49-F238E27FC236}">
                  <a16:creationId xmlns:a16="http://schemas.microsoft.com/office/drawing/2014/main" id="{FC117853-A331-44F6-009D-3A32F7C71DA9}"/>
                </a:ext>
              </a:extLst>
            </p:cNvPr>
            <p:cNvSpPr/>
            <p:nvPr/>
          </p:nvSpPr>
          <p:spPr>
            <a:xfrm>
              <a:off x="4892040" y="1572768"/>
              <a:ext cx="347472" cy="347472"/>
            </a:xfrm>
            <a:prstGeom prst="ellipse">
              <a:avLst/>
            </a:prstGeom>
            <a:solidFill>
              <a:srgbClr val="4A9FE8"/>
            </a:solidFill>
            <a:ln w="1270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898" name="Text 26">
              <a:extLst>
                <a:ext uri="{FF2B5EF4-FFF2-40B4-BE49-F238E27FC236}">
                  <a16:creationId xmlns:a16="http://schemas.microsoft.com/office/drawing/2014/main" id="{387A5B80-6379-699A-B98D-B56ED811C08B}"/>
                </a:ext>
              </a:extLst>
            </p:cNvPr>
            <p:cNvSpPr/>
            <p:nvPr/>
          </p:nvSpPr>
          <p:spPr>
            <a:xfrm>
              <a:off x="4892040" y="1572768"/>
              <a:ext cx="347472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B2A4A"/>
                  </a:solidFill>
                </a:rPr>
                <a:t>1</a:t>
              </a:r>
              <a:endParaRPr lang="en-US" sz="1400" dirty="0"/>
            </a:p>
          </p:txBody>
        </p:sp>
        <p:sp>
          <p:nvSpPr>
            <p:cNvPr id="899" name="Text 27">
              <a:extLst>
                <a:ext uri="{FF2B5EF4-FFF2-40B4-BE49-F238E27FC236}">
                  <a16:creationId xmlns:a16="http://schemas.microsoft.com/office/drawing/2014/main" id="{4D56ADA3-F887-DF81-D84C-CD5E8F83B440}"/>
                </a:ext>
              </a:extLst>
            </p:cNvPr>
            <p:cNvSpPr/>
            <p:nvPr/>
          </p:nvSpPr>
          <p:spPr>
            <a:xfrm>
              <a:off x="5321808" y="1545336"/>
              <a:ext cx="33832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D0D8EC"/>
                  </a:solidFill>
                </a:rPr>
                <a:t>중앙 ROI</a:t>
              </a:r>
              <a:endParaRPr lang="en-US" sz="1400" dirty="0"/>
            </a:p>
          </p:txBody>
        </p:sp>
        <p:sp>
          <p:nvSpPr>
            <p:cNvPr id="900" name="Text 28">
              <a:extLst>
                <a:ext uri="{FF2B5EF4-FFF2-40B4-BE49-F238E27FC236}">
                  <a16:creationId xmlns:a16="http://schemas.microsoft.com/office/drawing/2014/main" id="{93B9E900-EAEA-50CD-58D1-B546A49D9919}"/>
                </a:ext>
              </a:extLst>
            </p:cNvPr>
            <p:cNvSpPr/>
            <p:nvPr/>
          </p:nvSpPr>
          <p:spPr>
            <a:xfrm>
              <a:off x="5321808" y="1810512"/>
              <a:ext cx="33832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400" dirty="0">
                  <a:solidFill>
                    <a:srgbClr val="A8BAC8"/>
                  </a:solidFill>
                </a:rPr>
                <a:t>건반 중앙 30~70% 가로</a:t>
              </a:r>
              <a:endParaRPr lang="en-US" sz="1400" dirty="0"/>
            </a:p>
            <a:p>
              <a:pPr marL="0" indent="0">
                <a:lnSpc>
                  <a:spcPct val="120000"/>
                </a:lnSpc>
                <a:buNone/>
              </a:pPr>
              <a:r>
                <a:rPr lang="en-US" sz="1400" dirty="0">
                  <a:solidFill>
                    <a:srgbClr val="A8BAC8"/>
                  </a:solidFill>
                </a:rPr>
                <a:t>50~75% 세로 영역 추출</a:t>
              </a:r>
              <a:endParaRPr lang="en-US" sz="1400" dirty="0"/>
            </a:p>
          </p:txBody>
        </p:sp>
        <p:sp>
          <p:nvSpPr>
            <p:cNvPr id="906" name="Shape 29">
              <a:extLst>
                <a:ext uri="{FF2B5EF4-FFF2-40B4-BE49-F238E27FC236}">
                  <a16:creationId xmlns:a16="http://schemas.microsoft.com/office/drawing/2014/main" id="{048C1639-B7F0-E5DD-5063-5E390B437595}"/>
                </a:ext>
              </a:extLst>
            </p:cNvPr>
            <p:cNvSpPr/>
            <p:nvPr/>
          </p:nvSpPr>
          <p:spPr>
            <a:xfrm>
              <a:off x="4892040" y="2395728"/>
              <a:ext cx="347472" cy="347472"/>
            </a:xfrm>
            <a:prstGeom prst="ellipse">
              <a:avLst/>
            </a:prstGeom>
            <a:solidFill>
              <a:srgbClr val="4A9FE8"/>
            </a:solidFill>
            <a:ln w="1270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907" name="Text 30">
              <a:extLst>
                <a:ext uri="{FF2B5EF4-FFF2-40B4-BE49-F238E27FC236}">
                  <a16:creationId xmlns:a16="http://schemas.microsoft.com/office/drawing/2014/main" id="{F240CAED-930F-D424-19B8-D9246E8F7EF9}"/>
                </a:ext>
              </a:extLst>
            </p:cNvPr>
            <p:cNvSpPr/>
            <p:nvPr/>
          </p:nvSpPr>
          <p:spPr>
            <a:xfrm>
              <a:off x="4892040" y="2395728"/>
              <a:ext cx="347472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B2A4A"/>
                  </a:solidFill>
                </a:rPr>
                <a:t>2</a:t>
              </a:r>
              <a:endParaRPr lang="en-US" sz="1400" dirty="0"/>
            </a:p>
          </p:txBody>
        </p:sp>
        <p:sp>
          <p:nvSpPr>
            <p:cNvPr id="908" name="Text 31">
              <a:extLst>
                <a:ext uri="{FF2B5EF4-FFF2-40B4-BE49-F238E27FC236}">
                  <a16:creationId xmlns:a16="http://schemas.microsoft.com/office/drawing/2014/main" id="{03E12B80-D82C-ABF7-5541-3375E620C4F3}"/>
                </a:ext>
              </a:extLst>
            </p:cNvPr>
            <p:cNvSpPr/>
            <p:nvPr/>
          </p:nvSpPr>
          <p:spPr>
            <a:xfrm>
              <a:off x="5321808" y="2368296"/>
              <a:ext cx="33832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D0D8EC"/>
                  </a:solidFill>
                </a:rPr>
                <a:t>CLAHE</a:t>
              </a:r>
              <a:endParaRPr lang="en-US" sz="1400" dirty="0"/>
            </a:p>
          </p:txBody>
        </p:sp>
        <p:sp>
          <p:nvSpPr>
            <p:cNvPr id="909" name="Text 32">
              <a:extLst>
                <a:ext uri="{FF2B5EF4-FFF2-40B4-BE49-F238E27FC236}">
                  <a16:creationId xmlns:a16="http://schemas.microsoft.com/office/drawing/2014/main" id="{3449EB85-6346-F729-DE3A-63D995DF0B7A}"/>
                </a:ext>
              </a:extLst>
            </p:cNvPr>
            <p:cNvSpPr/>
            <p:nvPr/>
          </p:nvSpPr>
          <p:spPr>
            <a:xfrm>
              <a:off x="5321808" y="2633472"/>
              <a:ext cx="33832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400" dirty="0">
                  <a:solidFill>
                    <a:srgbClr val="A8BAC8"/>
                  </a:solidFill>
                </a:rPr>
                <a:t>로컬 대비 향상</a:t>
              </a:r>
              <a:endParaRPr lang="en-US" sz="1400" dirty="0"/>
            </a:p>
            <a:p>
              <a:pPr marL="0" indent="0">
                <a:lnSpc>
                  <a:spcPct val="120000"/>
                </a:lnSpc>
                <a:buNone/>
              </a:pPr>
              <a:r>
                <a:rPr lang="en-US" sz="1400" dirty="0">
                  <a:solidFill>
                    <a:srgbClr val="A8BAC8"/>
                  </a:solidFill>
                </a:rPr>
                <a:t>(clipLimit 1.8, tile 8×8)</a:t>
              </a:r>
              <a:endParaRPr lang="en-US" sz="1400" dirty="0"/>
            </a:p>
          </p:txBody>
        </p:sp>
        <p:sp>
          <p:nvSpPr>
            <p:cNvPr id="911" name="Shape 33">
              <a:extLst>
                <a:ext uri="{FF2B5EF4-FFF2-40B4-BE49-F238E27FC236}">
                  <a16:creationId xmlns:a16="http://schemas.microsoft.com/office/drawing/2014/main" id="{2077DDDA-33E1-EC08-CCEC-06D5414797BE}"/>
                </a:ext>
              </a:extLst>
            </p:cNvPr>
            <p:cNvSpPr/>
            <p:nvPr/>
          </p:nvSpPr>
          <p:spPr>
            <a:xfrm>
              <a:off x="4892040" y="3218688"/>
              <a:ext cx="347472" cy="347472"/>
            </a:xfrm>
            <a:prstGeom prst="ellipse">
              <a:avLst/>
            </a:prstGeom>
            <a:solidFill>
              <a:srgbClr val="4A9FE8"/>
            </a:solidFill>
            <a:ln w="1270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912" name="Text 34">
              <a:extLst>
                <a:ext uri="{FF2B5EF4-FFF2-40B4-BE49-F238E27FC236}">
                  <a16:creationId xmlns:a16="http://schemas.microsoft.com/office/drawing/2014/main" id="{D9B45F6E-7263-1AC5-A617-D2BD59369BE3}"/>
                </a:ext>
              </a:extLst>
            </p:cNvPr>
            <p:cNvSpPr/>
            <p:nvPr/>
          </p:nvSpPr>
          <p:spPr>
            <a:xfrm>
              <a:off x="4892040" y="3218688"/>
              <a:ext cx="347472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B2A4A"/>
                  </a:solidFill>
                </a:rPr>
                <a:t>3</a:t>
              </a:r>
              <a:endParaRPr lang="en-US" sz="1400" dirty="0"/>
            </a:p>
          </p:txBody>
        </p:sp>
        <p:sp>
          <p:nvSpPr>
            <p:cNvPr id="913" name="Text 35">
              <a:extLst>
                <a:ext uri="{FF2B5EF4-FFF2-40B4-BE49-F238E27FC236}">
                  <a16:creationId xmlns:a16="http://schemas.microsoft.com/office/drawing/2014/main" id="{F8615AF3-DBEA-9C7D-029D-D83AC03170B4}"/>
                </a:ext>
              </a:extLst>
            </p:cNvPr>
            <p:cNvSpPr/>
            <p:nvPr/>
          </p:nvSpPr>
          <p:spPr>
            <a:xfrm>
              <a:off x="5321808" y="3191256"/>
              <a:ext cx="33832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D0D8EC"/>
                  </a:solidFill>
                </a:rPr>
                <a:t>Gaussian Blur</a:t>
              </a:r>
              <a:endParaRPr lang="en-US" sz="1400" dirty="0"/>
            </a:p>
          </p:txBody>
        </p:sp>
        <p:sp>
          <p:nvSpPr>
            <p:cNvPr id="914" name="Text 36">
              <a:extLst>
                <a:ext uri="{FF2B5EF4-FFF2-40B4-BE49-F238E27FC236}">
                  <a16:creationId xmlns:a16="http://schemas.microsoft.com/office/drawing/2014/main" id="{EDD2C519-7565-BDD6-671C-7043A242AC42}"/>
                </a:ext>
              </a:extLst>
            </p:cNvPr>
            <p:cNvSpPr/>
            <p:nvPr/>
          </p:nvSpPr>
          <p:spPr>
            <a:xfrm>
              <a:off x="5321808" y="3456432"/>
              <a:ext cx="33832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400" dirty="0">
                  <a:solidFill>
                    <a:srgbClr val="A8BAC8"/>
                  </a:solidFill>
                </a:rPr>
                <a:t>GaussianBlur(3×3)</a:t>
              </a:r>
              <a:endParaRPr lang="en-US" sz="1400" dirty="0"/>
            </a:p>
            <a:p>
              <a:pPr marL="0" indent="0">
                <a:lnSpc>
                  <a:spcPct val="120000"/>
                </a:lnSpc>
                <a:buNone/>
              </a:pPr>
              <a:r>
                <a:rPr lang="en-US" sz="1400" dirty="0">
                  <a:solidFill>
                    <a:srgbClr val="A8BAC8"/>
                  </a:solidFill>
                </a:rPr>
                <a:t>미세 노이즈 제거</a:t>
              </a:r>
              <a:endParaRPr lang="en-US" sz="1400" dirty="0"/>
            </a:p>
          </p:txBody>
        </p:sp>
        <p:sp>
          <p:nvSpPr>
            <p:cNvPr id="915" name="Shape 37">
              <a:extLst>
                <a:ext uri="{FF2B5EF4-FFF2-40B4-BE49-F238E27FC236}">
                  <a16:creationId xmlns:a16="http://schemas.microsoft.com/office/drawing/2014/main" id="{52593B8F-516E-6BE5-F86D-D99A5264DF6A}"/>
                </a:ext>
              </a:extLst>
            </p:cNvPr>
            <p:cNvSpPr/>
            <p:nvPr/>
          </p:nvSpPr>
          <p:spPr>
            <a:xfrm>
              <a:off x="4892040" y="4041648"/>
              <a:ext cx="347472" cy="347472"/>
            </a:xfrm>
            <a:prstGeom prst="ellipse">
              <a:avLst/>
            </a:prstGeom>
            <a:solidFill>
              <a:srgbClr val="4A9FE8"/>
            </a:solidFill>
            <a:ln w="1270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916" name="Text 38">
              <a:extLst>
                <a:ext uri="{FF2B5EF4-FFF2-40B4-BE49-F238E27FC236}">
                  <a16:creationId xmlns:a16="http://schemas.microsoft.com/office/drawing/2014/main" id="{97A8B566-6295-742B-31A0-D6025F783670}"/>
                </a:ext>
              </a:extLst>
            </p:cNvPr>
            <p:cNvSpPr/>
            <p:nvPr/>
          </p:nvSpPr>
          <p:spPr>
            <a:xfrm>
              <a:off x="4892040" y="4041648"/>
              <a:ext cx="347472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B2A4A"/>
                  </a:solidFill>
                </a:rPr>
                <a:t>4</a:t>
              </a:r>
              <a:endParaRPr lang="en-US" sz="1400" dirty="0"/>
            </a:p>
          </p:txBody>
        </p:sp>
        <p:sp>
          <p:nvSpPr>
            <p:cNvPr id="917" name="Text 39">
              <a:extLst>
                <a:ext uri="{FF2B5EF4-FFF2-40B4-BE49-F238E27FC236}">
                  <a16:creationId xmlns:a16="http://schemas.microsoft.com/office/drawing/2014/main" id="{6544A1F1-DC53-5A5E-8F82-1C35BA4B7A19}"/>
                </a:ext>
              </a:extLst>
            </p:cNvPr>
            <p:cNvSpPr/>
            <p:nvPr/>
          </p:nvSpPr>
          <p:spPr>
            <a:xfrm>
              <a:off x="5321808" y="4014216"/>
              <a:ext cx="33832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D0D8EC"/>
                  </a:solidFill>
                </a:rPr>
                <a:t>Laplacian</a:t>
              </a:r>
              <a:endParaRPr lang="en-US" sz="1400" dirty="0"/>
            </a:p>
            <a:p>
              <a:pPr marL="0" indent="0">
                <a:buNone/>
              </a:pPr>
              <a:r>
                <a:rPr lang="en-US" sz="1400" b="1" dirty="0">
                  <a:solidFill>
                    <a:srgbClr val="D0D8EC"/>
                  </a:solidFill>
                </a:rPr>
                <a:t>선명도 판정</a:t>
              </a:r>
              <a:endParaRPr lang="en-US" sz="1400" dirty="0"/>
            </a:p>
          </p:txBody>
        </p:sp>
        <p:sp>
          <p:nvSpPr>
            <p:cNvPr id="918" name="Text 40">
              <a:extLst>
                <a:ext uri="{FF2B5EF4-FFF2-40B4-BE49-F238E27FC236}">
                  <a16:creationId xmlns:a16="http://schemas.microsoft.com/office/drawing/2014/main" id="{CCA88798-A34E-29D4-782E-38B1F67F3F20}"/>
                </a:ext>
              </a:extLst>
            </p:cNvPr>
            <p:cNvSpPr/>
            <p:nvPr/>
          </p:nvSpPr>
          <p:spPr>
            <a:xfrm>
              <a:off x="5321808" y="4279392"/>
              <a:ext cx="33832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400" dirty="0">
                  <a:solidFill>
                    <a:srgbClr val="A8BAC8"/>
                  </a:solidFill>
                </a:rPr>
                <a:t>stddev &gt; 9.0 &amp;&amp;</a:t>
              </a:r>
              <a:endParaRPr lang="en-US" sz="1400" dirty="0"/>
            </a:p>
            <a:p>
              <a:pPr marL="0" indent="0">
                <a:lnSpc>
                  <a:spcPct val="120000"/>
                </a:lnSpc>
                <a:buNone/>
              </a:pPr>
              <a:r>
                <a:rPr lang="en-US" sz="1400" dirty="0">
                  <a:solidFill>
                    <a:srgbClr val="A8BAC8"/>
                  </a:solidFill>
                </a:rPr>
                <a:t>lapStd &gt; 2.8 → Mark OK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252871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42013-75D9-3D8D-30D1-1D695AABE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content_bg">
            <a:extLst>
              <a:ext uri="{FF2B5EF4-FFF2-40B4-BE49-F238E27FC236}">
                <a16:creationId xmlns:a16="http://schemas.microsoft.com/office/drawing/2014/main" id="{B6B58BAC-542C-936C-4622-7261DA6142B5}"/>
              </a:ext>
            </a:extLst>
          </p:cNvPr>
          <p:cNvSpPr>
            <a:spLocks noGrp="1"/>
          </p:cNvSpPr>
          <p:nvPr/>
        </p:nvSpPr>
        <p:spPr>
          <a:xfrm>
            <a:off x="0" y="820000"/>
            <a:ext cx="12192000" cy="6038000"/>
          </a:xfrm>
          <a:prstGeom prst="rect">
            <a:avLst/>
          </a:prstGeom>
          <a:solidFill>
            <a:srgbClr val="EEF1F5"/>
          </a:solidFill>
        </p:spPr>
        <p:txBody>
          <a:bodyPr/>
          <a:lstStyle/>
          <a:p>
            <a:endParaRPr lang="ko-KR"/>
          </a:p>
        </p:txBody>
      </p:sp>
      <p:sp>
        <p:nvSpPr>
          <p:cNvPr id="901" name="header_bar">
            <a:extLst>
              <a:ext uri="{FF2B5EF4-FFF2-40B4-BE49-F238E27FC236}">
                <a16:creationId xmlns:a16="http://schemas.microsoft.com/office/drawing/2014/main" id="{CB54FF5D-E92F-2E9A-EC41-2DE0209CA7D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2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 lang="ko-KR"/>
          </a:p>
        </p:txBody>
      </p:sp>
      <p:sp>
        <p:nvSpPr>
          <p:cNvPr id="902" name="accent_stripe">
            <a:extLst>
              <a:ext uri="{FF2B5EF4-FFF2-40B4-BE49-F238E27FC236}">
                <a16:creationId xmlns:a16="http://schemas.microsoft.com/office/drawing/2014/main" id="{AE4D9E6E-5621-F32F-271C-1C00E6E54FF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0000" cy="820000"/>
          </a:xfrm>
          <a:prstGeom prst="rect">
            <a:avLst/>
          </a:prstGeom>
          <a:solidFill>
            <a:srgbClr val="E05A1A"/>
          </a:solidFill>
        </p:spPr>
        <p:txBody>
          <a:bodyPr/>
          <a:lstStyle/>
          <a:p>
            <a:endParaRPr lang="ko-KR"/>
          </a:p>
        </p:txBody>
      </p:sp>
      <p:sp>
        <p:nvSpPr>
          <p:cNvPr id="904" name="step_badge">
            <a:extLst>
              <a:ext uri="{FF2B5EF4-FFF2-40B4-BE49-F238E27FC236}">
                <a16:creationId xmlns:a16="http://schemas.microsoft.com/office/drawing/2014/main" id="{016A28E4-EE66-00D6-B543-7FDDF993A1A9}"/>
              </a:ext>
            </a:extLst>
          </p:cNvPr>
          <p:cNvSpPr>
            <a:spLocks noGrp="1"/>
          </p:cNvSpPr>
          <p:nvPr/>
        </p:nvSpPr>
        <p:spPr>
          <a:xfrm>
            <a:off x="11492000" y="0"/>
            <a:ext cx="700000" cy="820000"/>
          </a:xfrm>
          <a:prstGeom prst="rect">
            <a:avLst/>
          </a:prstGeom>
          <a:solidFill>
            <a:srgbClr val="E05A1A"/>
          </a:solidFill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910" name="cat_badge">
            <a:extLst>
              <a:ext uri="{FF2B5EF4-FFF2-40B4-BE49-F238E27FC236}">
                <a16:creationId xmlns:a16="http://schemas.microsoft.com/office/drawing/2014/main" id="{D9B26A09-DF89-2355-93EA-7D2BE992A881}"/>
              </a:ext>
            </a:extLst>
          </p:cNvPr>
          <p:cNvSpPr>
            <a:spLocks noGrp="1"/>
          </p:cNvSpPr>
          <p:nvPr/>
        </p:nvSpPr>
        <p:spPr>
          <a:xfrm>
            <a:off x="320000" y="110000"/>
            <a:ext cx="1350000" cy="600000"/>
          </a:xfrm>
          <a:prstGeom prst="roundRect">
            <a:avLst>
              <a:gd name="adj" fmla="val 20000"/>
            </a:avLst>
          </a:prstGeom>
          <a:solidFill>
            <a:srgbClr val="E05A1A">
              <a:alpha val="28000"/>
            </a:srgbClr>
          </a:solidFill>
          <a:ln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400" b="1" dirty="0">
                <a:solidFill>
                  <a:srgbClr val="FFBB88"/>
                </a:solidFill>
              </a:rPr>
              <a:t>검사 흐름</a:t>
            </a:r>
          </a:p>
        </p:txBody>
      </p:sp>
      <p:sp>
        <p:nvSpPr>
          <p:cNvPr id="903" name="header_title">
            <a:extLst>
              <a:ext uri="{FF2B5EF4-FFF2-40B4-BE49-F238E27FC236}">
                <a16:creationId xmlns:a16="http://schemas.microsoft.com/office/drawing/2014/main" id="{0DA51262-E4BD-0F5F-DD5D-9158B91BBAB5}"/>
              </a:ext>
            </a:extLst>
          </p:cNvPr>
          <p:cNvSpPr txBox="1"/>
          <p:nvPr/>
        </p:nvSpPr>
        <p:spPr>
          <a:xfrm>
            <a:off x="1830000" y="0"/>
            <a:ext cx="9562000" cy="8200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r>
              <a:rPr lang="ko-KR" altLang="en-US" sz="2000" b="1" dirty="0">
                <a:solidFill>
                  <a:srgbClr val="FFFFFF"/>
                </a:solidFill>
              </a:rPr>
              <a:t>검사 실행 흐름 (1 Cycle)</a:t>
            </a: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72A3A91B-40CC-50E2-8258-F5D50A51A533}"/>
              </a:ext>
            </a:extLst>
          </p:cNvPr>
          <p:cNvGrpSpPr/>
          <p:nvPr/>
        </p:nvGrpSpPr>
        <p:grpSpPr>
          <a:xfrm>
            <a:off x="2577572" y="1255760"/>
            <a:ext cx="6963243" cy="5093281"/>
            <a:chOff x="1645920" y="1005840"/>
            <a:chExt cx="5852160" cy="4041648"/>
          </a:xfrm>
        </p:grpSpPr>
        <p:sp>
          <p:nvSpPr>
            <p:cNvPr id="2" name="Shape 3">
              <a:extLst>
                <a:ext uri="{FF2B5EF4-FFF2-40B4-BE49-F238E27FC236}">
                  <a16:creationId xmlns:a16="http://schemas.microsoft.com/office/drawing/2014/main" id="{97D79DF7-7FC6-8C38-B67D-1EF4332BD6CA}"/>
                </a:ext>
              </a:extLst>
            </p:cNvPr>
            <p:cNvSpPr/>
            <p:nvPr/>
          </p:nvSpPr>
          <p:spPr>
            <a:xfrm>
              <a:off x="1645920" y="1005840"/>
              <a:ext cx="5852160" cy="594360"/>
            </a:xfrm>
            <a:prstGeom prst="rect">
              <a:avLst/>
            </a:prstGeom>
            <a:solidFill>
              <a:srgbClr val="2E4470"/>
            </a:solidFill>
            <a:ln w="10160">
              <a:solidFill>
                <a:srgbClr val="4A9FE8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3" name="Text 4">
              <a:extLst>
                <a:ext uri="{FF2B5EF4-FFF2-40B4-BE49-F238E27FC236}">
                  <a16:creationId xmlns:a16="http://schemas.microsoft.com/office/drawing/2014/main" id="{6934580B-465D-62FD-DF88-8500B30E98B1}"/>
                </a:ext>
              </a:extLst>
            </p:cNvPr>
            <p:cNvSpPr/>
            <p:nvPr/>
          </p:nvSpPr>
          <p:spPr>
            <a:xfrm>
              <a:off x="1691640" y="1042416"/>
              <a:ext cx="57607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</a:rPr>
                <a:t>① Grab / VirtualGrab</a:t>
              </a:r>
              <a:endParaRPr lang="en-US" sz="1400" dirty="0"/>
            </a:p>
          </p:txBody>
        </p:sp>
        <p:sp>
          <p:nvSpPr>
            <p:cNvPr id="4" name="Text 5">
              <a:extLst>
                <a:ext uri="{FF2B5EF4-FFF2-40B4-BE49-F238E27FC236}">
                  <a16:creationId xmlns:a16="http://schemas.microsoft.com/office/drawing/2014/main" id="{EC62B5A4-9F92-A331-7B41-2C5A4FC5B3BB}"/>
                </a:ext>
              </a:extLst>
            </p:cNvPr>
            <p:cNvSpPr/>
            <p:nvPr/>
          </p:nvSpPr>
          <p:spPr>
            <a:xfrm>
              <a:off x="1691640" y="1325880"/>
              <a:ext cx="576072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7DC0F5"/>
                  </a:solidFill>
                </a:rPr>
                <a:t>카메라 촬영 또는 폴더 이미지 로드</a:t>
              </a:r>
              <a:endParaRPr lang="en-US" sz="1400" dirty="0"/>
            </a:p>
          </p:txBody>
        </p:sp>
        <p:sp>
          <p:nvSpPr>
            <p:cNvPr id="5" name="Shape 6">
              <a:extLst>
                <a:ext uri="{FF2B5EF4-FFF2-40B4-BE49-F238E27FC236}">
                  <a16:creationId xmlns:a16="http://schemas.microsoft.com/office/drawing/2014/main" id="{F6670412-3362-F122-566D-0797F503E930}"/>
                </a:ext>
              </a:extLst>
            </p:cNvPr>
            <p:cNvSpPr/>
            <p:nvPr/>
          </p:nvSpPr>
          <p:spPr>
            <a:xfrm>
              <a:off x="4572000" y="1600200"/>
              <a:ext cx="0" cy="155448"/>
            </a:xfrm>
            <a:prstGeom prst="line">
              <a:avLst/>
            </a:prstGeom>
            <a:noFill/>
            <a:ln w="1905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6" name="Shape 7">
              <a:extLst>
                <a:ext uri="{FF2B5EF4-FFF2-40B4-BE49-F238E27FC236}">
                  <a16:creationId xmlns:a16="http://schemas.microsoft.com/office/drawing/2014/main" id="{4BFA665E-DBE4-BD28-140B-7DE1D97878B6}"/>
                </a:ext>
              </a:extLst>
            </p:cNvPr>
            <p:cNvSpPr/>
            <p:nvPr/>
          </p:nvSpPr>
          <p:spPr>
            <a:xfrm>
              <a:off x="1645920" y="1755648"/>
              <a:ext cx="5852160" cy="594360"/>
            </a:xfrm>
            <a:prstGeom prst="rect">
              <a:avLst/>
            </a:prstGeom>
            <a:solidFill>
              <a:srgbClr val="2E4470"/>
            </a:solidFill>
            <a:ln w="10160">
              <a:solidFill>
                <a:srgbClr val="4A9FE8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7" name="Text 8">
              <a:extLst>
                <a:ext uri="{FF2B5EF4-FFF2-40B4-BE49-F238E27FC236}">
                  <a16:creationId xmlns:a16="http://schemas.microsoft.com/office/drawing/2014/main" id="{31C1886F-FB05-C443-01F2-6DB3ACF34DCA}"/>
                </a:ext>
              </a:extLst>
            </p:cNvPr>
            <p:cNvSpPr/>
            <p:nvPr/>
          </p:nvSpPr>
          <p:spPr>
            <a:xfrm>
              <a:off x="1691640" y="1792224"/>
              <a:ext cx="57607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</a:rPr>
                <a:t>② ImageSpace.Split()</a:t>
              </a:r>
              <a:endParaRPr lang="en-US" sz="1400" dirty="0"/>
            </a:p>
          </p:txBody>
        </p:sp>
        <p:sp>
          <p:nvSpPr>
            <p:cNvPr id="8" name="Text 9">
              <a:extLst>
                <a:ext uri="{FF2B5EF4-FFF2-40B4-BE49-F238E27FC236}">
                  <a16:creationId xmlns:a16="http://schemas.microsoft.com/office/drawing/2014/main" id="{8B9E8096-9899-3CCD-6CE2-B80BA0DF7452}"/>
                </a:ext>
              </a:extLst>
            </p:cNvPr>
            <p:cNvSpPr/>
            <p:nvPr/>
          </p:nvSpPr>
          <p:spPr>
            <a:xfrm>
              <a:off x="1691640" y="2075688"/>
              <a:ext cx="576072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7DC0F5"/>
                  </a:solidFill>
                </a:rPr>
                <a:t>Color / Gray 채널 분리 및 버퍼 적재</a:t>
              </a:r>
              <a:endParaRPr lang="en-US" sz="1400" dirty="0"/>
            </a:p>
          </p:txBody>
        </p:sp>
        <p:sp>
          <p:nvSpPr>
            <p:cNvPr id="9" name="Shape 10">
              <a:extLst>
                <a:ext uri="{FF2B5EF4-FFF2-40B4-BE49-F238E27FC236}">
                  <a16:creationId xmlns:a16="http://schemas.microsoft.com/office/drawing/2014/main" id="{09D724ED-923C-701A-44DF-3A4EAE361E5C}"/>
                </a:ext>
              </a:extLst>
            </p:cNvPr>
            <p:cNvSpPr/>
            <p:nvPr/>
          </p:nvSpPr>
          <p:spPr>
            <a:xfrm>
              <a:off x="4572000" y="2350008"/>
              <a:ext cx="0" cy="155448"/>
            </a:xfrm>
            <a:prstGeom prst="line">
              <a:avLst/>
            </a:prstGeom>
            <a:noFill/>
            <a:ln w="1905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10" name="Shape 11">
              <a:extLst>
                <a:ext uri="{FF2B5EF4-FFF2-40B4-BE49-F238E27FC236}">
                  <a16:creationId xmlns:a16="http://schemas.microsoft.com/office/drawing/2014/main" id="{F4D9479C-A6A3-63DF-13EF-9B5399F77A69}"/>
                </a:ext>
              </a:extLst>
            </p:cNvPr>
            <p:cNvSpPr/>
            <p:nvPr/>
          </p:nvSpPr>
          <p:spPr>
            <a:xfrm>
              <a:off x="1645920" y="2505456"/>
              <a:ext cx="5852160" cy="594360"/>
            </a:xfrm>
            <a:prstGeom prst="rect">
              <a:avLst/>
            </a:prstGeom>
            <a:solidFill>
              <a:srgbClr val="243352"/>
            </a:solidFill>
            <a:ln w="10160">
              <a:solidFill>
                <a:srgbClr val="4A9FE8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11" name="Text 12">
              <a:extLst>
                <a:ext uri="{FF2B5EF4-FFF2-40B4-BE49-F238E27FC236}">
                  <a16:creationId xmlns:a16="http://schemas.microsoft.com/office/drawing/2014/main" id="{320C6BE8-D22E-7C52-FA76-A5516D4678D1}"/>
                </a:ext>
              </a:extLst>
            </p:cNvPr>
            <p:cNvSpPr/>
            <p:nvPr/>
          </p:nvSpPr>
          <p:spPr>
            <a:xfrm>
              <a:off x="1691640" y="2542032"/>
              <a:ext cx="57607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</a:rPr>
                <a:t>③ RunKeyMatch()</a:t>
              </a:r>
              <a:endParaRPr lang="en-US" sz="1400" dirty="0"/>
            </a:p>
          </p:txBody>
        </p:sp>
        <p:sp>
          <p:nvSpPr>
            <p:cNvPr id="12" name="Text 13">
              <a:extLst>
                <a:ext uri="{FF2B5EF4-FFF2-40B4-BE49-F238E27FC236}">
                  <a16:creationId xmlns:a16="http://schemas.microsoft.com/office/drawing/2014/main" id="{DCAA871E-27F3-E767-3BE5-1EE370099DCE}"/>
                </a:ext>
              </a:extLst>
            </p:cNvPr>
            <p:cNvSpPr/>
            <p:nvPr/>
          </p:nvSpPr>
          <p:spPr>
            <a:xfrm>
              <a:off x="1691640" y="2825496"/>
              <a:ext cx="576072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7DC0F5"/>
                  </a:solidFill>
                </a:rPr>
                <a:t>MatchAlgorithm → 건반 위치 탐색 → 경계 박스 보정</a:t>
              </a:r>
              <a:endParaRPr lang="en-US" sz="1400" dirty="0"/>
            </a:p>
          </p:txBody>
        </p:sp>
        <p:sp>
          <p:nvSpPr>
            <p:cNvPr id="13" name="Shape 14">
              <a:extLst>
                <a:ext uri="{FF2B5EF4-FFF2-40B4-BE49-F238E27FC236}">
                  <a16:creationId xmlns:a16="http://schemas.microsoft.com/office/drawing/2014/main" id="{DAC4356C-D554-BA07-4442-6D2C7970416D}"/>
                </a:ext>
              </a:extLst>
            </p:cNvPr>
            <p:cNvSpPr/>
            <p:nvPr/>
          </p:nvSpPr>
          <p:spPr>
            <a:xfrm>
              <a:off x="4572000" y="3099816"/>
              <a:ext cx="0" cy="155448"/>
            </a:xfrm>
            <a:prstGeom prst="line">
              <a:avLst/>
            </a:prstGeom>
            <a:noFill/>
            <a:ln w="1905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14" name="Shape 15">
              <a:extLst>
                <a:ext uri="{FF2B5EF4-FFF2-40B4-BE49-F238E27FC236}">
                  <a16:creationId xmlns:a16="http://schemas.microsoft.com/office/drawing/2014/main" id="{0067F38B-C2C4-FFB1-6D0D-71CC9309F4A1}"/>
                </a:ext>
              </a:extLst>
            </p:cNvPr>
            <p:cNvSpPr/>
            <p:nvPr/>
          </p:nvSpPr>
          <p:spPr>
            <a:xfrm>
              <a:off x="1645920" y="3255264"/>
              <a:ext cx="5852160" cy="594360"/>
            </a:xfrm>
            <a:prstGeom prst="rect">
              <a:avLst/>
            </a:prstGeom>
            <a:solidFill>
              <a:srgbClr val="243352"/>
            </a:solidFill>
            <a:ln w="10160">
              <a:solidFill>
                <a:srgbClr val="4A9FE8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15" name="Text 16">
              <a:extLst>
                <a:ext uri="{FF2B5EF4-FFF2-40B4-BE49-F238E27FC236}">
                  <a16:creationId xmlns:a16="http://schemas.microsoft.com/office/drawing/2014/main" id="{9A7F6DCC-31B8-A0A7-ADD1-39BA77BDE5BA}"/>
                </a:ext>
              </a:extLst>
            </p:cNvPr>
            <p:cNvSpPr/>
            <p:nvPr/>
          </p:nvSpPr>
          <p:spPr>
            <a:xfrm>
              <a:off x="1691640" y="3291840"/>
              <a:ext cx="57607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</a:rPr>
                <a:t>④ RunBoltMark()</a:t>
              </a:r>
              <a:endParaRPr lang="en-US" sz="1400" dirty="0"/>
            </a:p>
          </p:txBody>
        </p:sp>
        <p:sp>
          <p:nvSpPr>
            <p:cNvPr id="16" name="Text 17">
              <a:extLst>
                <a:ext uri="{FF2B5EF4-FFF2-40B4-BE49-F238E27FC236}">
                  <a16:creationId xmlns:a16="http://schemas.microsoft.com/office/drawing/2014/main" id="{3D955BFD-BA70-8D06-1853-5C6D223A449B}"/>
                </a:ext>
              </a:extLst>
            </p:cNvPr>
            <p:cNvSpPr/>
            <p:nvPr/>
          </p:nvSpPr>
          <p:spPr>
            <a:xfrm>
              <a:off x="1691640" y="3575304"/>
              <a:ext cx="576072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7DC0F5"/>
                  </a:solidFill>
                </a:rPr>
                <a:t>각 건반 ROI → CheckBolt × 2 + CheckMark</a:t>
              </a:r>
              <a:endParaRPr lang="en-US" sz="1400" dirty="0"/>
            </a:p>
          </p:txBody>
        </p:sp>
        <p:sp>
          <p:nvSpPr>
            <p:cNvPr id="17" name="Shape 18">
              <a:extLst>
                <a:ext uri="{FF2B5EF4-FFF2-40B4-BE49-F238E27FC236}">
                  <a16:creationId xmlns:a16="http://schemas.microsoft.com/office/drawing/2014/main" id="{ACC2D324-56AC-6A2C-CD04-E97101BAE0D1}"/>
                </a:ext>
              </a:extLst>
            </p:cNvPr>
            <p:cNvSpPr/>
            <p:nvPr/>
          </p:nvSpPr>
          <p:spPr>
            <a:xfrm>
              <a:off x="4572000" y="3849624"/>
              <a:ext cx="0" cy="155448"/>
            </a:xfrm>
            <a:prstGeom prst="line">
              <a:avLst/>
            </a:prstGeom>
            <a:noFill/>
            <a:ln w="1905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18" name="Shape 19">
              <a:extLst>
                <a:ext uri="{FF2B5EF4-FFF2-40B4-BE49-F238E27FC236}">
                  <a16:creationId xmlns:a16="http://schemas.microsoft.com/office/drawing/2014/main" id="{87BD8F43-CC1F-C65A-6880-B44993657431}"/>
                </a:ext>
              </a:extLst>
            </p:cNvPr>
            <p:cNvSpPr/>
            <p:nvPr/>
          </p:nvSpPr>
          <p:spPr>
            <a:xfrm>
              <a:off x="1645920" y="4005072"/>
              <a:ext cx="5852160" cy="594360"/>
            </a:xfrm>
            <a:prstGeom prst="rect">
              <a:avLst/>
            </a:prstGeom>
            <a:solidFill>
              <a:srgbClr val="1B2A4A"/>
            </a:solidFill>
            <a:ln w="10160">
              <a:solidFill>
                <a:srgbClr val="4A9FE8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19" name="Text 20">
              <a:extLst>
                <a:ext uri="{FF2B5EF4-FFF2-40B4-BE49-F238E27FC236}">
                  <a16:creationId xmlns:a16="http://schemas.microsoft.com/office/drawing/2014/main" id="{5ABD57E4-9C3B-211A-B946-197B09C75932}"/>
                </a:ext>
              </a:extLst>
            </p:cNvPr>
            <p:cNvSpPr/>
            <p:nvPr/>
          </p:nvSpPr>
          <p:spPr>
            <a:xfrm>
              <a:off x="1691640" y="4041648"/>
              <a:ext cx="57607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</a:rPr>
                <a:t>⑤ RunDisplayWithOptions()</a:t>
              </a:r>
              <a:endParaRPr lang="en-US" sz="1400" dirty="0"/>
            </a:p>
          </p:txBody>
        </p:sp>
        <p:sp>
          <p:nvSpPr>
            <p:cNvPr id="20" name="Text 21">
              <a:extLst>
                <a:ext uri="{FF2B5EF4-FFF2-40B4-BE49-F238E27FC236}">
                  <a16:creationId xmlns:a16="http://schemas.microsoft.com/office/drawing/2014/main" id="{DAE02384-1041-6607-45E3-08F9ABCDF867}"/>
                </a:ext>
              </a:extLst>
            </p:cNvPr>
            <p:cNvSpPr/>
            <p:nvPr/>
          </p:nvSpPr>
          <p:spPr>
            <a:xfrm>
              <a:off x="1691640" y="4325112"/>
              <a:ext cx="576072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7DC0F5"/>
                  </a:solidFill>
                </a:rPr>
                <a:t>CameraForm에 결과 박스 오버레이</a:t>
              </a:r>
              <a:endParaRPr lang="en-US" sz="1400" dirty="0"/>
            </a:p>
          </p:txBody>
        </p:sp>
        <p:sp>
          <p:nvSpPr>
            <p:cNvPr id="21" name="Shape 22">
              <a:extLst>
                <a:ext uri="{FF2B5EF4-FFF2-40B4-BE49-F238E27FC236}">
                  <a16:creationId xmlns:a16="http://schemas.microsoft.com/office/drawing/2014/main" id="{FC04207B-0111-1C80-676C-A14B4EDACFEA}"/>
                </a:ext>
              </a:extLst>
            </p:cNvPr>
            <p:cNvSpPr/>
            <p:nvPr/>
          </p:nvSpPr>
          <p:spPr>
            <a:xfrm>
              <a:off x="4572000" y="4800600"/>
              <a:ext cx="0" cy="91440"/>
            </a:xfrm>
            <a:prstGeom prst="line">
              <a:avLst/>
            </a:prstGeom>
            <a:noFill/>
            <a:ln w="1905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22" name="Shape 23">
              <a:extLst>
                <a:ext uri="{FF2B5EF4-FFF2-40B4-BE49-F238E27FC236}">
                  <a16:creationId xmlns:a16="http://schemas.microsoft.com/office/drawing/2014/main" id="{78AA868F-2B82-4AC2-F443-957F6ED956BA}"/>
                </a:ext>
              </a:extLst>
            </p:cNvPr>
            <p:cNvSpPr/>
            <p:nvPr/>
          </p:nvSpPr>
          <p:spPr>
            <a:xfrm>
              <a:off x="1645920" y="4663440"/>
              <a:ext cx="2560320" cy="384048"/>
            </a:xfrm>
            <a:prstGeom prst="rect">
              <a:avLst/>
            </a:prstGeom>
            <a:solidFill>
              <a:srgbClr val="4A9FE8"/>
            </a:solidFill>
            <a:ln w="12700">
              <a:solidFill>
                <a:srgbClr val="4A9FE8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23" name="Text 24">
              <a:extLst>
                <a:ext uri="{FF2B5EF4-FFF2-40B4-BE49-F238E27FC236}">
                  <a16:creationId xmlns:a16="http://schemas.microsoft.com/office/drawing/2014/main" id="{97E24405-5D2B-45E3-08DD-8B19751D60D2}"/>
                </a:ext>
              </a:extLst>
            </p:cNvPr>
            <p:cNvSpPr/>
            <p:nvPr/>
          </p:nvSpPr>
          <p:spPr>
            <a:xfrm>
              <a:off x="1645920" y="4663440"/>
              <a:ext cx="256032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B2A4A"/>
                  </a:solidFill>
                </a:rPr>
                <a:t>✅  OK → D:\Results\OK</a:t>
              </a:r>
              <a:endParaRPr lang="en-US" sz="1400" dirty="0"/>
            </a:p>
          </p:txBody>
        </p:sp>
        <p:sp>
          <p:nvSpPr>
            <p:cNvPr id="24" name="Shape 25">
              <a:extLst>
                <a:ext uri="{FF2B5EF4-FFF2-40B4-BE49-F238E27FC236}">
                  <a16:creationId xmlns:a16="http://schemas.microsoft.com/office/drawing/2014/main" id="{565CCEAC-391F-E25D-C922-C03A5A74985E}"/>
                </a:ext>
              </a:extLst>
            </p:cNvPr>
            <p:cNvSpPr/>
            <p:nvPr/>
          </p:nvSpPr>
          <p:spPr>
            <a:xfrm>
              <a:off x="4937760" y="4663440"/>
              <a:ext cx="2560320" cy="384048"/>
            </a:xfrm>
            <a:prstGeom prst="rect">
              <a:avLst/>
            </a:prstGeom>
            <a:solidFill>
              <a:srgbClr val="E05A1A"/>
            </a:solidFill>
            <a:ln w="12700">
              <a:solidFill>
                <a:srgbClr val="E05A1A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25" name="Text 26">
              <a:extLst>
                <a:ext uri="{FF2B5EF4-FFF2-40B4-BE49-F238E27FC236}">
                  <a16:creationId xmlns:a16="http://schemas.microsoft.com/office/drawing/2014/main" id="{2F105BC1-5D9C-99F9-3381-F8D0C3542D85}"/>
                </a:ext>
              </a:extLst>
            </p:cNvPr>
            <p:cNvSpPr/>
            <p:nvPr/>
          </p:nvSpPr>
          <p:spPr>
            <a:xfrm>
              <a:off x="4937760" y="4663440"/>
              <a:ext cx="256032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</a:rPr>
                <a:t>❌  NG → NG-BOLT / NG-MARK</a:t>
              </a:r>
              <a:endParaRPr lang="en-US" sz="1400" dirty="0"/>
            </a:p>
          </p:txBody>
        </p:sp>
        <p:sp>
          <p:nvSpPr>
            <p:cNvPr id="26" name="Shape 27">
              <a:extLst>
                <a:ext uri="{FF2B5EF4-FFF2-40B4-BE49-F238E27FC236}">
                  <a16:creationId xmlns:a16="http://schemas.microsoft.com/office/drawing/2014/main" id="{A177C6E1-7C48-CCBD-BBC9-6CBE0E15A3DE}"/>
                </a:ext>
              </a:extLst>
            </p:cNvPr>
            <p:cNvSpPr/>
            <p:nvPr/>
          </p:nvSpPr>
          <p:spPr>
            <a:xfrm>
              <a:off x="3200400" y="4636008"/>
              <a:ext cx="2743200" cy="0"/>
            </a:xfrm>
            <a:prstGeom prst="line">
              <a:avLst/>
            </a:prstGeom>
            <a:noFill/>
            <a:ln w="1270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27" name="Shape 28">
              <a:extLst>
                <a:ext uri="{FF2B5EF4-FFF2-40B4-BE49-F238E27FC236}">
                  <a16:creationId xmlns:a16="http://schemas.microsoft.com/office/drawing/2014/main" id="{CD163283-13B1-DAD9-5669-590CF216D9CE}"/>
                </a:ext>
              </a:extLst>
            </p:cNvPr>
            <p:cNvSpPr/>
            <p:nvPr/>
          </p:nvSpPr>
          <p:spPr>
            <a:xfrm>
              <a:off x="2926080" y="4636008"/>
              <a:ext cx="0" cy="0"/>
            </a:xfrm>
            <a:prstGeom prst="line">
              <a:avLst/>
            </a:prstGeom>
            <a:noFill/>
            <a:ln w="1270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28" name="Shape 29">
              <a:extLst>
                <a:ext uri="{FF2B5EF4-FFF2-40B4-BE49-F238E27FC236}">
                  <a16:creationId xmlns:a16="http://schemas.microsoft.com/office/drawing/2014/main" id="{F49D34D6-9F5D-AF43-1C39-F0C772E4B389}"/>
                </a:ext>
              </a:extLst>
            </p:cNvPr>
            <p:cNvSpPr/>
            <p:nvPr/>
          </p:nvSpPr>
          <p:spPr>
            <a:xfrm>
              <a:off x="6217920" y="4636008"/>
              <a:ext cx="0" cy="0"/>
            </a:xfrm>
            <a:prstGeom prst="line">
              <a:avLst/>
            </a:prstGeom>
            <a:noFill/>
            <a:ln w="12700">
              <a:solidFill>
                <a:srgbClr val="E05A1A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</p:grpSp>
    </p:spTree>
    <p:extLst>
      <p:ext uri="{BB962C8B-B14F-4D97-AF65-F5344CB8AC3E}">
        <p14:creationId xmlns:p14="http://schemas.microsoft.com/office/powerpoint/2010/main" val="2488928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DCD6C-70E4-278B-541D-6F66F9154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content_bg">
            <a:extLst>
              <a:ext uri="{FF2B5EF4-FFF2-40B4-BE49-F238E27FC236}">
                <a16:creationId xmlns:a16="http://schemas.microsoft.com/office/drawing/2014/main" id="{7ED67D14-A853-44A5-2601-A56C6F42F935}"/>
              </a:ext>
            </a:extLst>
          </p:cNvPr>
          <p:cNvSpPr>
            <a:spLocks noGrp="1"/>
          </p:cNvSpPr>
          <p:nvPr/>
        </p:nvSpPr>
        <p:spPr>
          <a:xfrm>
            <a:off x="0" y="820000"/>
            <a:ext cx="12192000" cy="6038000"/>
          </a:xfrm>
          <a:prstGeom prst="rect">
            <a:avLst/>
          </a:prstGeom>
          <a:solidFill>
            <a:srgbClr val="EEF1F5"/>
          </a:solidFill>
        </p:spPr>
        <p:txBody>
          <a:bodyPr/>
          <a:lstStyle/>
          <a:p>
            <a:endParaRPr lang="ko-KR"/>
          </a:p>
        </p:txBody>
      </p:sp>
      <p:sp>
        <p:nvSpPr>
          <p:cNvPr id="901" name="header_bar">
            <a:extLst>
              <a:ext uri="{FF2B5EF4-FFF2-40B4-BE49-F238E27FC236}">
                <a16:creationId xmlns:a16="http://schemas.microsoft.com/office/drawing/2014/main" id="{54B27078-AC2E-A991-0B1E-17BEE31C56C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2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 lang="ko-KR"/>
          </a:p>
        </p:txBody>
      </p:sp>
      <p:sp>
        <p:nvSpPr>
          <p:cNvPr id="902" name="accent_stripe">
            <a:extLst>
              <a:ext uri="{FF2B5EF4-FFF2-40B4-BE49-F238E27FC236}">
                <a16:creationId xmlns:a16="http://schemas.microsoft.com/office/drawing/2014/main" id="{8755B096-681A-33CA-9446-BF2CE28BFA1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0000" cy="820000"/>
          </a:xfrm>
          <a:prstGeom prst="rect">
            <a:avLst/>
          </a:prstGeom>
          <a:solidFill>
            <a:srgbClr val="E05A1A"/>
          </a:solidFill>
        </p:spPr>
        <p:txBody>
          <a:bodyPr/>
          <a:lstStyle/>
          <a:p>
            <a:endParaRPr lang="ko-KR"/>
          </a:p>
        </p:txBody>
      </p:sp>
      <p:sp>
        <p:nvSpPr>
          <p:cNvPr id="904" name="step_badge">
            <a:extLst>
              <a:ext uri="{FF2B5EF4-FFF2-40B4-BE49-F238E27FC236}">
                <a16:creationId xmlns:a16="http://schemas.microsoft.com/office/drawing/2014/main" id="{9DE3EF64-962F-93C3-9C93-707DB1DAC632}"/>
              </a:ext>
            </a:extLst>
          </p:cNvPr>
          <p:cNvSpPr>
            <a:spLocks noGrp="1"/>
          </p:cNvSpPr>
          <p:nvPr/>
        </p:nvSpPr>
        <p:spPr>
          <a:xfrm>
            <a:off x="11492000" y="0"/>
            <a:ext cx="700000" cy="820000"/>
          </a:xfrm>
          <a:prstGeom prst="rect">
            <a:avLst/>
          </a:prstGeom>
          <a:solidFill>
            <a:srgbClr val="E05A1A"/>
          </a:solidFill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910" name="cat_badge">
            <a:extLst>
              <a:ext uri="{FF2B5EF4-FFF2-40B4-BE49-F238E27FC236}">
                <a16:creationId xmlns:a16="http://schemas.microsoft.com/office/drawing/2014/main" id="{7469555F-F111-1B83-38A7-6F57BC044FFF}"/>
              </a:ext>
            </a:extLst>
          </p:cNvPr>
          <p:cNvSpPr>
            <a:spLocks noGrp="1"/>
          </p:cNvSpPr>
          <p:nvPr/>
        </p:nvSpPr>
        <p:spPr>
          <a:xfrm>
            <a:off x="320000" y="110000"/>
            <a:ext cx="1350000" cy="600000"/>
          </a:xfrm>
          <a:prstGeom prst="roundRect">
            <a:avLst>
              <a:gd name="adj" fmla="val 20000"/>
            </a:avLst>
          </a:prstGeom>
          <a:solidFill>
            <a:srgbClr val="E05A1A">
              <a:alpha val="28000"/>
            </a:srgbClr>
          </a:solidFill>
          <a:ln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400" b="1" dirty="0">
                <a:solidFill>
                  <a:srgbClr val="FFBB88"/>
                </a:solidFill>
              </a:rPr>
              <a:t>기술 스택</a:t>
            </a:r>
          </a:p>
        </p:txBody>
      </p:sp>
      <p:sp>
        <p:nvSpPr>
          <p:cNvPr id="903" name="header_title">
            <a:extLst>
              <a:ext uri="{FF2B5EF4-FFF2-40B4-BE49-F238E27FC236}">
                <a16:creationId xmlns:a16="http://schemas.microsoft.com/office/drawing/2014/main" id="{2C38C9AC-7A31-C304-1251-34DBD68BF5A4}"/>
              </a:ext>
            </a:extLst>
          </p:cNvPr>
          <p:cNvSpPr txBox="1"/>
          <p:nvPr/>
        </p:nvSpPr>
        <p:spPr>
          <a:xfrm>
            <a:off x="1830000" y="0"/>
            <a:ext cx="9562000" cy="8200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r>
              <a:rPr lang="ko-KR" altLang="en-US" sz="2000" b="1" dirty="0">
                <a:solidFill>
                  <a:srgbClr val="FFFFFF"/>
                </a:solidFill>
              </a:rPr>
              <a:t>기술 스택 &amp; 클래스 구조</a:t>
            </a:r>
          </a:p>
        </p:txBody>
      </p:sp>
      <p:graphicFrame>
        <p:nvGraphicFramePr>
          <p:cNvPr id="2" name="Table 0">
            <a:extLst>
              <a:ext uri="{FF2B5EF4-FFF2-40B4-BE49-F238E27FC236}">
                <a16:creationId xmlns:a16="http://schemas.microsoft.com/office/drawing/2014/main" id="{8412A188-1588-0ADB-AB7A-3D1CB45654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3503172"/>
              </p:ext>
            </p:extLst>
          </p:nvPr>
        </p:nvGraphicFramePr>
        <p:xfrm>
          <a:off x="1361248" y="1805508"/>
          <a:ext cx="5029200" cy="36576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분류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내용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B2A4A"/>
                          </a:solidFill>
                        </a:rPr>
                        <a:t>언어 / 프레임워크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4A6B"/>
                          </a:solidFill>
                        </a:rPr>
                        <a:t>C# .NET / WinForms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B2A4A"/>
                          </a:solidFill>
                        </a:rPr>
                        <a:t>영상처리 라이브러리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4A6B"/>
                          </a:solidFill>
                        </a:rPr>
                        <a:t>OpenCvSharp 4 (OpenCV C# 바인딩)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B2A4A"/>
                          </a:solidFill>
                        </a:rPr>
                        <a:t>카메라 SDK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4A6B"/>
                          </a:solidFill>
                        </a:rPr>
                        <a:t>HikRobot MV SDK / WebCam DirectShow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B2A4A"/>
                          </a:solidFill>
                        </a:rPr>
                        <a:t>AI 모듈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4A6B"/>
                          </a:solidFill>
                        </a:rPr>
                        <a:t>SaigeAI (딥러닝 결함 검출)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B2A4A"/>
                          </a:solidFill>
                        </a:rPr>
                        <a:t>설정 저장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4A6B"/>
                          </a:solidFill>
                        </a:rPr>
                        <a:t>XML 직렬화 + Windows Registry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B2A4A"/>
                          </a:solidFill>
                        </a:rPr>
                        <a:t>로깅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4A6B"/>
                          </a:solidFill>
                        </a:rPr>
                        <a:t>SLogger (커스텀 파일/콘솔 로거)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B2A4A"/>
                          </a:solidFill>
                        </a:rPr>
                        <a:t>동시성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A4A6B"/>
                          </a:solidFill>
                        </a:rPr>
                        <a:t>Task.Run / Parallel.For / BlockingCollection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Shape 3">
            <a:extLst>
              <a:ext uri="{FF2B5EF4-FFF2-40B4-BE49-F238E27FC236}">
                <a16:creationId xmlns:a16="http://schemas.microsoft.com/office/drawing/2014/main" id="{57C9C45A-3EE2-C2FE-2147-E985B0E40D4E}"/>
              </a:ext>
            </a:extLst>
          </p:cNvPr>
          <p:cNvSpPr/>
          <p:nvPr/>
        </p:nvSpPr>
        <p:spPr>
          <a:xfrm>
            <a:off x="6664768" y="1805508"/>
            <a:ext cx="32918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7DC1E7DE-6BDD-9EC2-097B-BCC0A9620240}"/>
              </a:ext>
            </a:extLst>
          </p:cNvPr>
          <p:cNvSpPr/>
          <p:nvPr/>
        </p:nvSpPr>
        <p:spPr>
          <a:xfrm>
            <a:off x="6710488" y="18512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</a:rPr>
              <a:t>클래스 관계도</a:t>
            </a:r>
            <a:endParaRPr lang="en-US" sz="1300" dirty="0"/>
          </a:p>
        </p:txBody>
      </p:sp>
      <p:sp>
        <p:nvSpPr>
          <p:cNvPr id="26" name="Shape 5">
            <a:extLst>
              <a:ext uri="{FF2B5EF4-FFF2-40B4-BE49-F238E27FC236}">
                <a16:creationId xmlns:a16="http://schemas.microsoft.com/office/drawing/2014/main" id="{49ADFE58-A442-5ED1-D13A-67B11A08D071}"/>
              </a:ext>
            </a:extLst>
          </p:cNvPr>
          <p:cNvSpPr/>
          <p:nvPr/>
        </p:nvSpPr>
        <p:spPr>
          <a:xfrm>
            <a:off x="6847648" y="2290140"/>
            <a:ext cx="2926080" cy="384048"/>
          </a:xfrm>
          <a:prstGeom prst="rect">
            <a:avLst/>
          </a:prstGeom>
          <a:solidFill>
            <a:srgbClr val="1B2A4A"/>
          </a:solidFill>
          <a:ln w="6350">
            <a:solidFill>
              <a:srgbClr val="4A9F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6">
            <a:extLst>
              <a:ext uri="{FF2B5EF4-FFF2-40B4-BE49-F238E27FC236}">
                <a16:creationId xmlns:a16="http://schemas.microsoft.com/office/drawing/2014/main" id="{ABB039AD-6574-2E8B-A786-A1235D924750}"/>
              </a:ext>
            </a:extLst>
          </p:cNvPr>
          <p:cNvSpPr/>
          <p:nvPr/>
        </p:nvSpPr>
        <p:spPr>
          <a:xfrm>
            <a:off x="6893368" y="232671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Global.Inst</a:t>
            </a:r>
            <a:endParaRPr lang="en-US" sz="1100" dirty="0"/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FAE5EE40-CE6F-6B63-F1F2-36BFB1EDB9B9}"/>
              </a:ext>
            </a:extLst>
          </p:cNvPr>
          <p:cNvSpPr/>
          <p:nvPr/>
        </p:nvSpPr>
        <p:spPr>
          <a:xfrm>
            <a:off x="8447848" y="23632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DC0F5"/>
                </a:solidFill>
              </a:rPr>
              <a:t>싱글턴 접근점</a:t>
            </a:r>
            <a:endParaRPr lang="en-US" sz="950" dirty="0"/>
          </a:p>
        </p:txBody>
      </p:sp>
      <p:sp>
        <p:nvSpPr>
          <p:cNvPr id="29" name="Shape 8">
            <a:extLst>
              <a:ext uri="{FF2B5EF4-FFF2-40B4-BE49-F238E27FC236}">
                <a16:creationId xmlns:a16="http://schemas.microsoft.com/office/drawing/2014/main" id="{A9154453-A8D2-AC3C-1C8E-C24D33DFCA6F}"/>
              </a:ext>
            </a:extLst>
          </p:cNvPr>
          <p:cNvSpPr/>
          <p:nvPr/>
        </p:nvSpPr>
        <p:spPr>
          <a:xfrm>
            <a:off x="8310688" y="2674188"/>
            <a:ext cx="0" cy="182880"/>
          </a:xfrm>
          <a:prstGeom prst="line">
            <a:avLst/>
          </a:prstGeom>
          <a:noFill/>
          <a:ln w="12700">
            <a:solidFill>
              <a:srgbClr val="4A9FE8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9">
            <a:extLst>
              <a:ext uri="{FF2B5EF4-FFF2-40B4-BE49-F238E27FC236}">
                <a16:creationId xmlns:a16="http://schemas.microsoft.com/office/drawing/2014/main" id="{F8806502-543E-D734-945A-4FF0EEFCAB51}"/>
              </a:ext>
            </a:extLst>
          </p:cNvPr>
          <p:cNvSpPr/>
          <p:nvPr/>
        </p:nvSpPr>
        <p:spPr>
          <a:xfrm>
            <a:off x="6847648" y="2857068"/>
            <a:ext cx="2926080" cy="384048"/>
          </a:xfrm>
          <a:prstGeom prst="rect">
            <a:avLst/>
          </a:prstGeom>
          <a:solidFill>
            <a:srgbClr val="243352"/>
          </a:solidFill>
          <a:ln w="6350">
            <a:solidFill>
              <a:srgbClr val="4A9F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10">
            <a:extLst>
              <a:ext uri="{FF2B5EF4-FFF2-40B4-BE49-F238E27FC236}">
                <a16:creationId xmlns:a16="http://schemas.microsoft.com/office/drawing/2014/main" id="{9C930308-B5E7-F58A-E7F3-B8F905A5E8CA}"/>
              </a:ext>
            </a:extLst>
          </p:cNvPr>
          <p:cNvSpPr/>
          <p:nvPr/>
        </p:nvSpPr>
        <p:spPr>
          <a:xfrm>
            <a:off x="6893368" y="289364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InspStage</a:t>
            </a:r>
            <a:endParaRPr lang="en-US" sz="1100" dirty="0"/>
          </a:p>
        </p:txBody>
      </p:sp>
      <p:sp>
        <p:nvSpPr>
          <p:cNvPr id="32" name="Text 11">
            <a:extLst>
              <a:ext uri="{FF2B5EF4-FFF2-40B4-BE49-F238E27FC236}">
                <a16:creationId xmlns:a16="http://schemas.microsoft.com/office/drawing/2014/main" id="{C44C938B-A9F5-2D80-BAE4-F36482FE67CA}"/>
              </a:ext>
            </a:extLst>
          </p:cNvPr>
          <p:cNvSpPr/>
          <p:nvPr/>
        </p:nvSpPr>
        <p:spPr>
          <a:xfrm>
            <a:off x="8447848" y="29302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DC0F5"/>
                </a:solidFill>
              </a:rPr>
              <a:t>스테이지 관리</a:t>
            </a:r>
            <a:endParaRPr lang="en-US" sz="950" dirty="0"/>
          </a:p>
        </p:txBody>
      </p:sp>
      <p:sp>
        <p:nvSpPr>
          <p:cNvPr id="33" name="Shape 12">
            <a:extLst>
              <a:ext uri="{FF2B5EF4-FFF2-40B4-BE49-F238E27FC236}">
                <a16:creationId xmlns:a16="http://schemas.microsoft.com/office/drawing/2014/main" id="{CBBD6D0D-D01B-2CE1-51CC-FF7EA3BE8A02}"/>
              </a:ext>
            </a:extLst>
          </p:cNvPr>
          <p:cNvSpPr/>
          <p:nvPr/>
        </p:nvSpPr>
        <p:spPr>
          <a:xfrm>
            <a:off x="8310688" y="3241116"/>
            <a:ext cx="0" cy="182880"/>
          </a:xfrm>
          <a:prstGeom prst="line">
            <a:avLst/>
          </a:prstGeom>
          <a:noFill/>
          <a:ln w="12700">
            <a:solidFill>
              <a:srgbClr val="4A9FE8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13">
            <a:extLst>
              <a:ext uri="{FF2B5EF4-FFF2-40B4-BE49-F238E27FC236}">
                <a16:creationId xmlns:a16="http://schemas.microsoft.com/office/drawing/2014/main" id="{558E2C45-8694-1B7A-AA29-1329D0F5AD24}"/>
              </a:ext>
            </a:extLst>
          </p:cNvPr>
          <p:cNvSpPr/>
          <p:nvPr/>
        </p:nvSpPr>
        <p:spPr>
          <a:xfrm>
            <a:off x="6847648" y="3423996"/>
            <a:ext cx="2926080" cy="384048"/>
          </a:xfrm>
          <a:prstGeom prst="rect">
            <a:avLst/>
          </a:prstGeom>
          <a:solidFill>
            <a:srgbClr val="2E4470"/>
          </a:solidFill>
          <a:ln w="6350">
            <a:solidFill>
              <a:srgbClr val="4A9F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14">
            <a:extLst>
              <a:ext uri="{FF2B5EF4-FFF2-40B4-BE49-F238E27FC236}">
                <a16:creationId xmlns:a16="http://schemas.microsoft.com/office/drawing/2014/main" id="{A6619C68-B242-3A8F-5D20-ED09C2C6D051}"/>
              </a:ext>
            </a:extLst>
          </p:cNvPr>
          <p:cNvSpPr/>
          <p:nvPr/>
        </p:nvSpPr>
        <p:spPr>
          <a:xfrm>
            <a:off x="6893368" y="34605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InspWorker</a:t>
            </a:r>
            <a:endParaRPr lang="en-US" sz="1100" dirty="0"/>
          </a:p>
        </p:txBody>
      </p:sp>
      <p:sp>
        <p:nvSpPr>
          <p:cNvPr id="36" name="Text 15">
            <a:extLst>
              <a:ext uri="{FF2B5EF4-FFF2-40B4-BE49-F238E27FC236}">
                <a16:creationId xmlns:a16="http://schemas.microsoft.com/office/drawing/2014/main" id="{32C748C3-ABB4-6B51-42E2-FE931C03B664}"/>
              </a:ext>
            </a:extLst>
          </p:cNvPr>
          <p:cNvSpPr/>
          <p:nvPr/>
        </p:nvSpPr>
        <p:spPr>
          <a:xfrm>
            <a:off x="8447848" y="34971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DC0F5"/>
                </a:solidFill>
              </a:rPr>
              <a:t>알고리즘 실행</a:t>
            </a:r>
            <a:endParaRPr lang="en-US" sz="950" dirty="0"/>
          </a:p>
        </p:txBody>
      </p:sp>
      <p:sp>
        <p:nvSpPr>
          <p:cNvPr id="37" name="Shape 16">
            <a:extLst>
              <a:ext uri="{FF2B5EF4-FFF2-40B4-BE49-F238E27FC236}">
                <a16:creationId xmlns:a16="http://schemas.microsoft.com/office/drawing/2014/main" id="{6DE50B7D-165C-F4B0-3870-FFE029EFC506}"/>
              </a:ext>
            </a:extLst>
          </p:cNvPr>
          <p:cNvSpPr/>
          <p:nvPr/>
        </p:nvSpPr>
        <p:spPr>
          <a:xfrm>
            <a:off x="8310688" y="3808044"/>
            <a:ext cx="0" cy="182880"/>
          </a:xfrm>
          <a:prstGeom prst="line">
            <a:avLst/>
          </a:prstGeom>
          <a:noFill/>
          <a:ln w="12700">
            <a:solidFill>
              <a:srgbClr val="4A9FE8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17">
            <a:extLst>
              <a:ext uri="{FF2B5EF4-FFF2-40B4-BE49-F238E27FC236}">
                <a16:creationId xmlns:a16="http://schemas.microsoft.com/office/drawing/2014/main" id="{E5ED66CA-0AC8-7F82-FBE0-95DF3347202C}"/>
              </a:ext>
            </a:extLst>
          </p:cNvPr>
          <p:cNvSpPr/>
          <p:nvPr/>
        </p:nvSpPr>
        <p:spPr>
          <a:xfrm>
            <a:off x="6847648" y="3990924"/>
            <a:ext cx="2926080" cy="384048"/>
          </a:xfrm>
          <a:prstGeom prst="rect">
            <a:avLst/>
          </a:prstGeom>
          <a:solidFill>
            <a:srgbClr val="2E4470"/>
          </a:solidFill>
          <a:ln w="6350">
            <a:solidFill>
              <a:srgbClr val="4A9F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18">
            <a:extLst>
              <a:ext uri="{FF2B5EF4-FFF2-40B4-BE49-F238E27FC236}">
                <a16:creationId xmlns:a16="http://schemas.microsoft.com/office/drawing/2014/main" id="{CBB5026B-C015-BB29-5B3A-4E858212B0D3}"/>
              </a:ext>
            </a:extLst>
          </p:cNvPr>
          <p:cNvSpPr/>
          <p:nvPr/>
        </p:nvSpPr>
        <p:spPr>
          <a:xfrm>
            <a:off x="6893368" y="40275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InspectBoard</a:t>
            </a:r>
            <a:endParaRPr lang="en-US" sz="1100" dirty="0"/>
          </a:p>
        </p:txBody>
      </p:sp>
      <p:sp>
        <p:nvSpPr>
          <p:cNvPr id="40" name="Text 19">
            <a:extLst>
              <a:ext uri="{FF2B5EF4-FFF2-40B4-BE49-F238E27FC236}">
                <a16:creationId xmlns:a16="http://schemas.microsoft.com/office/drawing/2014/main" id="{6030F97C-5DB2-95C6-6565-D8CE2E9CA696}"/>
              </a:ext>
            </a:extLst>
          </p:cNvPr>
          <p:cNvSpPr/>
          <p:nvPr/>
        </p:nvSpPr>
        <p:spPr>
          <a:xfrm>
            <a:off x="8447848" y="40640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DC0F5"/>
                </a:solidFill>
              </a:rPr>
              <a:t>검사 기판</a:t>
            </a:r>
            <a:endParaRPr lang="en-US" sz="950" dirty="0"/>
          </a:p>
        </p:txBody>
      </p:sp>
      <p:sp>
        <p:nvSpPr>
          <p:cNvPr id="41" name="Shape 20">
            <a:extLst>
              <a:ext uri="{FF2B5EF4-FFF2-40B4-BE49-F238E27FC236}">
                <a16:creationId xmlns:a16="http://schemas.microsoft.com/office/drawing/2014/main" id="{950A795F-BED5-D404-0FED-E5BECC341C2C}"/>
              </a:ext>
            </a:extLst>
          </p:cNvPr>
          <p:cNvSpPr/>
          <p:nvPr/>
        </p:nvSpPr>
        <p:spPr>
          <a:xfrm>
            <a:off x="8310688" y="4374972"/>
            <a:ext cx="0" cy="182880"/>
          </a:xfrm>
          <a:prstGeom prst="line">
            <a:avLst/>
          </a:prstGeom>
          <a:noFill/>
          <a:ln w="12700">
            <a:solidFill>
              <a:srgbClr val="4A9FE8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21">
            <a:extLst>
              <a:ext uri="{FF2B5EF4-FFF2-40B4-BE49-F238E27FC236}">
                <a16:creationId xmlns:a16="http://schemas.microsoft.com/office/drawing/2014/main" id="{83C09BE4-465E-BB37-78AE-809DAEC4F954}"/>
              </a:ext>
            </a:extLst>
          </p:cNvPr>
          <p:cNvSpPr/>
          <p:nvPr/>
        </p:nvSpPr>
        <p:spPr>
          <a:xfrm>
            <a:off x="6847648" y="4557852"/>
            <a:ext cx="2926080" cy="384048"/>
          </a:xfrm>
          <a:prstGeom prst="rect">
            <a:avLst/>
          </a:prstGeom>
          <a:solidFill>
            <a:srgbClr val="243352"/>
          </a:solidFill>
          <a:ln w="6350">
            <a:solidFill>
              <a:srgbClr val="4A9F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22">
            <a:extLst>
              <a:ext uri="{FF2B5EF4-FFF2-40B4-BE49-F238E27FC236}">
                <a16:creationId xmlns:a16="http://schemas.microsoft.com/office/drawing/2014/main" id="{8E01E637-818E-4363-4020-6F63AAC1AFB8}"/>
              </a:ext>
            </a:extLst>
          </p:cNvPr>
          <p:cNvSpPr/>
          <p:nvPr/>
        </p:nvSpPr>
        <p:spPr>
          <a:xfrm>
            <a:off x="6893368" y="45944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ImageSpace</a:t>
            </a:r>
            <a:endParaRPr lang="en-US" sz="1100" dirty="0"/>
          </a:p>
        </p:txBody>
      </p:sp>
      <p:sp>
        <p:nvSpPr>
          <p:cNvPr id="44" name="Text 23">
            <a:extLst>
              <a:ext uri="{FF2B5EF4-FFF2-40B4-BE49-F238E27FC236}">
                <a16:creationId xmlns:a16="http://schemas.microsoft.com/office/drawing/2014/main" id="{212FD381-4DB6-8FED-34D4-E23EBE5D3511}"/>
              </a:ext>
            </a:extLst>
          </p:cNvPr>
          <p:cNvSpPr/>
          <p:nvPr/>
        </p:nvSpPr>
        <p:spPr>
          <a:xfrm>
            <a:off x="8447848" y="46310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DC0F5"/>
                </a:solidFill>
              </a:rPr>
              <a:t>버퍼 관리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18692139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F78B0-A84C-FCE8-F2B7-12BA59C38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content_bg">
            <a:extLst>
              <a:ext uri="{FF2B5EF4-FFF2-40B4-BE49-F238E27FC236}">
                <a16:creationId xmlns:a16="http://schemas.microsoft.com/office/drawing/2014/main" id="{B68ED822-5605-FD0B-4F2F-229358509EF9}"/>
              </a:ext>
            </a:extLst>
          </p:cNvPr>
          <p:cNvSpPr>
            <a:spLocks noGrp="1"/>
          </p:cNvSpPr>
          <p:nvPr/>
        </p:nvSpPr>
        <p:spPr>
          <a:xfrm>
            <a:off x="0" y="820000"/>
            <a:ext cx="12192000" cy="6038000"/>
          </a:xfrm>
          <a:prstGeom prst="rect">
            <a:avLst/>
          </a:prstGeom>
          <a:solidFill>
            <a:srgbClr val="EEF1F5"/>
          </a:solidFill>
        </p:spPr>
        <p:txBody>
          <a:bodyPr/>
          <a:lstStyle/>
          <a:p>
            <a:endParaRPr lang="ko-KR"/>
          </a:p>
        </p:txBody>
      </p:sp>
      <p:sp>
        <p:nvSpPr>
          <p:cNvPr id="901" name="header_bar">
            <a:extLst>
              <a:ext uri="{FF2B5EF4-FFF2-40B4-BE49-F238E27FC236}">
                <a16:creationId xmlns:a16="http://schemas.microsoft.com/office/drawing/2014/main" id="{D04920C5-5C7A-A751-AB95-3BEE34EC6FA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2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 lang="ko-KR"/>
          </a:p>
        </p:txBody>
      </p:sp>
      <p:sp>
        <p:nvSpPr>
          <p:cNvPr id="902" name="accent_stripe">
            <a:extLst>
              <a:ext uri="{FF2B5EF4-FFF2-40B4-BE49-F238E27FC236}">
                <a16:creationId xmlns:a16="http://schemas.microsoft.com/office/drawing/2014/main" id="{E5659857-565E-8B6A-ED55-E12FBE0F378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0000" cy="820000"/>
          </a:xfrm>
          <a:prstGeom prst="rect">
            <a:avLst/>
          </a:prstGeom>
          <a:solidFill>
            <a:srgbClr val="E05A1A"/>
          </a:solidFill>
        </p:spPr>
        <p:txBody>
          <a:bodyPr/>
          <a:lstStyle/>
          <a:p>
            <a:endParaRPr lang="ko-KR"/>
          </a:p>
        </p:txBody>
      </p:sp>
      <p:sp>
        <p:nvSpPr>
          <p:cNvPr id="904" name="step_badge">
            <a:extLst>
              <a:ext uri="{FF2B5EF4-FFF2-40B4-BE49-F238E27FC236}">
                <a16:creationId xmlns:a16="http://schemas.microsoft.com/office/drawing/2014/main" id="{EDA96E0D-859E-7A5B-FDD5-771B64623B79}"/>
              </a:ext>
            </a:extLst>
          </p:cNvPr>
          <p:cNvSpPr>
            <a:spLocks noGrp="1"/>
          </p:cNvSpPr>
          <p:nvPr/>
        </p:nvSpPr>
        <p:spPr>
          <a:xfrm>
            <a:off x="11492000" y="0"/>
            <a:ext cx="700000" cy="820000"/>
          </a:xfrm>
          <a:prstGeom prst="rect">
            <a:avLst/>
          </a:prstGeom>
          <a:solidFill>
            <a:srgbClr val="E05A1A"/>
          </a:solidFill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910" name="cat_badge">
            <a:extLst>
              <a:ext uri="{FF2B5EF4-FFF2-40B4-BE49-F238E27FC236}">
                <a16:creationId xmlns:a16="http://schemas.microsoft.com/office/drawing/2014/main" id="{373D1FAE-4D0B-AE49-D489-36BE2818AE61}"/>
              </a:ext>
            </a:extLst>
          </p:cNvPr>
          <p:cNvSpPr>
            <a:spLocks noGrp="1"/>
          </p:cNvSpPr>
          <p:nvPr/>
        </p:nvSpPr>
        <p:spPr>
          <a:xfrm>
            <a:off x="320000" y="110000"/>
            <a:ext cx="1350000" cy="600000"/>
          </a:xfrm>
          <a:prstGeom prst="roundRect">
            <a:avLst>
              <a:gd name="adj" fmla="val 20000"/>
            </a:avLst>
          </a:prstGeom>
          <a:solidFill>
            <a:srgbClr val="E05A1A">
              <a:alpha val="28000"/>
            </a:srgbClr>
          </a:solidFill>
          <a:ln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400" b="1" dirty="0">
                <a:solidFill>
                  <a:srgbClr val="FFBB88"/>
                </a:solidFill>
              </a:rPr>
              <a:t>성과</a:t>
            </a:r>
          </a:p>
        </p:txBody>
      </p:sp>
      <p:sp>
        <p:nvSpPr>
          <p:cNvPr id="903" name="header_title">
            <a:extLst>
              <a:ext uri="{FF2B5EF4-FFF2-40B4-BE49-F238E27FC236}">
                <a16:creationId xmlns:a16="http://schemas.microsoft.com/office/drawing/2014/main" id="{99BB9F46-A3FA-B42A-03D2-7244F2E2F9E3}"/>
              </a:ext>
            </a:extLst>
          </p:cNvPr>
          <p:cNvSpPr txBox="1"/>
          <p:nvPr/>
        </p:nvSpPr>
        <p:spPr>
          <a:xfrm>
            <a:off x="1830000" y="0"/>
            <a:ext cx="9562000" cy="8200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r>
              <a:rPr lang="ko-KR" altLang="en-US" sz="2000" b="1" dirty="0">
                <a:solidFill>
                  <a:srgbClr val="FFFFFF"/>
                </a:solidFill>
              </a:rPr>
              <a:t>핵심 성과 &amp; 기술적 도전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0037DF02-F1EB-CB2D-A635-8592FAFC07D2}"/>
              </a:ext>
            </a:extLst>
          </p:cNvPr>
          <p:cNvGrpSpPr/>
          <p:nvPr/>
        </p:nvGrpSpPr>
        <p:grpSpPr>
          <a:xfrm>
            <a:off x="1468359" y="1442709"/>
            <a:ext cx="9255281" cy="4595291"/>
            <a:chOff x="320040" y="960120"/>
            <a:chExt cx="8503920" cy="3794760"/>
          </a:xfrm>
        </p:grpSpPr>
        <p:sp>
          <p:nvSpPr>
            <p:cNvPr id="2" name="Shape 3">
              <a:extLst>
                <a:ext uri="{FF2B5EF4-FFF2-40B4-BE49-F238E27FC236}">
                  <a16:creationId xmlns:a16="http://schemas.microsoft.com/office/drawing/2014/main" id="{B2985A66-8F4A-93B8-BB7E-F44A23D1BE5C}"/>
                </a:ext>
              </a:extLst>
            </p:cNvPr>
            <p:cNvSpPr/>
            <p:nvPr/>
          </p:nvSpPr>
          <p:spPr>
            <a:xfrm>
              <a:off x="320040" y="960120"/>
              <a:ext cx="2651760" cy="1371600"/>
            </a:xfrm>
            <a:prstGeom prst="rect">
              <a:avLst/>
            </a:prstGeom>
            <a:solidFill>
              <a:srgbClr val="243352"/>
            </a:solidFill>
            <a:ln w="12700">
              <a:solidFill>
                <a:srgbClr val="4A9FE8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" name="Text 4">
              <a:extLst>
                <a:ext uri="{FF2B5EF4-FFF2-40B4-BE49-F238E27FC236}">
                  <a16:creationId xmlns:a16="http://schemas.microsoft.com/office/drawing/2014/main" id="{72E2D738-E1F3-2DC3-D254-76B1C7FB9A37}"/>
                </a:ext>
              </a:extLst>
            </p:cNvPr>
            <p:cNvSpPr/>
            <p:nvPr/>
          </p:nvSpPr>
          <p:spPr>
            <a:xfrm>
              <a:off x="320040" y="1005840"/>
              <a:ext cx="26517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3000" b="1" dirty="0">
                  <a:solidFill>
                    <a:srgbClr val="4A9FE8"/>
                  </a:solidFill>
                </a:rPr>
                <a:t>3-in-1</a:t>
              </a:r>
              <a:endParaRPr lang="en-US" sz="3000" dirty="0"/>
            </a:p>
          </p:txBody>
        </p:sp>
        <p:sp>
          <p:nvSpPr>
            <p:cNvPr id="4" name="Text 5">
              <a:extLst>
                <a:ext uri="{FF2B5EF4-FFF2-40B4-BE49-F238E27FC236}">
                  <a16:creationId xmlns:a16="http://schemas.microsoft.com/office/drawing/2014/main" id="{5306C5B9-21E0-8D5C-A9C8-3825ED7A3F23}"/>
                </a:ext>
              </a:extLst>
            </p:cNvPr>
            <p:cNvSpPr/>
            <p:nvPr/>
          </p:nvSpPr>
          <p:spPr>
            <a:xfrm>
              <a:off x="320040" y="1664208"/>
              <a:ext cx="265176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30000"/>
                </a:lnSpc>
                <a:buNone/>
              </a:pPr>
              <a:r>
                <a:rPr lang="en-US" sz="1300" dirty="0">
                  <a:solidFill>
                    <a:srgbClr val="AABEDD"/>
                  </a:solidFill>
                </a:rPr>
                <a:t>단일 프레임에서</a:t>
              </a:r>
              <a:endParaRPr lang="en-US" sz="1050" dirty="0"/>
            </a:p>
            <a:p>
              <a:pPr marL="0" indent="0" algn="ctr">
                <a:lnSpc>
                  <a:spcPct val="130000"/>
                </a:lnSpc>
                <a:buNone/>
              </a:pPr>
              <a:r>
                <a:rPr lang="en-US" sz="1300" dirty="0">
                  <a:solidFill>
                    <a:srgbClr val="AABEDD"/>
                  </a:solidFill>
                </a:rPr>
                <a:t>건반 + 볼트 + 마킹 동시 검사</a:t>
              </a:r>
              <a:endParaRPr lang="en-US" sz="1050" dirty="0"/>
            </a:p>
          </p:txBody>
        </p:sp>
        <p:sp>
          <p:nvSpPr>
            <p:cNvPr id="5" name="Shape 6">
              <a:extLst>
                <a:ext uri="{FF2B5EF4-FFF2-40B4-BE49-F238E27FC236}">
                  <a16:creationId xmlns:a16="http://schemas.microsoft.com/office/drawing/2014/main" id="{BBA5C3D7-16B6-B4F4-3F96-741997A1FD92}"/>
                </a:ext>
              </a:extLst>
            </p:cNvPr>
            <p:cNvSpPr/>
            <p:nvPr/>
          </p:nvSpPr>
          <p:spPr>
            <a:xfrm>
              <a:off x="3246120" y="960120"/>
              <a:ext cx="2651760" cy="1371600"/>
            </a:xfrm>
            <a:prstGeom prst="rect">
              <a:avLst/>
            </a:prstGeom>
            <a:solidFill>
              <a:srgbClr val="243352"/>
            </a:solidFill>
            <a:ln w="12700">
              <a:solidFill>
                <a:srgbClr val="4A9FE8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Text 7">
              <a:extLst>
                <a:ext uri="{FF2B5EF4-FFF2-40B4-BE49-F238E27FC236}">
                  <a16:creationId xmlns:a16="http://schemas.microsoft.com/office/drawing/2014/main" id="{8AE45A2A-BC0A-9E36-3087-7CD8B7AC49A9}"/>
                </a:ext>
              </a:extLst>
            </p:cNvPr>
            <p:cNvSpPr/>
            <p:nvPr/>
          </p:nvSpPr>
          <p:spPr>
            <a:xfrm>
              <a:off x="3246120" y="1005840"/>
              <a:ext cx="26517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3000" b="1" dirty="0">
                  <a:solidFill>
                    <a:srgbClr val="4A9FE8"/>
                  </a:solidFill>
                </a:rPr>
                <a:t>0 Drop</a:t>
              </a:r>
              <a:endParaRPr lang="en-US" sz="3000" dirty="0"/>
            </a:p>
          </p:txBody>
        </p:sp>
        <p:sp>
          <p:nvSpPr>
            <p:cNvPr id="7" name="Text 8">
              <a:extLst>
                <a:ext uri="{FF2B5EF4-FFF2-40B4-BE49-F238E27FC236}">
                  <a16:creationId xmlns:a16="http://schemas.microsoft.com/office/drawing/2014/main" id="{25E6BCE2-6B61-08BF-9C5D-850236F8CE38}"/>
                </a:ext>
              </a:extLst>
            </p:cNvPr>
            <p:cNvSpPr/>
            <p:nvPr/>
          </p:nvSpPr>
          <p:spPr>
            <a:xfrm>
              <a:off x="3246120" y="1664208"/>
              <a:ext cx="265176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30000"/>
                </a:lnSpc>
                <a:buNone/>
              </a:pPr>
              <a:r>
                <a:rPr lang="en-US" sz="1300" dirty="0">
                  <a:solidFill>
                    <a:srgbClr val="AABEDD"/>
                  </a:solidFill>
                </a:rPr>
                <a:t>비동기 큐로</a:t>
              </a:r>
              <a:endParaRPr lang="en-US" sz="1050" dirty="0"/>
            </a:p>
            <a:p>
              <a:pPr marL="0" indent="0" algn="ctr">
                <a:lnSpc>
                  <a:spcPct val="130000"/>
                </a:lnSpc>
                <a:buNone/>
              </a:pPr>
              <a:r>
                <a:rPr lang="en-US" sz="1300" dirty="0">
                  <a:solidFill>
                    <a:srgbClr val="AABEDD"/>
                  </a:solidFill>
                </a:rPr>
                <a:t>검사 중 저장 누락 방지</a:t>
              </a:r>
              <a:endParaRPr lang="en-US" sz="1050" dirty="0"/>
            </a:p>
          </p:txBody>
        </p:sp>
        <p:sp>
          <p:nvSpPr>
            <p:cNvPr id="8" name="Shape 9">
              <a:extLst>
                <a:ext uri="{FF2B5EF4-FFF2-40B4-BE49-F238E27FC236}">
                  <a16:creationId xmlns:a16="http://schemas.microsoft.com/office/drawing/2014/main" id="{381C3D22-0380-CFA6-1C02-538014058C1E}"/>
                </a:ext>
              </a:extLst>
            </p:cNvPr>
            <p:cNvSpPr/>
            <p:nvPr/>
          </p:nvSpPr>
          <p:spPr>
            <a:xfrm>
              <a:off x="6172200" y="960120"/>
              <a:ext cx="2651760" cy="1371600"/>
            </a:xfrm>
            <a:prstGeom prst="rect">
              <a:avLst/>
            </a:prstGeom>
            <a:solidFill>
              <a:srgbClr val="243352"/>
            </a:solidFill>
            <a:ln w="12700">
              <a:solidFill>
                <a:srgbClr val="4A9FE8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 10">
              <a:extLst>
                <a:ext uri="{FF2B5EF4-FFF2-40B4-BE49-F238E27FC236}">
                  <a16:creationId xmlns:a16="http://schemas.microsoft.com/office/drawing/2014/main" id="{2BDC7D90-823A-ABEA-4C6B-059AF6178C9B}"/>
                </a:ext>
              </a:extLst>
            </p:cNvPr>
            <p:cNvSpPr/>
            <p:nvPr/>
          </p:nvSpPr>
          <p:spPr>
            <a:xfrm>
              <a:off x="6172200" y="1005840"/>
              <a:ext cx="26517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3000" b="1" dirty="0">
                  <a:solidFill>
                    <a:srgbClr val="4A9FE8"/>
                  </a:solidFill>
                </a:rPr>
                <a:t>N 병렬</a:t>
              </a:r>
              <a:endParaRPr lang="en-US" sz="3000" dirty="0"/>
            </a:p>
          </p:txBody>
        </p:sp>
        <p:sp>
          <p:nvSpPr>
            <p:cNvPr id="10" name="Text 11">
              <a:extLst>
                <a:ext uri="{FF2B5EF4-FFF2-40B4-BE49-F238E27FC236}">
                  <a16:creationId xmlns:a16="http://schemas.microsoft.com/office/drawing/2014/main" id="{C4CBD5D2-7E50-14A1-A7C1-CFE91BD9CB6C}"/>
                </a:ext>
              </a:extLst>
            </p:cNvPr>
            <p:cNvSpPr/>
            <p:nvPr/>
          </p:nvSpPr>
          <p:spPr>
            <a:xfrm>
              <a:off x="6172200" y="1664208"/>
              <a:ext cx="265176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30000"/>
                </a:lnSpc>
                <a:buNone/>
              </a:pPr>
              <a:r>
                <a:rPr lang="en-US" sz="1300" dirty="0">
                  <a:solidFill>
                    <a:srgbClr val="AABEDD"/>
                  </a:solidFill>
                </a:rPr>
                <a:t>Parallel.For로</a:t>
              </a:r>
              <a:endParaRPr lang="en-US" sz="1050" dirty="0"/>
            </a:p>
            <a:p>
              <a:pPr marL="0" indent="0" algn="ctr">
                <a:lnSpc>
                  <a:spcPct val="130000"/>
                </a:lnSpc>
                <a:buNone/>
              </a:pPr>
              <a:r>
                <a:rPr lang="en-US" sz="1300" dirty="0">
                  <a:solidFill>
                    <a:srgbClr val="AABEDD"/>
                  </a:solidFill>
                </a:rPr>
                <a:t>건반 수에 비례한 선형 확장</a:t>
              </a:r>
              <a:endParaRPr lang="en-US" sz="1050" dirty="0"/>
            </a:p>
          </p:txBody>
        </p:sp>
        <p:sp>
          <p:nvSpPr>
            <p:cNvPr id="11" name="Text 12">
              <a:extLst>
                <a:ext uri="{FF2B5EF4-FFF2-40B4-BE49-F238E27FC236}">
                  <a16:creationId xmlns:a16="http://schemas.microsoft.com/office/drawing/2014/main" id="{08B24BC3-AEEB-9906-DFDA-091BB3AC8ADF}"/>
                </a:ext>
              </a:extLst>
            </p:cNvPr>
            <p:cNvSpPr/>
            <p:nvPr/>
          </p:nvSpPr>
          <p:spPr>
            <a:xfrm>
              <a:off x="320040" y="2542032"/>
              <a:ext cx="457200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B2A4A"/>
                  </a:solidFill>
                </a:rPr>
                <a:t>해결한 기술적 문제들</a:t>
              </a:r>
              <a:endParaRPr lang="en-US" sz="1400" dirty="0">
                <a:solidFill>
                  <a:srgbClr val="1B2A4A"/>
                </a:solidFill>
              </a:endParaRPr>
            </a:p>
          </p:txBody>
        </p:sp>
        <p:sp>
          <p:nvSpPr>
            <p:cNvPr id="12" name="Shape 13">
              <a:extLst>
                <a:ext uri="{FF2B5EF4-FFF2-40B4-BE49-F238E27FC236}">
                  <a16:creationId xmlns:a16="http://schemas.microsoft.com/office/drawing/2014/main" id="{8BF5B9E5-5FBB-87CB-F61F-F2E5DD39E1AE}"/>
                </a:ext>
              </a:extLst>
            </p:cNvPr>
            <p:cNvSpPr/>
            <p:nvPr/>
          </p:nvSpPr>
          <p:spPr>
            <a:xfrm>
              <a:off x="320040" y="2944368"/>
              <a:ext cx="4160520" cy="384048"/>
            </a:xfrm>
            <a:prstGeom prst="rect">
              <a:avLst/>
            </a:prstGeom>
            <a:solidFill>
              <a:srgbClr val="0D2340"/>
            </a:solidFill>
            <a:ln w="8890">
              <a:solidFill>
                <a:srgbClr val="FF000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 14">
              <a:extLst>
                <a:ext uri="{FF2B5EF4-FFF2-40B4-BE49-F238E27FC236}">
                  <a16:creationId xmlns:a16="http://schemas.microsoft.com/office/drawing/2014/main" id="{BCEC752A-FB1D-BC73-E1FD-7A42859817FC}"/>
                </a:ext>
              </a:extLst>
            </p:cNvPr>
            <p:cNvSpPr/>
            <p:nvPr/>
          </p:nvSpPr>
          <p:spPr>
            <a:xfrm>
              <a:off x="365760" y="2999232"/>
              <a:ext cx="40690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FF3300"/>
                  </a:solidFill>
                </a:rPr>
                <a:t>✗  카메라 해상도 변경 시 버퍼 불일치</a:t>
              </a:r>
              <a:endParaRPr lang="en-US" sz="1050" dirty="0">
                <a:solidFill>
                  <a:srgbClr val="FF3300"/>
                </a:solidFill>
              </a:endParaRPr>
            </a:p>
          </p:txBody>
        </p:sp>
        <p:sp>
          <p:nvSpPr>
            <p:cNvPr id="14" name="Shape 15">
              <a:extLst>
                <a:ext uri="{FF2B5EF4-FFF2-40B4-BE49-F238E27FC236}">
                  <a16:creationId xmlns:a16="http://schemas.microsoft.com/office/drawing/2014/main" id="{38890D49-D62B-69AB-50E2-BAB3F50083DA}"/>
                </a:ext>
              </a:extLst>
            </p:cNvPr>
            <p:cNvSpPr/>
            <p:nvPr/>
          </p:nvSpPr>
          <p:spPr>
            <a:xfrm>
              <a:off x="4663440" y="2944368"/>
              <a:ext cx="4160520" cy="384048"/>
            </a:xfrm>
            <a:prstGeom prst="rect">
              <a:avLst/>
            </a:prstGeom>
            <a:solidFill>
              <a:srgbClr val="1B2A4A"/>
            </a:solidFill>
            <a:ln w="889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6">
              <a:extLst>
                <a:ext uri="{FF2B5EF4-FFF2-40B4-BE49-F238E27FC236}">
                  <a16:creationId xmlns:a16="http://schemas.microsoft.com/office/drawing/2014/main" id="{ABA29A9B-DF47-32E5-63D7-83B77FD5D9F2}"/>
                </a:ext>
              </a:extLst>
            </p:cNvPr>
            <p:cNvSpPr/>
            <p:nvPr/>
          </p:nvSpPr>
          <p:spPr>
            <a:xfrm>
              <a:off x="4709160" y="2999232"/>
              <a:ext cx="40690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D0D8EC"/>
                  </a:solidFill>
                </a:rPr>
                <a:t>✓  CheckImageBuffer()로 자동 재할당</a:t>
              </a:r>
              <a:endParaRPr lang="en-US" sz="1050" dirty="0"/>
            </a:p>
          </p:txBody>
        </p:sp>
        <p:sp>
          <p:nvSpPr>
            <p:cNvPr id="16" name="Shape 17">
              <a:extLst>
                <a:ext uri="{FF2B5EF4-FFF2-40B4-BE49-F238E27FC236}">
                  <a16:creationId xmlns:a16="http://schemas.microsoft.com/office/drawing/2014/main" id="{1ABEE84E-9CEC-2D59-A685-D61EF8FCF329}"/>
                </a:ext>
              </a:extLst>
            </p:cNvPr>
            <p:cNvSpPr/>
            <p:nvPr/>
          </p:nvSpPr>
          <p:spPr>
            <a:xfrm>
              <a:off x="4480560" y="3136392"/>
              <a:ext cx="182880" cy="0"/>
            </a:xfrm>
            <a:prstGeom prst="line">
              <a:avLst/>
            </a:prstGeom>
            <a:noFill/>
            <a:ln w="1905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Shape 18">
              <a:extLst>
                <a:ext uri="{FF2B5EF4-FFF2-40B4-BE49-F238E27FC236}">
                  <a16:creationId xmlns:a16="http://schemas.microsoft.com/office/drawing/2014/main" id="{F708AAB6-B669-9964-2ED7-F83F43DDED01}"/>
                </a:ext>
              </a:extLst>
            </p:cNvPr>
            <p:cNvSpPr/>
            <p:nvPr/>
          </p:nvSpPr>
          <p:spPr>
            <a:xfrm>
              <a:off x="320040" y="3419856"/>
              <a:ext cx="4160520" cy="384048"/>
            </a:xfrm>
            <a:prstGeom prst="rect">
              <a:avLst/>
            </a:prstGeom>
            <a:solidFill>
              <a:srgbClr val="0D2340"/>
            </a:solidFill>
            <a:ln w="8890">
              <a:solidFill>
                <a:srgbClr val="FF0000"/>
              </a:solidFill>
              <a:prstDash val="solid"/>
            </a:ln>
          </p:spPr>
          <p:txBody>
            <a:bodyPr/>
            <a:lstStyle/>
            <a:p>
              <a:endParaRPr lang="ko-KR" altLang="en-US">
                <a:solidFill>
                  <a:srgbClr val="FF3300"/>
                </a:solidFill>
              </a:endParaRPr>
            </a:p>
          </p:txBody>
        </p:sp>
        <p:sp>
          <p:nvSpPr>
            <p:cNvPr id="18" name="Text 19">
              <a:extLst>
                <a:ext uri="{FF2B5EF4-FFF2-40B4-BE49-F238E27FC236}">
                  <a16:creationId xmlns:a16="http://schemas.microsoft.com/office/drawing/2014/main" id="{614736F2-C4F9-AA21-4787-F0A9DA3433F7}"/>
                </a:ext>
              </a:extLst>
            </p:cNvPr>
            <p:cNvSpPr/>
            <p:nvPr/>
          </p:nvSpPr>
          <p:spPr>
            <a:xfrm>
              <a:off x="365760" y="3474720"/>
              <a:ext cx="40690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FF3300"/>
                  </a:solidFill>
                </a:rPr>
                <a:t>✗  어두운 건반의 각인 미검출</a:t>
              </a:r>
              <a:endParaRPr lang="en-US" sz="1050" dirty="0">
                <a:solidFill>
                  <a:srgbClr val="FF3300"/>
                </a:solidFill>
              </a:endParaRPr>
            </a:p>
          </p:txBody>
        </p:sp>
        <p:sp>
          <p:nvSpPr>
            <p:cNvPr id="19" name="Shape 20">
              <a:extLst>
                <a:ext uri="{FF2B5EF4-FFF2-40B4-BE49-F238E27FC236}">
                  <a16:creationId xmlns:a16="http://schemas.microsoft.com/office/drawing/2014/main" id="{78C5CDBE-0D1D-65FE-32CD-3115C44F6C54}"/>
                </a:ext>
              </a:extLst>
            </p:cNvPr>
            <p:cNvSpPr/>
            <p:nvPr/>
          </p:nvSpPr>
          <p:spPr>
            <a:xfrm>
              <a:off x="4663440" y="3419856"/>
              <a:ext cx="4160520" cy="384048"/>
            </a:xfrm>
            <a:prstGeom prst="rect">
              <a:avLst/>
            </a:prstGeom>
            <a:solidFill>
              <a:srgbClr val="1B2A4A"/>
            </a:solidFill>
            <a:ln w="889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21">
              <a:extLst>
                <a:ext uri="{FF2B5EF4-FFF2-40B4-BE49-F238E27FC236}">
                  <a16:creationId xmlns:a16="http://schemas.microsoft.com/office/drawing/2014/main" id="{51F93DA1-940F-7EB9-EAE4-0CC330BC47B5}"/>
                </a:ext>
              </a:extLst>
            </p:cNvPr>
            <p:cNvSpPr/>
            <p:nvPr/>
          </p:nvSpPr>
          <p:spPr>
            <a:xfrm>
              <a:off x="4709160" y="3474720"/>
              <a:ext cx="40690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D0D8EC"/>
                  </a:solidFill>
                </a:rPr>
                <a:t>✓  CLAHE 로컬 대비 향상으로 해결</a:t>
              </a:r>
              <a:endParaRPr lang="en-US" sz="1050" dirty="0"/>
            </a:p>
          </p:txBody>
        </p:sp>
        <p:sp>
          <p:nvSpPr>
            <p:cNvPr id="21" name="Shape 22">
              <a:extLst>
                <a:ext uri="{FF2B5EF4-FFF2-40B4-BE49-F238E27FC236}">
                  <a16:creationId xmlns:a16="http://schemas.microsoft.com/office/drawing/2014/main" id="{6FCD82B0-9314-15FC-3570-DDC2536EA8D5}"/>
                </a:ext>
              </a:extLst>
            </p:cNvPr>
            <p:cNvSpPr/>
            <p:nvPr/>
          </p:nvSpPr>
          <p:spPr>
            <a:xfrm>
              <a:off x="4480560" y="3611880"/>
              <a:ext cx="182880" cy="0"/>
            </a:xfrm>
            <a:prstGeom prst="line">
              <a:avLst/>
            </a:prstGeom>
            <a:noFill/>
            <a:ln w="1905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Shape 23">
              <a:extLst>
                <a:ext uri="{FF2B5EF4-FFF2-40B4-BE49-F238E27FC236}">
                  <a16:creationId xmlns:a16="http://schemas.microsoft.com/office/drawing/2014/main" id="{68463C29-AC2C-3A84-E110-0326376CFBD5}"/>
                </a:ext>
              </a:extLst>
            </p:cNvPr>
            <p:cNvSpPr/>
            <p:nvPr/>
          </p:nvSpPr>
          <p:spPr>
            <a:xfrm>
              <a:off x="320040" y="3895344"/>
              <a:ext cx="4160520" cy="384048"/>
            </a:xfrm>
            <a:prstGeom prst="rect">
              <a:avLst/>
            </a:prstGeom>
            <a:solidFill>
              <a:srgbClr val="0D2340"/>
            </a:solidFill>
            <a:ln w="8890">
              <a:solidFill>
                <a:srgbClr val="FF0000"/>
              </a:solidFill>
              <a:prstDash val="solid"/>
            </a:ln>
          </p:spPr>
          <p:txBody>
            <a:bodyPr/>
            <a:lstStyle/>
            <a:p>
              <a:endParaRPr lang="ko-KR" altLang="en-US">
                <a:solidFill>
                  <a:srgbClr val="FF3300"/>
                </a:solidFill>
              </a:endParaRPr>
            </a:p>
          </p:txBody>
        </p:sp>
        <p:sp>
          <p:nvSpPr>
            <p:cNvPr id="23" name="Text 24">
              <a:extLst>
                <a:ext uri="{FF2B5EF4-FFF2-40B4-BE49-F238E27FC236}">
                  <a16:creationId xmlns:a16="http://schemas.microsoft.com/office/drawing/2014/main" id="{B55E1B90-5AE1-884E-2D2B-57B6BF062DE6}"/>
                </a:ext>
              </a:extLst>
            </p:cNvPr>
            <p:cNvSpPr/>
            <p:nvPr/>
          </p:nvSpPr>
          <p:spPr>
            <a:xfrm>
              <a:off x="365760" y="3950208"/>
              <a:ext cx="40690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FF3300"/>
                  </a:solidFill>
                </a:rPr>
                <a:t>✗  저장 스레드 지연으로 검사 병목</a:t>
              </a:r>
              <a:endParaRPr lang="en-US" sz="1050" dirty="0">
                <a:solidFill>
                  <a:srgbClr val="FF3300"/>
                </a:solidFill>
              </a:endParaRPr>
            </a:p>
          </p:txBody>
        </p:sp>
        <p:sp>
          <p:nvSpPr>
            <p:cNvPr id="24" name="Shape 25">
              <a:extLst>
                <a:ext uri="{FF2B5EF4-FFF2-40B4-BE49-F238E27FC236}">
                  <a16:creationId xmlns:a16="http://schemas.microsoft.com/office/drawing/2014/main" id="{4628C1F2-C1B7-4C52-C608-61A96CBEEA8E}"/>
                </a:ext>
              </a:extLst>
            </p:cNvPr>
            <p:cNvSpPr/>
            <p:nvPr/>
          </p:nvSpPr>
          <p:spPr>
            <a:xfrm>
              <a:off x="4663440" y="3895344"/>
              <a:ext cx="4160520" cy="384048"/>
            </a:xfrm>
            <a:prstGeom prst="rect">
              <a:avLst/>
            </a:prstGeom>
            <a:solidFill>
              <a:srgbClr val="1B2A4A"/>
            </a:solidFill>
            <a:ln w="889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 26">
              <a:extLst>
                <a:ext uri="{FF2B5EF4-FFF2-40B4-BE49-F238E27FC236}">
                  <a16:creationId xmlns:a16="http://schemas.microsoft.com/office/drawing/2014/main" id="{D6296EAB-112D-57B6-CFF8-7BB1579C12AB}"/>
                </a:ext>
              </a:extLst>
            </p:cNvPr>
            <p:cNvSpPr/>
            <p:nvPr/>
          </p:nvSpPr>
          <p:spPr>
            <a:xfrm>
              <a:off x="4709160" y="3950208"/>
              <a:ext cx="40690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D0D8EC"/>
                  </a:solidFill>
                </a:rPr>
                <a:t>✓  BlockingCollection 큐 + 전용 스레드 분리</a:t>
              </a:r>
              <a:endParaRPr lang="en-US" sz="1050" dirty="0"/>
            </a:p>
          </p:txBody>
        </p:sp>
        <p:sp>
          <p:nvSpPr>
            <p:cNvPr id="26" name="Shape 27">
              <a:extLst>
                <a:ext uri="{FF2B5EF4-FFF2-40B4-BE49-F238E27FC236}">
                  <a16:creationId xmlns:a16="http://schemas.microsoft.com/office/drawing/2014/main" id="{A0F7E890-3296-C4DC-318D-782968FC9804}"/>
                </a:ext>
              </a:extLst>
            </p:cNvPr>
            <p:cNvSpPr/>
            <p:nvPr/>
          </p:nvSpPr>
          <p:spPr>
            <a:xfrm>
              <a:off x="4480560" y="4087368"/>
              <a:ext cx="182880" cy="0"/>
            </a:xfrm>
            <a:prstGeom prst="line">
              <a:avLst/>
            </a:prstGeom>
            <a:noFill/>
            <a:ln w="1905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Shape 28">
              <a:extLst>
                <a:ext uri="{FF2B5EF4-FFF2-40B4-BE49-F238E27FC236}">
                  <a16:creationId xmlns:a16="http://schemas.microsoft.com/office/drawing/2014/main" id="{5C2F3D95-8F5D-500A-9F76-20D43784AF9A}"/>
                </a:ext>
              </a:extLst>
            </p:cNvPr>
            <p:cNvSpPr/>
            <p:nvPr/>
          </p:nvSpPr>
          <p:spPr>
            <a:xfrm>
              <a:off x="320040" y="4370832"/>
              <a:ext cx="4160520" cy="384048"/>
            </a:xfrm>
            <a:prstGeom prst="rect">
              <a:avLst/>
            </a:prstGeom>
            <a:solidFill>
              <a:srgbClr val="0D2340"/>
            </a:solidFill>
            <a:ln w="8890">
              <a:solidFill>
                <a:srgbClr val="FF0000"/>
              </a:solidFill>
              <a:prstDash val="solid"/>
            </a:ln>
          </p:spPr>
          <p:txBody>
            <a:bodyPr/>
            <a:lstStyle/>
            <a:p>
              <a:endParaRPr lang="ko-KR" altLang="en-US">
                <a:solidFill>
                  <a:srgbClr val="FF3300"/>
                </a:solidFill>
              </a:endParaRPr>
            </a:p>
          </p:txBody>
        </p:sp>
        <p:sp>
          <p:nvSpPr>
            <p:cNvPr id="28" name="Text 29">
              <a:extLst>
                <a:ext uri="{FF2B5EF4-FFF2-40B4-BE49-F238E27FC236}">
                  <a16:creationId xmlns:a16="http://schemas.microsoft.com/office/drawing/2014/main" id="{E132F852-49F1-3028-9F4E-701616BDD7B5}"/>
                </a:ext>
              </a:extLst>
            </p:cNvPr>
            <p:cNvSpPr/>
            <p:nvPr/>
          </p:nvSpPr>
          <p:spPr>
            <a:xfrm>
              <a:off x="365760" y="4425696"/>
              <a:ext cx="40690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FF3300"/>
                  </a:solidFill>
                </a:rPr>
                <a:t>✗  경계 건반 ROI 이탈 오탐</a:t>
              </a:r>
              <a:endParaRPr lang="en-US" sz="1050" dirty="0">
                <a:solidFill>
                  <a:srgbClr val="FF3300"/>
                </a:solidFill>
              </a:endParaRPr>
            </a:p>
          </p:txBody>
        </p:sp>
        <p:sp>
          <p:nvSpPr>
            <p:cNvPr id="29" name="Shape 30">
              <a:extLst>
                <a:ext uri="{FF2B5EF4-FFF2-40B4-BE49-F238E27FC236}">
                  <a16:creationId xmlns:a16="http://schemas.microsoft.com/office/drawing/2014/main" id="{C35E49D1-4FEA-6BC9-6815-79F0759BE901}"/>
                </a:ext>
              </a:extLst>
            </p:cNvPr>
            <p:cNvSpPr/>
            <p:nvPr/>
          </p:nvSpPr>
          <p:spPr>
            <a:xfrm>
              <a:off x="4663440" y="4370832"/>
              <a:ext cx="4160520" cy="384048"/>
            </a:xfrm>
            <a:prstGeom prst="rect">
              <a:avLst/>
            </a:prstGeom>
            <a:solidFill>
              <a:srgbClr val="1B2A4A"/>
            </a:solidFill>
            <a:ln w="889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 31">
              <a:extLst>
                <a:ext uri="{FF2B5EF4-FFF2-40B4-BE49-F238E27FC236}">
                  <a16:creationId xmlns:a16="http://schemas.microsoft.com/office/drawing/2014/main" id="{5FF0D63B-7B3D-BCBC-5BAC-38AE1A50D172}"/>
                </a:ext>
              </a:extLst>
            </p:cNvPr>
            <p:cNvSpPr/>
            <p:nvPr/>
          </p:nvSpPr>
          <p:spPr>
            <a:xfrm>
              <a:off x="4709160" y="4425696"/>
              <a:ext cx="40690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D0D8EC"/>
                  </a:solidFill>
                </a:rPr>
                <a:t>✓  이미지 경계 클리핑 감지 후 높이 기준 완화</a:t>
              </a:r>
              <a:endParaRPr lang="en-US" sz="1050" dirty="0"/>
            </a:p>
          </p:txBody>
        </p:sp>
        <p:sp>
          <p:nvSpPr>
            <p:cNvPr id="31" name="Shape 32">
              <a:extLst>
                <a:ext uri="{FF2B5EF4-FFF2-40B4-BE49-F238E27FC236}">
                  <a16:creationId xmlns:a16="http://schemas.microsoft.com/office/drawing/2014/main" id="{594D2C09-5E53-BBCE-CE60-5A8E0EBB5603}"/>
                </a:ext>
              </a:extLst>
            </p:cNvPr>
            <p:cNvSpPr/>
            <p:nvPr/>
          </p:nvSpPr>
          <p:spPr>
            <a:xfrm>
              <a:off x="4480560" y="4562856"/>
              <a:ext cx="182880" cy="0"/>
            </a:xfrm>
            <a:prstGeom prst="line">
              <a:avLst/>
            </a:prstGeom>
            <a:noFill/>
            <a:ln w="1905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1424589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B1E89-323E-5311-6F36-6D00779F1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content_bg">
            <a:extLst>
              <a:ext uri="{FF2B5EF4-FFF2-40B4-BE49-F238E27FC236}">
                <a16:creationId xmlns:a16="http://schemas.microsoft.com/office/drawing/2014/main" id="{82F01489-C947-98AB-B24E-FE4E6F2DBE2C}"/>
              </a:ext>
            </a:extLst>
          </p:cNvPr>
          <p:cNvSpPr>
            <a:spLocks noGrp="1"/>
          </p:cNvSpPr>
          <p:nvPr/>
        </p:nvSpPr>
        <p:spPr>
          <a:xfrm>
            <a:off x="0" y="820000"/>
            <a:ext cx="12192000" cy="6038000"/>
          </a:xfrm>
          <a:prstGeom prst="rect">
            <a:avLst/>
          </a:prstGeom>
          <a:solidFill>
            <a:srgbClr val="EEF1F5"/>
          </a:solidFill>
        </p:spPr>
        <p:txBody>
          <a:bodyPr/>
          <a:lstStyle/>
          <a:p>
            <a:endParaRPr lang="ko-KR" dirty="0"/>
          </a:p>
        </p:txBody>
      </p:sp>
      <p:sp>
        <p:nvSpPr>
          <p:cNvPr id="901" name="header_bar">
            <a:extLst>
              <a:ext uri="{FF2B5EF4-FFF2-40B4-BE49-F238E27FC236}">
                <a16:creationId xmlns:a16="http://schemas.microsoft.com/office/drawing/2014/main" id="{9504539A-C925-80B1-8C34-84B981D739E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2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 lang="ko-KR"/>
          </a:p>
        </p:txBody>
      </p:sp>
      <p:sp>
        <p:nvSpPr>
          <p:cNvPr id="902" name="accent_stripe">
            <a:extLst>
              <a:ext uri="{FF2B5EF4-FFF2-40B4-BE49-F238E27FC236}">
                <a16:creationId xmlns:a16="http://schemas.microsoft.com/office/drawing/2014/main" id="{662CD28D-19AC-2698-16F6-7C7E733DB2F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0000" cy="820000"/>
          </a:xfrm>
          <a:prstGeom prst="rect">
            <a:avLst/>
          </a:prstGeom>
          <a:solidFill>
            <a:srgbClr val="E05A1A"/>
          </a:solidFill>
        </p:spPr>
        <p:txBody>
          <a:bodyPr/>
          <a:lstStyle/>
          <a:p>
            <a:endParaRPr lang="ko-KR"/>
          </a:p>
        </p:txBody>
      </p:sp>
      <p:sp>
        <p:nvSpPr>
          <p:cNvPr id="904" name="step_badge">
            <a:extLst>
              <a:ext uri="{FF2B5EF4-FFF2-40B4-BE49-F238E27FC236}">
                <a16:creationId xmlns:a16="http://schemas.microsoft.com/office/drawing/2014/main" id="{9976323E-11AE-FFB3-B45C-E59D311D4C15}"/>
              </a:ext>
            </a:extLst>
          </p:cNvPr>
          <p:cNvSpPr>
            <a:spLocks noGrp="1"/>
          </p:cNvSpPr>
          <p:nvPr/>
        </p:nvSpPr>
        <p:spPr>
          <a:xfrm>
            <a:off x="11492000" y="0"/>
            <a:ext cx="700000" cy="820000"/>
          </a:xfrm>
          <a:prstGeom prst="rect">
            <a:avLst/>
          </a:prstGeom>
          <a:solidFill>
            <a:srgbClr val="E05A1A"/>
          </a:solidFill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910" name="cat_badge">
            <a:extLst>
              <a:ext uri="{FF2B5EF4-FFF2-40B4-BE49-F238E27FC236}">
                <a16:creationId xmlns:a16="http://schemas.microsoft.com/office/drawing/2014/main" id="{2DDB7171-16DA-43A7-7D61-387DC19E9859}"/>
              </a:ext>
            </a:extLst>
          </p:cNvPr>
          <p:cNvSpPr>
            <a:spLocks noGrp="1"/>
          </p:cNvSpPr>
          <p:nvPr/>
        </p:nvSpPr>
        <p:spPr>
          <a:xfrm>
            <a:off x="320000" y="110000"/>
            <a:ext cx="1350000" cy="600000"/>
          </a:xfrm>
          <a:prstGeom prst="roundRect">
            <a:avLst>
              <a:gd name="adj" fmla="val 20000"/>
            </a:avLst>
          </a:prstGeom>
          <a:solidFill>
            <a:srgbClr val="E05A1A">
              <a:alpha val="28000"/>
            </a:srgbClr>
          </a:solidFill>
          <a:ln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400" b="1" dirty="0">
                <a:solidFill>
                  <a:srgbClr val="FFBB88"/>
                </a:solidFill>
              </a:rPr>
              <a:t>타임라인</a:t>
            </a:r>
          </a:p>
        </p:txBody>
      </p:sp>
      <p:sp>
        <p:nvSpPr>
          <p:cNvPr id="903" name="header_title">
            <a:extLst>
              <a:ext uri="{FF2B5EF4-FFF2-40B4-BE49-F238E27FC236}">
                <a16:creationId xmlns:a16="http://schemas.microsoft.com/office/drawing/2014/main" id="{9BEAD9B0-1E2C-37F5-68A0-27AB1D02032C}"/>
              </a:ext>
            </a:extLst>
          </p:cNvPr>
          <p:cNvSpPr txBox="1"/>
          <p:nvPr/>
        </p:nvSpPr>
        <p:spPr>
          <a:xfrm>
            <a:off x="1830000" y="0"/>
            <a:ext cx="9562000" cy="8200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r>
              <a:rPr lang="ko-KR" altLang="en-US" sz="2000" b="1" dirty="0">
                <a:solidFill>
                  <a:srgbClr val="FFFFFF"/>
                </a:solidFill>
              </a:rPr>
              <a:t>개발 타임라인 (실제 커밋 기반)</a:t>
            </a:r>
          </a:p>
        </p:txBody>
      </p:sp>
      <p:grpSp>
        <p:nvGrpSpPr>
          <p:cNvPr id="920" name="그룹 919">
            <a:extLst>
              <a:ext uri="{FF2B5EF4-FFF2-40B4-BE49-F238E27FC236}">
                <a16:creationId xmlns:a16="http://schemas.microsoft.com/office/drawing/2014/main" id="{C4BA38CB-2EC0-1118-A385-F26A96E8493E}"/>
              </a:ext>
            </a:extLst>
          </p:cNvPr>
          <p:cNvGrpSpPr/>
          <p:nvPr/>
        </p:nvGrpSpPr>
        <p:grpSpPr>
          <a:xfrm>
            <a:off x="784960" y="1300059"/>
            <a:ext cx="10607040" cy="5077881"/>
            <a:chOff x="365760" y="960120"/>
            <a:chExt cx="8513064" cy="4069080"/>
          </a:xfrm>
        </p:grpSpPr>
        <p:sp>
          <p:nvSpPr>
            <p:cNvPr id="33" name="Shape 3">
              <a:extLst>
                <a:ext uri="{FF2B5EF4-FFF2-40B4-BE49-F238E27FC236}">
                  <a16:creationId xmlns:a16="http://schemas.microsoft.com/office/drawing/2014/main" id="{BB226D46-B6F1-1FDD-B884-CD08EBA6ACBF}"/>
                </a:ext>
              </a:extLst>
            </p:cNvPr>
            <p:cNvSpPr/>
            <p:nvPr/>
          </p:nvSpPr>
          <p:spPr>
            <a:xfrm>
              <a:off x="365760" y="2919189"/>
              <a:ext cx="8412480" cy="54864"/>
            </a:xfrm>
            <a:prstGeom prst="rect">
              <a:avLst/>
            </a:prstGeom>
            <a:solidFill>
              <a:srgbClr val="4A9FE8"/>
            </a:solidFill>
            <a:ln w="1270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34" name="Shape 4">
              <a:extLst>
                <a:ext uri="{FF2B5EF4-FFF2-40B4-BE49-F238E27FC236}">
                  <a16:creationId xmlns:a16="http://schemas.microsoft.com/office/drawing/2014/main" id="{EA44EBF3-B537-CDD1-4C82-5719DCE641D6}"/>
                </a:ext>
              </a:extLst>
            </p:cNvPr>
            <p:cNvSpPr/>
            <p:nvPr/>
          </p:nvSpPr>
          <p:spPr>
            <a:xfrm>
              <a:off x="713232" y="1956816"/>
              <a:ext cx="0" cy="886968"/>
            </a:xfrm>
            <a:prstGeom prst="line">
              <a:avLst/>
            </a:prstGeom>
            <a:noFill/>
            <a:ln w="1524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35" name="Shape 5">
              <a:extLst>
                <a:ext uri="{FF2B5EF4-FFF2-40B4-BE49-F238E27FC236}">
                  <a16:creationId xmlns:a16="http://schemas.microsoft.com/office/drawing/2014/main" id="{4C50221D-CA50-42F6-9349-F9A60AF96096}"/>
                </a:ext>
              </a:extLst>
            </p:cNvPr>
            <p:cNvSpPr/>
            <p:nvPr/>
          </p:nvSpPr>
          <p:spPr>
            <a:xfrm>
              <a:off x="594360" y="2825496"/>
              <a:ext cx="237744" cy="237744"/>
            </a:xfrm>
            <a:prstGeom prst="ellipse">
              <a:avLst/>
            </a:prstGeom>
            <a:solidFill>
              <a:srgbClr val="1B2A4A"/>
            </a:solidFill>
            <a:ln w="1905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36" name="Text 6">
              <a:extLst>
                <a:ext uri="{FF2B5EF4-FFF2-40B4-BE49-F238E27FC236}">
                  <a16:creationId xmlns:a16="http://schemas.microsoft.com/office/drawing/2014/main" id="{7CDF8543-0EC9-936C-737B-28F06FE5876E}"/>
                </a:ext>
              </a:extLst>
            </p:cNvPr>
            <p:cNvSpPr/>
            <p:nvPr/>
          </p:nvSpPr>
          <p:spPr>
            <a:xfrm>
              <a:off x="457200" y="3145536"/>
              <a:ext cx="77724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rgbClr val="8899BB"/>
                  </a:solidFill>
                </a:rPr>
                <a:t>3/4(수)</a:t>
              </a:r>
              <a:endParaRPr lang="en-US" sz="1400" dirty="0"/>
            </a:p>
          </p:txBody>
        </p:sp>
        <p:sp>
          <p:nvSpPr>
            <p:cNvPr id="37" name="Shape 7">
              <a:extLst>
                <a:ext uri="{FF2B5EF4-FFF2-40B4-BE49-F238E27FC236}">
                  <a16:creationId xmlns:a16="http://schemas.microsoft.com/office/drawing/2014/main" id="{25DF2AE4-0F0C-D77C-1595-6EC516F0D6BE}"/>
                </a:ext>
              </a:extLst>
            </p:cNvPr>
            <p:cNvSpPr/>
            <p:nvPr/>
          </p:nvSpPr>
          <p:spPr>
            <a:xfrm>
              <a:off x="438912" y="960120"/>
              <a:ext cx="1078992" cy="987552"/>
            </a:xfrm>
            <a:prstGeom prst="rect">
              <a:avLst/>
            </a:prstGeom>
            <a:solidFill>
              <a:srgbClr val="1B2A4A"/>
            </a:solidFill>
            <a:ln w="10160">
              <a:solidFill>
                <a:srgbClr val="4A9FE8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38" name="Text 8">
              <a:extLst>
                <a:ext uri="{FF2B5EF4-FFF2-40B4-BE49-F238E27FC236}">
                  <a16:creationId xmlns:a16="http://schemas.microsoft.com/office/drawing/2014/main" id="{867F746B-5259-570B-EE60-D190F24ED7D1}"/>
                </a:ext>
              </a:extLst>
            </p:cNvPr>
            <p:cNvSpPr/>
            <p:nvPr/>
          </p:nvSpPr>
          <p:spPr>
            <a:xfrm>
              <a:off x="448056" y="1014984"/>
              <a:ext cx="1060704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20000"/>
                </a:lnSpc>
                <a:buNone/>
              </a:pPr>
              <a:r>
                <a:rPr lang="en-US" sz="1000" b="1" dirty="0">
                  <a:solidFill>
                    <a:srgbClr val="FFFFFF"/>
                  </a:solidFill>
                </a:rPr>
                <a:t>볼트 ROI &amp;</a:t>
              </a:r>
              <a:endParaRPr lang="en-US" sz="1400" dirty="0"/>
            </a:p>
            <a:p>
              <a:pPr marL="0" indent="0" algn="ctr">
                <a:lnSpc>
                  <a:spcPct val="120000"/>
                </a:lnSpc>
                <a:buNone/>
              </a:pPr>
              <a:r>
                <a:rPr lang="en-US" sz="1000" b="1" dirty="0">
                  <a:solidFill>
                    <a:srgbClr val="FFFFFF"/>
                  </a:solidFill>
                </a:rPr>
                <a:t>각인 기초</a:t>
              </a:r>
              <a:endParaRPr lang="en-US" sz="1400" dirty="0"/>
            </a:p>
          </p:txBody>
        </p:sp>
        <p:sp>
          <p:nvSpPr>
            <p:cNvPr id="39" name="Text 9">
              <a:extLst>
                <a:ext uri="{FF2B5EF4-FFF2-40B4-BE49-F238E27FC236}">
                  <a16:creationId xmlns:a16="http://schemas.microsoft.com/office/drawing/2014/main" id="{2F1B96A6-B0C3-8321-E2F7-4697C775BA48}"/>
                </a:ext>
              </a:extLst>
            </p:cNvPr>
            <p:cNvSpPr/>
            <p:nvPr/>
          </p:nvSpPr>
          <p:spPr>
            <a:xfrm>
              <a:off x="448056" y="1453896"/>
              <a:ext cx="1060704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000" dirty="0">
                  <a:solidFill>
                    <a:srgbClr val="7DC0F5"/>
                  </a:solidFill>
                </a:rPr>
                <a:t>InspWorker</a:t>
              </a:r>
              <a:endParaRPr lang="en-US" sz="1400" dirty="0"/>
            </a:p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000" dirty="0">
                  <a:solidFill>
                    <a:srgbClr val="7DC0F5"/>
                  </a:solidFill>
                </a:rPr>
                <a:t>초기 구조</a:t>
              </a:r>
              <a:endParaRPr lang="en-US" sz="1400" dirty="0"/>
            </a:p>
          </p:txBody>
        </p:sp>
        <p:sp>
          <p:nvSpPr>
            <p:cNvPr id="40" name="Shape 10">
              <a:extLst>
                <a:ext uri="{FF2B5EF4-FFF2-40B4-BE49-F238E27FC236}">
                  <a16:creationId xmlns:a16="http://schemas.microsoft.com/office/drawing/2014/main" id="{E1C4513C-7ED2-8B36-2D18-795EACBAB6F0}"/>
                </a:ext>
              </a:extLst>
            </p:cNvPr>
            <p:cNvSpPr/>
            <p:nvPr/>
          </p:nvSpPr>
          <p:spPr>
            <a:xfrm>
              <a:off x="1965960" y="3063240"/>
              <a:ext cx="0" cy="822960"/>
            </a:xfrm>
            <a:prstGeom prst="line">
              <a:avLst/>
            </a:prstGeom>
            <a:noFill/>
            <a:ln w="1524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41" name="Shape 11">
              <a:extLst>
                <a:ext uri="{FF2B5EF4-FFF2-40B4-BE49-F238E27FC236}">
                  <a16:creationId xmlns:a16="http://schemas.microsoft.com/office/drawing/2014/main" id="{EA76EA5A-1A96-164B-FA0A-CFF7153CEB9E}"/>
                </a:ext>
              </a:extLst>
            </p:cNvPr>
            <p:cNvSpPr/>
            <p:nvPr/>
          </p:nvSpPr>
          <p:spPr>
            <a:xfrm>
              <a:off x="1847088" y="2825496"/>
              <a:ext cx="237744" cy="237744"/>
            </a:xfrm>
            <a:prstGeom prst="ellipse">
              <a:avLst/>
            </a:prstGeom>
            <a:solidFill>
              <a:srgbClr val="243352"/>
            </a:solidFill>
            <a:ln w="1905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42" name="Text 12">
              <a:extLst>
                <a:ext uri="{FF2B5EF4-FFF2-40B4-BE49-F238E27FC236}">
                  <a16:creationId xmlns:a16="http://schemas.microsoft.com/office/drawing/2014/main" id="{9207AF53-1414-3876-3F84-223D1863FD7D}"/>
                </a:ext>
              </a:extLst>
            </p:cNvPr>
            <p:cNvSpPr/>
            <p:nvPr/>
          </p:nvSpPr>
          <p:spPr>
            <a:xfrm>
              <a:off x="1709928" y="2377440"/>
              <a:ext cx="77724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rgbClr val="8899BB"/>
                  </a:solidFill>
                </a:rPr>
                <a:t>3/5(목)</a:t>
              </a:r>
              <a:endParaRPr lang="en-US" sz="1400" dirty="0"/>
            </a:p>
          </p:txBody>
        </p:sp>
        <p:sp>
          <p:nvSpPr>
            <p:cNvPr id="43" name="Shape 13">
              <a:extLst>
                <a:ext uri="{FF2B5EF4-FFF2-40B4-BE49-F238E27FC236}">
                  <a16:creationId xmlns:a16="http://schemas.microsoft.com/office/drawing/2014/main" id="{4FAFF75D-7A75-8A4D-5A18-7A457F5007E9}"/>
                </a:ext>
              </a:extLst>
            </p:cNvPr>
            <p:cNvSpPr/>
            <p:nvPr/>
          </p:nvSpPr>
          <p:spPr>
            <a:xfrm>
              <a:off x="1691640" y="3575304"/>
              <a:ext cx="1078992" cy="987552"/>
            </a:xfrm>
            <a:prstGeom prst="rect">
              <a:avLst/>
            </a:prstGeom>
            <a:solidFill>
              <a:srgbClr val="243352"/>
            </a:solidFill>
            <a:ln w="10160">
              <a:solidFill>
                <a:srgbClr val="4A9FE8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44" name="Text 14">
              <a:extLst>
                <a:ext uri="{FF2B5EF4-FFF2-40B4-BE49-F238E27FC236}">
                  <a16:creationId xmlns:a16="http://schemas.microsoft.com/office/drawing/2014/main" id="{306D0496-084E-48E0-665B-4C7457D8D835}"/>
                </a:ext>
              </a:extLst>
            </p:cNvPr>
            <p:cNvSpPr/>
            <p:nvPr/>
          </p:nvSpPr>
          <p:spPr>
            <a:xfrm>
              <a:off x="1700784" y="3630168"/>
              <a:ext cx="1060704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20000"/>
                </a:lnSpc>
                <a:buNone/>
              </a:pPr>
              <a:r>
                <a:rPr lang="en-US" sz="1000" b="1" dirty="0">
                  <a:solidFill>
                    <a:srgbClr val="FFFFFF"/>
                  </a:solidFill>
                </a:rPr>
                <a:t>BoltROI 속성창</a:t>
              </a:r>
              <a:endParaRPr lang="en-US" sz="1400" dirty="0"/>
            </a:p>
            <a:p>
              <a:pPr marL="0" indent="0" algn="ctr">
                <a:lnSpc>
                  <a:spcPct val="120000"/>
                </a:lnSpc>
                <a:buNone/>
              </a:pPr>
              <a:r>
                <a:rPr lang="en-US" sz="1000" b="1" dirty="0">
                  <a:solidFill>
                    <a:srgbClr val="FFFFFF"/>
                  </a:solidFill>
                </a:rPr>
                <a:t>UI 리팩</a:t>
              </a:r>
              <a:endParaRPr lang="en-US" sz="1400" dirty="0"/>
            </a:p>
          </p:txBody>
        </p:sp>
        <p:sp>
          <p:nvSpPr>
            <p:cNvPr id="45" name="Text 15">
              <a:extLst>
                <a:ext uri="{FF2B5EF4-FFF2-40B4-BE49-F238E27FC236}">
                  <a16:creationId xmlns:a16="http://schemas.microsoft.com/office/drawing/2014/main" id="{BB80E063-75D4-DF3C-BF8C-196D18F4F5CD}"/>
                </a:ext>
              </a:extLst>
            </p:cNvPr>
            <p:cNvSpPr/>
            <p:nvPr/>
          </p:nvSpPr>
          <p:spPr>
            <a:xfrm>
              <a:off x="1700784" y="4069080"/>
              <a:ext cx="1060704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000" dirty="0">
                  <a:solidFill>
                    <a:srgbClr val="7DC0F5"/>
                  </a:solidFill>
                </a:rPr>
                <a:t>xylophoneProp</a:t>
              </a:r>
              <a:endParaRPr lang="en-US" sz="1400" dirty="0"/>
            </a:p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000" dirty="0">
                  <a:solidFill>
                    <a:srgbClr val="7DC0F5"/>
                  </a:solidFill>
                </a:rPr>
                <a:t>Blob 제거</a:t>
              </a:r>
              <a:endParaRPr lang="en-US" sz="1400" dirty="0"/>
            </a:p>
          </p:txBody>
        </p:sp>
        <p:sp>
          <p:nvSpPr>
            <p:cNvPr id="46" name="Shape 16">
              <a:extLst>
                <a:ext uri="{FF2B5EF4-FFF2-40B4-BE49-F238E27FC236}">
                  <a16:creationId xmlns:a16="http://schemas.microsoft.com/office/drawing/2014/main" id="{14CBF034-C194-0A7F-5B80-834A4560D465}"/>
                </a:ext>
              </a:extLst>
            </p:cNvPr>
            <p:cNvSpPr/>
            <p:nvPr/>
          </p:nvSpPr>
          <p:spPr>
            <a:xfrm>
              <a:off x="3218688" y="1956816"/>
              <a:ext cx="0" cy="886968"/>
            </a:xfrm>
            <a:prstGeom prst="line">
              <a:avLst/>
            </a:prstGeom>
            <a:noFill/>
            <a:ln w="1524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47" name="Shape 17">
              <a:extLst>
                <a:ext uri="{FF2B5EF4-FFF2-40B4-BE49-F238E27FC236}">
                  <a16:creationId xmlns:a16="http://schemas.microsoft.com/office/drawing/2014/main" id="{F43FF1C6-CE01-739C-1EA3-26F6B6D10C6C}"/>
                </a:ext>
              </a:extLst>
            </p:cNvPr>
            <p:cNvSpPr/>
            <p:nvPr/>
          </p:nvSpPr>
          <p:spPr>
            <a:xfrm>
              <a:off x="3099816" y="2825496"/>
              <a:ext cx="237744" cy="237744"/>
            </a:xfrm>
            <a:prstGeom prst="ellipse">
              <a:avLst/>
            </a:prstGeom>
            <a:solidFill>
              <a:srgbClr val="2E4470"/>
            </a:solidFill>
            <a:ln w="1905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48" name="Text 18">
              <a:extLst>
                <a:ext uri="{FF2B5EF4-FFF2-40B4-BE49-F238E27FC236}">
                  <a16:creationId xmlns:a16="http://schemas.microsoft.com/office/drawing/2014/main" id="{271DE86B-F77D-2B68-4E92-8919C851875A}"/>
                </a:ext>
              </a:extLst>
            </p:cNvPr>
            <p:cNvSpPr/>
            <p:nvPr/>
          </p:nvSpPr>
          <p:spPr>
            <a:xfrm>
              <a:off x="2962656" y="3145536"/>
              <a:ext cx="77724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rgbClr val="8899BB"/>
                  </a:solidFill>
                </a:rPr>
                <a:t>3/6(금)</a:t>
              </a:r>
              <a:endParaRPr lang="en-US" sz="1400" dirty="0"/>
            </a:p>
          </p:txBody>
        </p:sp>
        <p:sp>
          <p:nvSpPr>
            <p:cNvPr id="49" name="Shape 19">
              <a:extLst>
                <a:ext uri="{FF2B5EF4-FFF2-40B4-BE49-F238E27FC236}">
                  <a16:creationId xmlns:a16="http://schemas.microsoft.com/office/drawing/2014/main" id="{1356C732-EF90-376D-A6CC-CD9CBA2816D8}"/>
                </a:ext>
              </a:extLst>
            </p:cNvPr>
            <p:cNvSpPr/>
            <p:nvPr/>
          </p:nvSpPr>
          <p:spPr>
            <a:xfrm>
              <a:off x="2944368" y="960120"/>
              <a:ext cx="1078992" cy="987552"/>
            </a:xfrm>
            <a:prstGeom prst="rect">
              <a:avLst/>
            </a:prstGeom>
            <a:solidFill>
              <a:srgbClr val="2E4470"/>
            </a:solidFill>
            <a:ln w="10160">
              <a:solidFill>
                <a:srgbClr val="4A9FE8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50" name="Text 20">
              <a:extLst>
                <a:ext uri="{FF2B5EF4-FFF2-40B4-BE49-F238E27FC236}">
                  <a16:creationId xmlns:a16="http://schemas.microsoft.com/office/drawing/2014/main" id="{FE846D8C-B896-8A09-E3ED-C270C43E4C0B}"/>
                </a:ext>
              </a:extLst>
            </p:cNvPr>
            <p:cNvSpPr/>
            <p:nvPr/>
          </p:nvSpPr>
          <p:spPr>
            <a:xfrm>
              <a:off x="2953512" y="1014984"/>
              <a:ext cx="1060704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20000"/>
                </a:lnSpc>
                <a:buNone/>
              </a:pPr>
              <a:r>
                <a:rPr lang="en-US" sz="1000" b="1" dirty="0">
                  <a:solidFill>
                    <a:srgbClr val="FFFFFF"/>
                  </a:solidFill>
                </a:rPr>
                <a:t>MaterialSkin</a:t>
              </a:r>
              <a:endParaRPr lang="en-US" sz="1400" dirty="0"/>
            </a:p>
            <a:p>
              <a:pPr marL="0" indent="0" algn="ctr">
                <a:lnSpc>
                  <a:spcPct val="120000"/>
                </a:lnSpc>
                <a:buNone/>
              </a:pPr>
              <a:r>
                <a:rPr lang="en-US" sz="1000" b="1" dirty="0">
                  <a:solidFill>
                    <a:srgbClr val="FFFFFF"/>
                  </a:solidFill>
                </a:rPr>
                <a:t>테마 적용</a:t>
              </a:r>
              <a:endParaRPr lang="en-US" sz="1400" dirty="0"/>
            </a:p>
          </p:txBody>
        </p:sp>
        <p:sp>
          <p:nvSpPr>
            <p:cNvPr id="51" name="Text 21">
              <a:extLst>
                <a:ext uri="{FF2B5EF4-FFF2-40B4-BE49-F238E27FC236}">
                  <a16:creationId xmlns:a16="http://schemas.microsoft.com/office/drawing/2014/main" id="{9F230B1D-8BC7-16C4-B75A-E5C5875CBCA4}"/>
                </a:ext>
              </a:extLst>
            </p:cNvPr>
            <p:cNvSpPr/>
            <p:nvPr/>
          </p:nvSpPr>
          <p:spPr>
            <a:xfrm>
              <a:off x="2953512" y="1453896"/>
              <a:ext cx="1060704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000" dirty="0">
                  <a:solidFill>
                    <a:srgbClr val="7DC0F5"/>
                  </a:solidFill>
                </a:rPr>
                <a:t>MainForm</a:t>
              </a:r>
              <a:endParaRPr lang="en-US" sz="1400" dirty="0"/>
            </a:p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000" dirty="0">
                  <a:solidFill>
                    <a:srgbClr val="7DC0F5"/>
                  </a:solidFill>
                </a:rPr>
                <a:t>코드 정리</a:t>
              </a:r>
              <a:endParaRPr lang="en-US" sz="1400" dirty="0"/>
            </a:p>
          </p:txBody>
        </p:sp>
        <p:sp>
          <p:nvSpPr>
            <p:cNvPr id="52" name="Shape 22">
              <a:extLst>
                <a:ext uri="{FF2B5EF4-FFF2-40B4-BE49-F238E27FC236}">
                  <a16:creationId xmlns:a16="http://schemas.microsoft.com/office/drawing/2014/main" id="{2C2EBE3B-BE1E-7283-3FF8-599D073FC73E}"/>
                </a:ext>
              </a:extLst>
            </p:cNvPr>
            <p:cNvSpPr/>
            <p:nvPr/>
          </p:nvSpPr>
          <p:spPr>
            <a:xfrm>
              <a:off x="4471416" y="3063240"/>
              <a:ext cx="0" cy="822960"/>
            </a:xfrm>
            <a:prstGeom prst="line">
              <a:avLst/>
            </a:prstGeom>
            <a:noFill/>
            <a:ln w="1524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53" name="Shape 23">
              <a:extLst>
                <a:ext uri="{FF2B5EF4-FFF2-40B4-BE49-F238E27FC236}">
                  <a16:creationId xmlns:a16="http://schemas.microsoft.com/office/drawing/2014/main" id="{DC1BD132-C5AF-BAB8-F1AA-051F439C8150}"/>
                </a:ext>
              </a:extLst>
            </p:cNvPr>
            <p:cNvSpPr/>
            <p:nvPr/>
          </p:nvSpPr>
          <p:spPr>
            <a:xfrm>
              <a:off x="4352544" y="2825496"/>
              <a:ext cx="237744" cy="237744"/>
            </a:xfrm>
            <a:prstGeom prst="ellipse">
              <a:avLst/>
            </a:prstGeom>
            <a:solidFill>
              <a:srgbClr val="2E4470"/>
            </a:solidFill>
            <a:ln w="1905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54" name="Text 24">
              <a:extLst>
                <a:ext uri="{FF2B5EF4-FFF2-40B4-BE49-F238E27FC236}">
                  <a16:creationId xmlns:a16="http://schemas.microsoft.com/office/drawing/2014/main" id="{4C645B2D-AD2C-2CFA-6F2F-81E1F9FAD579}"/>
                </a:ext>
              </a:extLst>
            </p:cNvPr>
            <p:cNvSpPr/>
            <p:nvPr/>
          </p:nvSpPr>
          <p:spPr>
            <a:xfrm>
              <a:off x="4215384" y="2377440"/>
              <a:ext cx="77724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rgbClr val="8899BB"/>
                  </a:solidFill>
                </a:rPr>
                <a:t>3/8(일)</a:t>
              </a:r>
              <a:endParaRPr lang="en-US" sz="1400" dirty="0"/>
            </a:p>
          </p:txBody>
        </p:sp>
        <p:sp>
          <p:nvSpPr>
            <p:cNvPr id="55" name="Shape 25">
              <a:extLst>
                <a:ext uri="{FF2B5EF4-FFF2-40B4-BE49-F238E27FC236}">
                  <a16:creationId xmlns:a16="http://schemas.microsoft.com/office/drawing/2014/main" id="{16653084-7C10-66DB-D40E-B5ACDD7991B7}"/>
                </a:ext>
              </a:extLst>
            </p:cNvPr>
            <p:cNvSpPr/>
            <p:nvPr/>
          </p:nvSpPr>
          <p:spPr>
            <a:xfrm>
              <a:off x="4197096" y="3575304"/>
              <a:ext cx="1078992" cy="987552"/>
            </a:xfrm>
            <a:prstGeom prst="rect">
              <a:avLst/>
            </a:prstGeom>
            <a:solidFill>
              <a:srgbClr val="2E4470"/>
            </a:solidFill>
            <a:ln w="10160">
              <a:solidFill>
                <a:srgbClr val="4A9FE8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56" name="Text 26">
              <a:extLst>
                <a:ext uri="{FF2B5EF4-FFF2-40B4-BE49-F238E27FC236}">
                  <a16:creationId xmlns:a16="http://schemas.microsoft.com/office/drawing/2014/main" id="{EA049F63-ECFF-6A5F-AC4F-8CF887DC40FB}"/>
                </a:ext>
              </a:extLst>
            </p:cNvPr>
            <p:cNvSpPr/>
            <p:nvPr/>
          </p:nvSpPr>
          <p:spPr>
            <a:xfrm>
              <a:off x="4206240" y="3630168"/>
              <a:ext cx="1060704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20000"/>
                </a:lnSpc>
                <a:buNone/>
              </a:pPr>
              <a:r>
                <a:rPr lang="en-US" sz="1000" b="1" dirty="0">
                  <a:solidFill>
                    <a:srgbClr val="FFFFFF"/>
                  </a:solidFill>
                </a:rPr>
                <a:t>매칭 스코어</a:t>
              </a:r>
              <a:endParaRPr lang="en-US" sz="1400" dirty="0"/>
            </a:p>
            <a:p>
              <a:pPr marL="0" indent="0" algn="ctr">
                <a:lnSpc>
                  <a:spcPct val="120000"/>
                </a:lnSpc>
                <a:buNone/>
              </a:pPr>
              <a:r>
                <a:rPr lang="en-US" sz="1000" b="1" dirty="0">
                  <a:solidFill>
                    <a:srgbClr val="FFFFFF"/>
                  </a:solidFill>
                </a:rPr>
                <a:t>배경 개선</a:t>
              </a:r>
              <a:endParaRPr lang="en-US" sz="1400" dirty="0"/>
            </a:p>
          </p:txBody>
        </p:sp>
        <p:sp>
          <p:nvSpPr>
            <p:cNvPr id="57" name="Text 27">
              <a:extLst>
                <a:ext uri="{FF2B5EF4-FFF2-40B4-BE49-F238E27FC236}">
                  <a16:creationId xmlns:a16="http://schemas.microsoft.com/office/drawing/2014/main" id="{ECDE243C-9215-C5CA-BB0F-64F78696D9E9}"/>
                </a:ext>
              </a:extLst>
            </p:cNvPr>
            <p:cNvSpPr/>
            <p:nvPr/>
          </p:nvSpPr>
          <p:spPr>
            <a:xfrm>
              <a:off x="4206240" y="4069080"/>
              <a:ext cx="1060704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000" dirty="0">
                  <a:solidFill>
                    <a:srgbClr val="7DC0F5"/>
                  </a:solidFill>
                </a:rPr>
                <a:t>임계값 조정</a:t>
              </a:r>
              <a:endParaRPr lang="en-US" sz="1400" dirty="0"/>
            </a:p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000" dirty="0">
                  <a:solidFill>
                    <a:srgbClr val="7DC0F5"/>
                  </a:solidFill>
                </a:rPr>
                <a:t>배경색 변경</a:t>
              </a:r>
              <a:endParaRPr lang="en-US" sz="1400" dirty="0"/>
            </a:p>
          </p:txBody>
        </p:sp>
        <p:sp>
          <p:nvSpPr>
            <p:cNvPr id="58" name="Shape 28">
              <a:extLst>
                <a:ext uri="{FF2B5EF4-FFF2-40B4-BE49-F238E27FC236}">
                  <a16:creationId xmlns:a16="http://schemas.microsoft.com/office/drawing/2014/main" id="{6108097A-4C48-3109-53D2-9C10851054AB}"/>
                </a:ext>
              </a:extLst>
            </p:cNvPr>
            <p:cNvSpPr/>
            <p:nvPr/>
          </p:nvSpPr>
          <p:spPr>
            <a:xfrm>
              <a:off x="5724144" y="1956816"/>
              <a:ext cx="0" cy="886968"/>
            </a:xfrm>
            <a:prstGeom prst="line">
              <a:avLst/>
            </a:prstGeom>
            <a:noFill/>
            <a:ln w="1524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59" name="Shape 29">
              <a:extLst>
                <a:ext uri="{FF2B5EF4-FFF2-40B4-BE49-F238E27FC236}">
                  <a16:creationId xmlns:a16="http://schemas.microsoft.com/office/drawing/2014/main" id="{495363DE-7324-9B36-A5AD-CC20D184F40F}"/>
                </a:ext>
              </a:extLst>
            </p:cNvPr>
            <p:cNvSpPr/>
            <p:nvPr/>
          </p:nvSpPr>
          <p:spPr>
            <a:xfrm>
              <a:off x="5605272" y="2825496"/>
              <a:ext cx="237744" cy="237744"/>
            </a:xfrm>
            <a:prstGeom prst="ellipse">
              <a:avLst/>
            </a:prstGeom>
            <a:solidFill>
              <a:srgbClr val="243352"/>
            </a:solidFill>
            <a:ln w="1905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60" name="Text 30">
              <a:extLst>
                <a:ext uri="{FF2B5EF4-FFF2-40B4-BE49-F238E27FC236}">
                  <a16:creationId xmlns:a16="http://schemas.microsoft.com/office/drawing/2014/main" id="{3BEC00E1-6F39-5D41-2A8F-D55A98A7AFCA}"/>
                </a:ext>
              </a:extLst>
            </p:cNvPr>
            <p:cNvSpPr/>
            <p:nvPr/>
          </p:nvSpPr>
          <p:spPr>
            <a:xfrm>
              <a:off x="5468112" y="3145536"/>
              <a:ext cx="77724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rgbClr val="8899BB"/>
                  </a:solidFill>
                </a:rPr>
                <a:t>3/9(월)</a:t>
              </a:r>
              <a:endParaRPr lang="en-US" sz="1400" dirty="0"/>
            </a:p>
          </p:txBody>
        </p:sp>
        <p:sp>
          <p:nvSpPr>
            <p:cNvPr id="61" name="Shape 31">
              <a:extLst>
                <a:ext uri="{FF2B5EF4-FFF2-40B4-BE49-F238E27FC236}">
                  <a16:creationId xmlns:a16="http://schemas.microsoft.com/office/drawing/2014/main" id="{E32D5C4C-4EC0-60C6-348C-A51306FCD312}"/>
                </a:ext>
              </a:extLst>
            </p:cNvPr>
            <p:cNvSpPr/>
            <p:nvPr/>
          </p:nvSpPr>
          <p:spPr>
            <a:xfrm>
              <a:off x="5449824" y="960120"/>
              <a:ext cx="1078992" cy="987552"/>
            </a:xfrm>
            <a:prstGeom prst="rect">
              <a:avLst/>
            </a:prstGeom>
            <a:solidFill>
              <a:srgbClr val="243352"/>
            </a:solidFill>
            <a:ln w="10160">
              <a:solidFill>
                <a:srgbClr val="4A9FE8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62" name="Text 32">
              <a:extLst>
                <a:ext uri="{FF2B5EF4-FFF2-40B4-BE49-F238E27FC236}">
                  <a16:creationId xmlns:a16="http://schemas.microsoft.com/office/drawing/2014/main" id="{5C543090-FDBD-A02E-D7D3-D232C8E9970C}"/>
                </a:ext>
              </a:extLst>
            </p:cNvPr>
            <p:cNvSpPr/>
            <p:nvPr/>
          </p:nvSpPr>
          <p:spPr>
            <a:xfrm>
              <a:off x="5458968" y="1014984"/>
              <a:ext cx="1060704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20000"/>
                </a:lnSpc>
                <a:buNone/>
              </a:pPr>
              <a:r>
                <a:rPr lang="en-US" sz="1000" b="1" dirty="0">
                  <a:solidFill>
                    <a:srgbClr val="FFFFFF"/>
                  </a:solidFill>
                </a:rPr>
                <a:t>검사 루프 &amp;</a:t>
              </a:r>
              <a:endParaRPr lang="en-US" sz="1400" dirty="0"/>
            </a:p>
            <a:p>
              <a:pPr marL="0" indent="0" algn="ctr">
                <a:lnSpc>
                  <a:spcPct val="120000"/>
                </a:lnSpc>
                <a:buNone/>
              </a:pPr>
              <a:r>
                <a:rPr lang="en-US" sz="1000" b="1" dirty="0">
                  <a:solidFill>
                    <a:srgbClr val="FFFFFF"/>
                  </a:solidFill>
                </a:rPr>
                <a:t>ROI 체크박스</a:t>
              </a:r>
              <a:endParaRPr lang="en-US" sz="1400" dirty="0"/>
            </a:p>
          </p:txBody>
        </p:sp>
        <p:sp>
          <p:nvSpPr>
            <p:cNvPr id="63" name="Text 33">
              <a:extLst>
                <a:ext uri="{FF2B5EF4-FFF2-40B4-BE49-F238E27FC236}">
                  <a16:creationId xmlns:a16="http://schemas.microsoft.com/office/drawing/2014/main" id="{8C3B93C7-4444-0A7B-9DCB-E3B41DE47ACC}"/>
                </a:ext>
              </a:extLst>
            </p:cNvPr>
            <p:cNvSpPr/>
            <p:nvPr/>
          </p:nvSpPr>
          <p:spPr>
            <a:xfrm>
              <a:off x="5458968" y="1453896"/>
              <a:ext cx="1060704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000" dirty="0">
                  <a:solidFill>
                    <a:srgbClr val="7DC0F5"/>
                  </a:solidFill>
                </a:rPr>
                <a:t>이미지 카운터</a:t>
              </a:r>
              <a:endParaRPr lang="en-US" sz="1400" dirty="0"/>
            </a:p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000" dirty="0">
                  <a:solidFill>
                    <a:srgbClr val="7DC0F5"/>
                  </a:solidFill>
                </a:rPr>
                <a:t>재검사 팝업</a:t>
              </a:r>
              <a:endParaRPr lang="en-US" sz="1400" dirty="0"/>
            </a:p>
          </p:txBody>
        </p:sp>
        <p:sp>
          <p:nvSpPr>
            <p:cNvPr id="896" name="Shape 34">
              <a:extLst>
                <a:ext uri="{FF2B5EF4-FFF2-40B4-BE49-F238E27FC236}">
                  <a16:creationId xmlns:a16="http://schemas.microsoft.com/office/drawing/2014/main" id="{0E9B4499-E0B5-2134-EE9B-C92649EBECF0}"/>
                </a:ext>
              </a:extLst>
            </p:cNvPr>
            <p:cNvSpPr/>
            <p:nvPr/>
          </p:nvSpPr>
          <p:spPr>
            <a:xfrm>
              <a:off x="6912864" y="3063240"/>
              <a:ext cx="0" cy="822960"/>
            </a:xfrm>
            <a:prstGeom prst="line">
              <a:avLst/>
            </a:prstGeom>
            <a:noFill/>
            <a:ln w="1524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897" name="Shape 35">
              <a:extLst>
                <a:ext uri="{FF2B5EF4-FFF2-40B4-BE49-F238E27FC236}">
                  <a16:creationId xmlns:a16="http://schemas.microsoft.com/office/drawing/2014/main" id="{38E4D99C-AB5A-44B5-492E-5785513D5D19}"/>
                </a:ext>
              </a:extLst>
            </p:cNvPr>
            <p:cNvSpPr/>
            <p:nvPr/>
          </p:nvSpPr>
          <p:spPr>
            <a:xfrm>
              <a:off x="6793992" y="2825496"/>
              <a:ext cx="237744" cy="237744"/>
            </a:xfrm>
            <a:prstGeom prst="ellipse">
              <a:avLst/>
            </a:prstGeom>
            <a:solidFill>
              <a:srgbClr val="1B2A4A"/>
            </a:solidFill>
            <a:ln w="1905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898" name="Text 36">
              <a:extLst>
                <a:ext uri="{FF2B5EF4-FFF2-40B4-BE49-F238E27FC236}">
                  <a16:creationId xmlns:a16="http://schemas.microsoft.com/office/drawing/2014/main" id="{95DB186B-378C-6360-F237-DB1455DFB7E0}"/>
                </a:ext>
              </a:extLst>
            </p:cNvPr>
            <p:cNvSpPr/>
            <p:nvPr/>
          </p:nvSpPr>
          <p:spPr>
            <a:xfrm>
              <a:off x="6656832" y="2377440"/>
              <a:ext cx="77724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rgbClr val="8899BB"/>
                  </a:solidFill>
                </a:rPr>
                <a:t>3/10(화)</a:t>
              </a:r>
              <a:endParaRPr lang="en-US" sz="1400" dirty="0"/>
            </a:p>
          </p:txBody>
        </p:sp>
        <p:sp>
          <p:nvSpPr>
            <p:cNvPr id="899" name="Shape 37">
              <a:extLst>
                <a:ext uri="{FF2B5EF4-FFF2-40B4-BE49-F238E27FC236}">
                  <a16:creationId xmlns:a16="http://schemas.microsoft.com/office/drawing/2014/main" id="{32F69C22-1257-69A2-01B8-4A24393D616D}"/>
                </a:ext>
              </a:extLst>
            </p:cNvPr>
            <p:cNvSpPr/>
            <p:nvPr/>
          </p:nvSpPr>
          <p:spPr>
            <a:xfrm>
              <a:off x="6638544" y="3575304"/>
              <a:ext cx="1078992" cy="987552"/>
            </a:xfrm>
            <a:prstGeom prst="rect">
              <a:avLst/>
            </a:prstGeom>
            <a:solidFill>
              <a:srgbClr val="1B2A4A"/>
            </a:solidFill>
            <a:ln w="10160">
              <a:solidFill>
                <a:srgbClr val="4A9FE8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900" name="Text 38">
              <a:extLst>
                <a:ext uri="{FF2B5EF4-FFF2-40B4-BE49-F238E27FC236}">
                  <a16:creationId xmlns:a16="http://schemas.microsoft.com/office/drawing/2014/main" id="{66A21A45-3E74-6CEC-BA6F-DA8A5D47D9CB}"/>
                </a:ext>
              </a:extLst>
            </p:cNvPr>
            <p:cNvSpPr/>
            <p:nvPr/>
          </p:nvSpPr>
          <p:spPr>
            <a:xfrm>
              <a:off x="6647688" y="3630168"/>
              <a:ext cx="1060704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20000"/>
                </a:lnSpc>
                <a:buNone/>
              </a:pPr>
              <a:r>
                <a:rPr lang="en-US" sz="1000" b="1" dirty="0">
                  <a:solidFill>
                    <a:srgbClr val="FFFFFF"/>
                  </a:solidFill>
                </a:rPr>
                <a:t>트렌드 차트 &amp;</a:t>
              </a:r>
              <a:endParaRPr lang="en-US" sz="1400" dirty="0"/>
            </a:p>
            <a:p>
              <a:pPr marL="0" indent="0" algn="ctr">
                <a:lnSpc>
                  <a:spcPct val="120000"/>
                </a:lnSpc>
                <a:buNone/>
              </a:pPr>
              <a:r>
                <a:rPr lang="en-US" sz="1000" b="1" dirty="0">
                  <a:solidFill>
                    <a:srgbClr val="FFFFFF"/>
                  </a:solidFill>
                </a:rPr>
                <a:t>각인 튜닝</a:t>
              </a:r>
              <a:endParaRPr lang="en-US" sz="1400" dirty="0"/>
            </a:p>
          </p:txBody>
        </p:sp>
        <p:sp>
          <p:nvSpPr>
            <p:cNvPr id="906" name="Text 39">
              <a:extLst>
                <a:ext uri="{FF2B5EF4-FFF2-40B4-BE49-F238E27FC236}">
                  <a16:creationId xmlns:a16="http://schemas.microsoft.com/office/drawing/2014/main" id="{9ECC193D-DAC2-47C3-0920-20229E527D8E}"/>
                </a:ext>
              </a:extLst>
            </p:cNvPr>
            <p:cNvSpPr/>
            <p:nvPr/>
          </p:nvSpPr>
          <p:spPr>
            <a:xfrm>
              <a:off x="6647688" y="4069080"/>
              <a:ext cx="1060704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000" dirty="0">
                  <a:solidFill>
                    <a:srgbClr val="7DC0F5"/>
                  </a:solidFill>
                </a:rPr>
                <a:t>TrendChartForm</a:t>
              </a:r>
              <a:endParaRPr lang="en-US" sz="1400" dirty="0"/>
            </a:p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000" dirty="0">
                  <a:solidFill>
                    <a:srgbClr val="7DC0F5"/>
                  </a:solidFill>
                </a:rPr>
                <a:t>CLAHE 최종 튜닝</a:t>
              </a:r>
              <a:endParaRPr lang="en-US" sz="1400" dirty="0"/>
            </a:p>
          </p:txBody>
        </p:sp>
        <p:sp>
          <p:nvSpPr>
            <p:cNvPr id="907" name="Shape 40">
              <a:extLst>
                <a:ext uri="{FF2B5EF4-FFF2-40B4-BE49-F238E27FC236}">
                  <a16:creationId xmlns:a16="http://schemas.microsoft.com/office/drawing/2014/main" id="{F8BFFD55-750F-FF44-3909-71DFD6F5D7D0}"/>
                </a:ext>
              </a:extLst>
            </p:cNvPr>
            <p:cNvSpPr/>
            <p:nvPr/>
          </p:nvSpPr>
          <p:spPr>
            <a:xfrm>
              <a:off x="8074152" y="1956816"/>
              <a:ext cx="0" cy="886968"/>
            </a:xfrm>
            <a:prstGeom prst="line">
              <a:avLst/>
            </a:prstGeom>
            <a:noFill/>
            <a:ln w="1524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908" name="Shape 41">
              <a:extLst>
                <a:ext uri="{FF2B5EF4-FFF2-40B4-BE49-F238E27FC236}">
                  <a16:creationId xmlns:a16="http://schemas.microsoft.com/office/drawing/2014/main" id="{2D69D8D8-4269-EFBF-26EF-E412F03794CF}"/>
                </a:ext>
              </a:extLst>
            </p:cNvPr>
            <p:cNvSpPr/>
            <p:nvPr/>
          </p:nvSpPr>
          <p:spPr>
            <a:xfrm>
              <a:off x="7955280" y="2825496"/>
              <a:ext cx="237744" cy="237744"/>
            </a:xfrm>
            <a:prstGeom prst="ellipse">
              <a:avLst/>
            </a:prstGeom>
            <a:solidFill>
              <a:srgbClr val="243352"/>
            </a:solidFill>
            <a:ln w="1905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909" name="Text 42">
              <a:extLst>
                <a:ext uri="{FF2B5EF4-FFF2-40B4-BE49-F238E27FC236}">
                  <a16:creationId xmlns:a16="http://schemas.microsoft.com/office/drawing/2014/main" id="{1101CB1B-A3F6-A91A-319D-DB9ECCA7FE4E}"/>
                </a:ext>
              </a:extLst>
            </p:cNvPr>
            <p:cNvSpPr/>
            <p:nvPr/>
          </p:nvSpPr>
          <p:spPr>
            <a:xfrm>
              <a:off x="7818120" y="3145536"/>
              <a:ext cx="77724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rgbClr val="8899BB"/>
                  </a:solidFill>
                </a:rPr>
                <a:t>3/11(수)</a:t>
              </a:r>
              <a:endParaRPr lang="en-US" sz="1400" dirty="0"/>
            </a:p>
          </p:txBody>
        </p:sp>
        <p:sp>
          <p:nvSpPr>
            <p:cNvPr id="911" name="Shape 43">
              <a:extLst>
                <a:ext uri="{FF2B5EF4-FFF2-40B4-BE49-F238E27FC236}">
                  <a16:creationId xmlns:a16="http://schemas.microsoft.com/office/drawing/2014/main" id="{EE06EE9A-9913-42E9-9622-1EB496435070}"/>
                </a:ext>
              </a:extLst>
            </p:cNvPr>
            <p:cNvSpPr/>
            <p:nvPr/>
          </p:nvSpPr>
          <p:spPr>
            <a:xfrm>
              <a:off x="7799832" y="960120"/>
              <a:ext cx="1078992" cy="987552"/>
            </a:xfrm>
            <a:prstGeom prst="rect">
              <a:avLst/>
            </a:prstGeom>
            <a:solidFill>
              <a:srgbClr val="243352"/>
            </a:solidFill>
            <a:ln w="10160">
              <a:solidFill>
                <a:srgbClr val="4A9FE8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912" name="Text 44">
              <a:extLst>
                <a:ext uri="{FF2B5EF4-FFF2-40B4-BE49-F238E27FC236}">
                  <a16:creationId xmlns:a16="http://schemas.microsoft.com/office/drawing/2014/main" id="{A5D177C6-D14F-11B7-D323-550E0D409A17}"/>
                </a:ext>
              </a:extLst>
            </p:cNvPr>
            <p:cNvSpPr/>
            <p:nvPr/>
          </p:nvSpPr>
          <p:spPr>
            <a:xfrm>
              <a:off x="7808976" y="1014984"/>
              <a:ext cx="1060704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20000"/>
                </a:lnSpc>
                <a:buNone/>
              </a:pPr>
              <a:r>
                <a:rPr lang="en-US" sz="1000" b="1" dirty="0">
                  <a:solidFill>
                    <a:srgbClr val="FFFFFF"/>
                  </a:solidFill>
                </a:rPr>
                <a:t>Tact Time</a:t>
              </a:r>
              <a:endParaRPr lang="en-US" sz="1400" dirty="0"/>
            </a:p>
            <a:p>
              <a:pPr marL="0" indent="0" algn="ctr">
                <a:lnSpc>
                  <a:spcPct val="120000"/>
                </a:lnSpc>
                <a:buNone/>
              </a:pPr>
              <a:r>
                <a:rPr lang="en-US" sz="1000" b="1" dirty="0">
                  <a:solidFill>
                    <a:srgbClr val="FFFFFF"/>
                  </a:solidFill>
                </a:rPr>
                <a:t>CSV 저장</a:t>
              </a:r>
              <a:endParaRPr lang="en-US" sz="1400" dirty="0"/>
            </a:p>
          </p:txBody>
        </p:sp>
        <p:sp>
          <p:nvSpPr>
            <p:cNvPr id="913" name="Text 45">
              <a:extLst>
                <a:ext uri="{FF2B5EF4-FFF2-40B4-BE49-F238E27FC236}">
                  <a16:creationId xmlns:a16="http://schemas.microsoft.com/office/drawing/2014/main" id="{7072A7FE-17EC-279A-9675-7C64C91EFCCF}"/>
                </a:ext>
              </a:extLst>
            </p:cNvPr>
            <p:cNvSpPr/>
            <p:nvPr/>
          </p:nvSpPr>
          <p:spPr>
            <a:xfrm>
              <a:off x="7808976" y="1453896"/>
              <a:ext cx="1060704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000" dirty="0">
                  <a:solidFill>
                    <a:srgbClr val="7DC0F5"/>
                  </a:solidFill>
                </a:rPr>
                <a:t>UPH 통계</a:t>
              </a:r>
              <a:endParaRPr lang="en-US" sz="1400" dirty="0"/>
            </a:p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000" dirty="0">
                  <a:solidFill>
                    <a:srgbClr val="7DC0F5"/>
                  </a:solidFill>
                </a:rPr>
                <a:t>비동기 분리</a:t>
              </a:r>
              <a:endParaRPr lang="en-US" sz="1400" dirty="0"/>
            </a:p>
          </p:txBody>
        </p:sp>
        <p:sp>
          <p:nvSpPr>
            <p:cNvPr id="914" name="Shape 46">
              <a:extLst>
                <a:ext uri="{FF2B5EF4-FFF2-40B4-BE49-F238E27FC236}">
                  <a16:creationId xmlns:a16="http://schemas.microsoft.com/office/drawing/2014/main" id="{F6696F2C-221B-DC66-92CD-2DBE63DDBD10}"/>
                </a:ext>
              </a:extLst>
            </p:cNvPr>
            <p:cNvSpPr/>
            <p:nvPr/>
          </p:nvSpPr>
          <p:spPr>
            <a:xfrm>
              <a:off x="365760" y="4681728"/>
              <a:ext cx="1920240" cy="347472"/>
            </a:xfrm>
            <a:prstGeom prst="rect">
              <a:avLst/>
            </a:prstGeom>
            <a:solidFill>
              <a:srgbClr val="1B2A4A"/>
            </a:solidFill>
            <a:ln w="12700">
              <a:solidFill>
                <a:srgbClr val="1B2A4A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915" name="Text 47">
              <a:extLst>
                <a:ext uri="{FF2B5EF4-FFF2-40B4-BE49-F238E27FC236}">
                  <a16:creationId xmlns:a16="http://schemas.microsoft.com/office/drawing/2014/main" id="{029CD332-B7B0-71B5-BDA6-8028926BDB36}"/>
                </a:ext>
              </a:extLst>
            </p:cNvPr>
            <p:cNvSpPr/>
            <p:nvPr/>
          </p:nvSpPr>
          <p:spPr>
            <a:xfrm>
              <a:off x="365760" y="4681728"/>
              <a:ext cx="192024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7DC0F5"/>
                  </a:solidFill>
                </a:rPr>
                <a:t>총 커밋  34+</a:t>
              </a:r>
              <a:endParaRPr lang="en-US" sz="1400" dirty="0"/>
            </a:p>
          </p:txBody>
        </p:sp>
        <p:sp>
          <p:nvSpPr>
            <p:cNvPr id="916" name="Shape 48">
              <a:extLst>
                <a:ext uri="{FF2B5EF4-FFF2-40B4-BE49-F238E27FC236}">
                  <a16:creationId xmlns:a16="http://schemas.microsoft.com/office/drawing/2014/main" id="{2E36C843-8B80-7E95-CCFC-620C483EDE59}"/>
                </a:ext>
              </a:extLst>
            </p:cNvPr>
            <p:cNvSpPr/>
            <p:nvPr/>
          </p:nvSpPr>
          <p:spPr>
            <a:xfrm>
              <a:off x="2423160" y="4681728"/>
              <a:ext cx="2331720" cy="347472"/>
            </a:xfrm>
            <a:prstGeom prst="rect">
              <a:avLst/>
            </a:prstGeom>
            <a:solidFill>
              <a:srgbClr val="243352"/>
            </a:solidFill>
            <a:ln w="12700">
              <a:solidFill>
                <a:srgbClr val="243352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917" name="Text 49">
              <a:extLst>
                <a:ext uri="{FF2B5EF4-FFF2-40B4-BE49-F238E27FC236}">
                  <a16:creationId xmlns:a16="http://schemas.microsoft.com/office/drawing/2014/main" id="{97D77FA9-D6D8-42CB-1D92-43AA455C5A23}"/>
                </a:ext>
              </a:extLst>
            </p:cNvPr>
            <p:cNvSpPr/>
            <p:nvPr/>
          </p:nvSpPr>
          <p:spPr>
            <a:xfrm>
              <a:off x="2423160" y="4681728"/>
              <a:ext cx="233172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FFFFFF"/>
                  </a:solidFill>
                </a:rPr>
                <a:t>개발 기간  8일 (3/4 ~ 3/11)</a:t>
              </a:r>
              <a:endParaRPr lang="en-US" sz="1400" dirty="0"/>
            </a:p>
          </p:txBody>
        </p:sp>
        <p:sp>
          <p:nvSpPr>
            <p:cNvPr id="918" name="Shape 50">
              <a:extLst>
                <a:ext uri="{FF2B5EF4-FFF2-40B4-BE49-F238E27FC236}">
                  <a16:creationId xmlns:a16="http://schemas.microsoft.com/office/drawing/2014/main" id="{73C7CC58-C1DD-5EF9-A47B-1ED09E2DFCAC}"/>
                </a:ext>
              </a:extLst>
            </p:cNvPr>
            <p:cNvSpPr/>
            <p:nvPr/>
          </p:nvSpPr>
          <p:spPr>
            <a:xfrm>
              <a:off x="4892040" y="4681728"/>
              <a:ext cx="3886200" cy="347472"/>
            </a:xfrm>
            <a:prstGeom prst="rect">
              <a:avLst/>
            </a:prstGeom>
            <a:solidFill>
              <a:srgbClr val="2E4470"/>
            </a:solidFill>
            <a:ln w="12700">
              <a:solidFill>
                <a:srgbClr val="2E447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919" name="Text 51">
              <a:extLst>
                <a:ext uri="{FF2B5EF4-FFF2-40B4-BE49-F238E27FC236}">
                  <a16:creationId xmlns:a16="http://schemas.microsoft.com/office/drawing/2014/main" id="{BBC226ED-D044-EF94-F9C0-25DFFBEB8865}"/>
                </a:ext>
              </a:extLst>
            </p:cNvPr>
            <p:cNvSpPr/>
            <p:nvPr/>
          </p:nvSpPr>
          <p:spPr>
            <a:xfrm>
              <a:off x="4892040" y="4681728"/>
              <a:ext cx="388620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7DC0F5"/>
                  </a:solidFill>
                </a:rPr>
                <a:t>기반 구축 → 검사 안정화 → UI 완성 → 통계 자동화 순 진행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0356019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CC8DF-F659-42BA-4085-E602856DA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content_bg">
            <a:extLst>
              <a:ext uri="{FF2B5EF4-FFF2-40B4-BE49-F238E27FC236}">
                <a16:creationId xmlns:a16="http://schemas.microsoft.com/office/drawing/2014/main" id="{6FBCF01F-B952-014F-5DDA-C8448733AFF5}"/>
              </a:ext>
            </a:extLst>
          </p:cNvPr>
          <p:cNvSpPr>
            <a:spLocks noGrp="1"/>
          </p:cNvSpPr>
          <p:nvPr/>
        </p:nvSpPr>
        <p:spPr>
          <a:xfrm>
            <a:off x="0" y="820000"/>
            <a:ext cx="12192000" cy="6038000"/>
          </a:xfrm>
          <a:prstGeom prst="rect">
            <a:avLst/>
          </a:prstGeom>
          <a:solidFill>
            <a:srgbClr val="EEF1F5"/>
          </a:solidFill>
        </p:spPr>
        <p:txBody>
          <a:bodyPr/>
          <a:lstStyle/>
          <a:p>
            <a:endParaRPr lang="ko-KR"/>
          </a:p>
        </p:txBody>
      </p:sp>
      <p:sp>
        <p:nvSpPr>
          <p:cNvPr id="901" name="header_bar">
            <a:extLst>
              <a:ext uri="{FF2B5EF4-FFF2-40B4-BE49-F238E27FC236}">
                <a16:creationId xmlns:a16="http://schemas.microsoft.com/office/drawing/2014/main" id="{B16F59DF-9B2B-5E17-44A0-A65FDCB73C7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2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 lang="ko-KR"/>
          </a:p>
        </p:txBody>
      </p:sp>
      <p:sp>
        <p:nvSpPr>
          <p:cNvPr id="902" name="accent_stripe">
            <a:extLst>
              <a:ext uri="{FF2B5EF4-FFF2-40B4-BE49-F238E27FC236}">
                <a16:creationId xmlns:a16="http://schemas.microsoft.com/office/drawing/2014/main" id="{B63E8297-A6D9-AD27-8A6E-1481B3D9E82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0000" cy="820000"/>
          </a:xfrm>
          <a:prstGeom prst="rect">
            <a:avLst/>
          </a:prstGeom>
          <a:solidFill>
            <a:srgbClr val="E05A1A"/>
          </a:solidFill>
        </p:spPr>
        <p:txBody>
          <a:bodyPr/>
          <a:lstStyle/>
          <a:p>
            <a:endParaRPr lang="ko-KR"/>
          </a:p>
        </p:txBody>
      </p:sp>
      <p:sp>
        <p:nvSpPr>
          <p:cNvPr id="904" name="step_badge">
            <a:extLst>
              <a:ext uri="{FF2B5EF4-FFF2-40B4-BE49-F238E27FC236}">
                <a16:creationId xmlns:a16="http://schemas.microsoft.com/office/drawing/2014/main" id="{5703B4DD-F3B8-2029-3B05-9E0620353386}"/>
              </a:ext>
            </a:extLst>
          </p:cNvPr>
          <p:cNvSpPr>
            <a:spLocks noGrp="1"/>
          </p:cNvSpPr>
          <p:nvPr/>
        </p:nvSpPr>
        <p:spPr>
          <a:xfrm>
            <a:off x="11492000" y="0"/>
            <a:ext cx="700000" cy="820000"/>
          </a:xfrm>
          <a:prstGeom prst="rect">
            <a:avLst/>
          </a:prstGeom>
          <a:solidFill>
            <a:srgbClr val="E05A1A"/>
          </a:solidFill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910" name="cat_badge">
            <a:extLst>
              <a:ext uri="{FF2B5EF4-FFF2-40B4-BE49-F238E27FC236}">
                <a16:creationId xmlns:a16="http://schemas.microsoft.com/office/drawing/2014/main" id="{24363490-595B-81A6-27EB-9A869BDAA37B}"/>
              </a:ext>
            </a:extLst>
          </p:cNvPr>
          <p:cNvSpPr>
            <a:spLocks noGrp="1"/>
          </p:cNvSpPr>
          <p:nvPr/>
        </p:nvSpPr>
        <p:spPr>
          <a:xfrm>
            <a:off x="320000" y="110000"/>
            <a:ext cx="1350000" cy="600000"/>
          </a:xfrm>
          <a:prstGeom prst="roundRect">
            <a:avLst>
              <a:gd name="adj" fmla="val 20000"/>
            </a:avLst>
          </a:prstGeom>
          <a:solidFill>
            <a:srgbClr val="E05A1A">
              <a:alpha val="28000"/>
            </a:srgbClr>
          </a:solidFill>
          <a:ln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400" b="1" dirty="0">
                <a:solidFill>
                  <a:srgbClr val="FFBB88"/>
                </a:solidFill>
              </a:rPr>
              <a:t>개발 단계</a:t>
            </a:r>
          </a:p>
        </p:txBody>
      </p:sp>
      <p:sp>
        <p:nvSpPr>
          <p:cNvPr id="903" name="header_title">
            <a:extLst>
              <a:ext uri="{FF2B5EF4-FFF2-40B4-BE49-F238E27FC236}">
                <a16:creationId xmlns:a16="http://schemas.microsoft.com/office/drawing/2014/main" id="{192C6759-0EED-F5D8-FC40-F5988D37BB18}"/>
              </a:ext>
            </a:extLst>
          </p:cNvPr>
          <p:cNvSpPr txBox="1"/>
          <p:nvPr/>
        </p:nvSpPr>
        <p:spPr>
          <a:xfrm>
            <a:off x="1830000" y="0"/>
            <a:ext cx="9562000" cy="8200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r>
              <a:rPr lang="ko-KR" altLang="en-US" sz="2000" b="1" dirty="0">
                <a:solidFill>
                  <a:srgbClr val="FFFFFF"/>
                </a:solidFill>
              </a:rPr>
              <a:t>개발 단계별 주요 성과 (Git 기반)</a:t>
            </a:r>
          </a:p>
        </p:txBody>
      </p:sp>
      <p:grpSp>
        <p:nvGrpSpPr>
          <p:cNvPr id="936" name="그룹 935">
            <a:extLst>
              <a:ext uri="{FF2B5EF4-FFF2-40B4-BE49-F238E27FC236}">
                <a16:creationId xmlns:a16="http://schemas.microsoft.com/office/drawing/2014/main" id="{F69CEEE4-31AE-A217-B2AB-159E5FDFD1F5}"/>
              </a:ext>
            </a:extLst>
          </p:cNvPr>
          <p:cNvGrpSpPr/>
          <p:nvPr/>
        </p:nvGrpSpPr>
        <p:grpSpPr>
          <a:xfrm>
            <a:off x="720363" y="1170418"/>
            <a:ext cx="10751274" cy="5337163"/>
            <a:chOff x="256032" y="960120"/>
            <a:chExt cx="8759952" cy="4105656"/>
          </a:xfrm>
        </p:grpSpPr>
        <p:sp>
          <p:nvSpPr>
            <p:cNvPr id="2" name="Shape 3">
              <a:extLst>
                <a:ext uri="{FF2B5EF4-FFF2-40B4-BE49-F238E27FC236}">
                  <a16:creationId xmlns:a16="http://schemas.microsoft.com/office/drawing/2014/main" id="{CA11501E-90CA-1AA2-0147-D21B1A164462}"/>
                </a:ext>
              </a:extLst>
            </p:cNvPr>
            <p:cNvSpPr/>
            <p:nvPr/>
          </p:nvSpPr>
          <p:spPr>
            <a:xfrm>
              <a:off x="256032" y="960120"/>
              <a:ext cx="2816352" cy="3886200"/>
            </a:xfrm>
            <a:prstGeom prst="rect">
              <a:avLst/>
            </a:prstGeom>
            <a:solidFill>
              <a:srgbClr val="1B2A4A"/>
            </a:solidFill>
            <a:ln w="15240">
              <a:solidFill>
                <a:srgbClr val="4A9FE8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 sz="1600"/>
            </a:p>
          </p:txBody>
        </p:sp>
        <p:sp>
          <p:nvSpPr>
            <p:cNvPr id="3" name="Shape 4">
              <a:extLst>
                <a:ext uri="{FF2B5EF4-FFF2-40B4-BE49-F238E27FC236}">
                  <a16:creationId xmlns:a16="http://schemas.microsoft.com/office/drawing/2014/main" id="{63C079AE-406D-F0BB-E940-60D96402E401}"/>
                </a:ext>
              </a:extLst>
            </p:cNvPr>
            <p:cNvSpPr/>
            <p:nvPr/>
          </p:nvSpPr>
          <p:spPr>
            <a:xfrm>
              <a:off x="256032" y="960120"/>
              <a:ext cx="2816352" cy="493776"/>
            </a:xfrm>
            <a:prstGeom prst="rect">
              <a:avLst/>
            </a:prstGeom>
            <a:solidFill>
              <a:srgbClr val="4A9FE8"/>
            </a:solidFill>
            <a:ln w="1270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600"/>
            </a:p>
          </p:txBody>
        </p:sp>
        <p:sp>
          <p:nvSpPr>
            <p:cNvPr id="4" name="Text 5">
              <a:extLst>
                <a:ext uri="{FF2B5EF4-FFF2-40B4-BE49-F238E27FC236}">
                  <a16:creationId xmlns:a16="http://schemas.microsoft.com/office/drawing/2014/main" id="{3A5B9851-CE60-737F-8013-186425DE9C96}"/>
                </a:ext>
              </a:extLst>
            </p:cNvPr>
            <p:cNvSpPr/>
            <p:nvPr/>
          </p:nvSpPr>
          <p:spPr>
            <a:xfrm>
              <a:off x="347472" y="996696"/>
              <a:ext cx="100584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1B2A4A"/>
                  </a:solidFill>
                </a:rPr>
                <a:t>SPRINT 1</a:t>
              </a:r>
              <a:endParaRPr lang="en-US" sz="1600" dirty="0"/>
            </a:p>
          </p:txBody>
        </p:sp>
        <p:sp>
          <p:nvSpPr>
            <p:cNvPr id="5" name="Text 6">
              <a:extLst>
                <a:ext uri="{FF2B5EF4-FFF2-40B4-BE49-F238E27FC236}">
                  <a16:creationId xmlns:a16="http://schemas.microsoft.com/office/drawing/2014/main" id="{A419E367-B835-2845-0BB9-98D13DE1EF4F}"/>
                </a:ext>
              </a:extLst>
            </p:cNvPr>
            <p:cNvSpPr/>
            <p:nvPr/>
          </p:nvSpPr>
          <p:spPr>
            <a:xfrm>
              <a:off x="1307592" y="996696"/>
              <a:ext cx="169164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200" dirty="0">
                  <a:solidFill>
                    <a:srgbClr val="1B2A4A"/>
                  </a:solidFill>
                </a:rPr>
                <a:t>3/4 ~ 3/6</a:t>
              </a:r>
              <a:endParaRPr lang="en-US" sz="1600" dirty="0"/>
            </a:p>
          </p:txBody>
        </p:sp>
        <p:sp>
          <p:nvSpPr>
            <p:cNvPr id="6" name="Text 7">
              <a:extLst>
                <a:ext uri="{FF2B5EF4-FFF2-40B4-BE49-F238E27FC236}">
                  <a16:creationId xmlns:a16="http://schemas.microsoft.com/office/drawing/2014/main" id="{11D8E6A2-2F16-76BE-BD70-2C9E92099EC0}"/>
                </a:ext>
              </a:extLst>
            </p:cNvPr>
            <p:cNvSpPr/>
            <p:nvPr/>
          </p:nvSpPr>
          <p:spPr>
            <a:xfrm>
              <a:off x="347472" y="1252728"/>
              <a:ext cx="263347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1B2A4A"/>
                  </a:solidFill>
                </a:rPr>
                <a:t>기반 구축</a:t>
              </a:r>
              <a:endParaRPr lang="en-US" sz="1600" dirty="0"/>
            </a:p>
          </p:txBody>
        </p:sp>
        <p:sp>
          <p:nvSpPr>
            <p:cNvPr id="7" name="Shape 8">
              <a:extLst>
                <a:ext uri="{FF2B5EF4-FFF2-40B4-BE49-F238E27FC236}">
                  <a16:creationId xmlns:a16="http://schemas.microsoft.com/office/drawing/2014/main" id="{14EEEAE7-4868-48FE-0B85-85E88E5A67F0}"/>
                </a:ext>
              </a:extLst>
            </p:cNvPr>
            <p:cNvSpPr/>
            <p:nvPr/>
          </p:nvSpPr>
          <p:spPr>
            <a:xfrm>
              <a:off x="365760" y="1719072"/>
              <a:ext cx="164592" cy="164592"/>
            </a:xfrm>
            <a:prstGeom prst="ellipse">
              <a:avLst/>
            </a:prstGeom>
            <a:solidFill>
              <a:srgbClr val="4A9FE8"/>
            </a:solidFill>
            <a:ln w="1270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600"/>
            </a:p>
          </p:txBody>
        </p:sp>
        <p:sp>
          <p:nvSpPr>
            <p:cNvPr id="8" name="Text 9">
              <a:extLst>
                <a:ext uri="{FF2B5EF4-FFF2-40B4-BE49-F238E27FC236}">
                  <a16:creationId xmlns:a16="http://schemas.microsoft.com/office/drawing/2014/main" id="{BACBD76F-7E88-905E-DEFC-6B33E3C039E6}"/>
                </a:ext>
              </a:extLst>
            </p:cNvPr>
            <p:cNvSpPr/>
            <p:nvPr/>
          </p:nvSpPr>
          <p:spPr>
            <a:xfrm>
              <a:off x="603504" y="1664208"/>
              <a:ext cx="235915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CADCFC"/>
                  </a:solidFill>
                </a:rPr>
                <a:t>볼트 ROI / 누락 / 각인 검사 기초 추가</a:t>
              </a:r>
              <a:endParaRPr lang="en-US" sz="1600" dirty="0"/>
            </a:p>
          </p:txBody>
        </p:sp>
        <p:sp>
          <p:nvSpPr>
            <p:cNvPr id="9" name="Shape 10">
              <a:extLst>
                <a:ext uri="{FF2B5EF4-FFF2-40B4-BE49-F238E27FC236}">
                  <a16:creationId xmlns:a16="http://schemas.microsoft.com/office/drawing/2014/main" id="{2BCE1A97-7EED-DCDF-6CB1-03932288FB64}"/>
                </a:ext>
              </a:extLst>
            </p:cNvPr>
            <p:cNvSpPr/>
            <p:nvPr/>
          </p:nvSpPr>
          <p:spPr>
            <a:xfrm>
              <a:off x="365760" y="2340864"/>
              <a:ext cx="164592" cy="164592"/>
            </a:xfrm>
            <a:prstGeom prst="ellipse">
              <a:avLst/>
            </a:prstGeom>
            <a:solidFill>
              <a:srgbClr val="4A9FE8"/>
            </a:solidFill>
            <a:ln w="1270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600"/>
            </a:p>
          </p:txBody>
        </p:sp>
        <p:sp>
          <p:nvSpPr>
            <p:cNvPr id="10" name="Text 11">
              <a:extLst>
                <a:ext uri="{FF2B5EF4-FFF2-40B4-BE49-F238E27FC236}">
                  <a16:creationId xmlns:a16="http://schemas.microsoft.com/office/drawing/2014/main" id="{DA32EBFA-C7F4-C20E-F156-F54E5D80C6B3}"/>
                </a:ext>
              </a:extLst>
            </p:cNvPr>
            <p:cNvSpPr/>
            <p:nvPr/>
          </p:nvSpPr>
          <p:spPr>
            <a:xfrm>
              <a:off x="603504" y="2286000"/>
              <a:ext cx="235915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CADCFC"/>
                  </a:solidFill>
                </a:rPr>
                <a:t>BlobDetect → ConnectedComponents 전환</a:t>
              </a:r>
              <a:endParaRPr lang="en-US" sz="1600" dirty="0"/>
            </a:p>
          </p:txBody>
        </p:sp>
        <p:sp>
          <p:nvSpPr>
            <p:cNvPr id="11" name="Shape 12">
              <a:extLst>
                <a:ext uri="{FF2B5EF4-FFF2-40B4-BE49-F238E27FC236}">
                  <a16:creationId xmlns:a16="http://schemas.microsoft.com/office/drawing/2014/main" id="{FDDB9435-7A3E-278C-6E37-9CBD92CF7779}"/>
                </a:ext>
              </a:extLst>
            </p:cNvPr>
            <p:cNvSpPr/>
            <p:nvPr/>
          </p:nvSpPr>
          <p:spPr>
            <a:xfrm>
              <a:off x="365760" y="2962656"/>
              <a:ext cx="164592" cy="164592"/>
            </a:xfrm>
            <a:prstGeom prst="ellipse">
              <a:avLst/>
            </a:prstGeom>
            <a:solidFill>
              <a:srgbClr val="4A9FE8"/>
            </a:solidFill>
            <a:ln w="1270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600"/>
            </a:p>
          </p:txBody>
        </p:sp>
        <p:sp>
          <p:nvSpPr>
            <p:cNvPr id="12" name="Text 13">
              <a:extLst>
                <a:ext uri="{FF2B5EF4-FFF2-40B4-BE49-F238E27FC236}">
                  <a16:creationId xmlns:a16="http://schemas.microsoft.com/office/drawing/2014/main" id="{66ADEA79-89E0-4563-B7F8-CD5BD4177948}"/>
                </a:ext>
              </a:extLst>
            </p:cNvPr>
            <p:cNvSpPr/>
            <p:nvPr/>
          </p:nvSpPr>
          <p:spPr>
            <a:xfrm>
              <a:off x="603504" y="2907792"/>
              <a:ext cx="235915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CADCFC"/>
                  </a:solidFill>
                </a:rPr>
                <a:t>xylophoneProp 속성창 도입</a:t>
              </a:r>
              <a:endParaRPr lang="en-US" sz="1600" dirty="0"/>
            </a:p>
          </p:txBody>
        </p:sp>
        <p:sp>
          <p:nvSpPr>
            <p:cNvPr id="13" name="Shape 14">
              <a:extLst>
                <a:ext uri="{FF2B5EF4-FFF2-40B4-BE49-F238E27FC236}">
                  <a16:creationId xmlns:a16="http://schemas.microsoft.com/office/drawing/2014/main" id="{03479E2B-4F35-5BE9-F7EA-AB6AA70D2651}"/>
                </a:ext>
              </a:extLst>
            </p:cNvPr>
            <p:cNvSpPr/>
            <p:nvPr/>
          </p:nvSpPr>
          <p:spPr>
            <a:xfrm>
              <a:off x="365760" y="3584448"/>
              <a:ext cx="164592" cy="164592"/>
            </a:xfrm>
            <a:prstGeom prst="ellipse">
              <a:avLst/>
            </a:prstGeom>
            <a:solidFill>
              <a:srgbClr val="4A9FE8"/>
            </a:solidFill>
            <a:ln w="1270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600"/>
            </a:p>
          </p:txBody>
        </p:sp>
        <p:sp>
          <p:nvSpPr>
            <p:cNvPr id="14" name="Text 15">
              <a:extLst>
                <a:ext uri="{FF2B5EF4-FFF2-40B4-BE49-F238E27FC236}">
                  <a16:creationId xmlns:a16="http://schemas.microsoft.com/office/drawing/2014/main" id="{5D44D2BB-1E39-7A75-45B4-B393C241E2A3}"/>
                </a:ext>
              </a:extLst>
            </p:cNvPr>
            <p:cNvSpPr/>
            <p:nvPr/>
          </p:nvSpPr>
          <p:spPr>
            <a:xfrm>
              <a:off x="603504" y="3529584"/>
              <a:ext cx="235915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CADCFC"/>
                  </a:solidFill>
                </a:rPr>
                <a:t>MaterialSkin 다크 테마 적용</a:t>
              </a:r>
              <a:endParaRPr lang="en-US" sz="1600" dirty="0"/>
            </a:p>
          </p:txBody>
        </p:sp>
        <p:sp>
          <p:nvSpPr>
            <p:cNvPr id="15" name="Shape 16">
              <a:extLst>
                <a:ext uri="{FF2B5EF4-FFF2-40B4-BE49-F238E27FC236}">
                  <a16:creationId xmlns:a16="http://schemas.microsoft.com/office/drawing/2014/main" id="{9907BC01-0D24-7465-B30C-F5A916F069AE}"/>
                </a:ext>
              </a:extLst>
            </p:cNvPr>
            <p:cNvSpPr/>
            <p:nvPr/>
          </p:nvSpPr>
          <p:spPr>
            <a:xfrm>
              <a:off x="365760" y="4206240"/>
              <a:ext cx="164592" cy="164592"/>
            </a:xfrm>
            <a:prstGeom prst="ellipse">
              <a:avLst/>
            </a:prstGeom>
            <a:solidFill>
              <a:srgbClr val="4A9FE8"/>
            </a:solidFill>
            <a:ln w="1270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600"/>
            </a:p>
          </p:txBody>
        </p:sp>
        <p:sp>
          <p:nvSpPr>
            <p:cNvPr id="16" name="Text 17">
              <a:extLst>
                <a:ext uri="{FF2B5EF4-FFF2-40B4-BE49-F238E27FC236}">
                  <a16:creationId xmlns:a16="http://schemas.microsoft.com/office/drawing/2014/main" id="{577FE396-6832-628D-0175-8101D2CDB842}"/>
                </a:ext>
              </a:extLst>
            </p:cNvPr>
            <p:cNvSpPr/>
            <p:nvPr/>
          </p:nvSpPr>
          <p:spPr>
            <a:xfrm>
              <a:off x="603504" y="4151376"/>
              <a:ext cx="235915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CADCFC"/>
                  </a:solidFill>
                </a:rPr>
                <a:t>코드 그룹 · 주석 체계 정리</a:t>
              </a:r>
              <a:endParaRPr lang="en-US" sz="1600" dirty="0"/>
            </a:p>
          </p:txBody>
        </p:sp>
        <p:sp>
          <p:nvSpPr>
            <p:cNvPr id="17" name="Shape 18">
              <a:extLst>
                <a:ext uri="{FF2B5EF4-FFF2-40B4-BE49-F238E27FC236}">
                  <a16:creationId xmlns:a16="http://schemas.microsoft.com/office/drawing/2014/main" id="{17D85C84-EBD6-6892-9AD1-4FBD311695B3}"/>
                </a:ext>
              </a:extLst>
            </p:cNvPr>
            <p:cNvSpPr/>
            <p:nvPr/>
          </p:nvSpPr>
          <p:spPr>
            <a:xfrm>
              <a:off x="3227832" y="960120"/>
              <a:ext cx="2816352" cy="3886200"/>
            </a:xfrm>
            <a:prstGeom prst="rect">
              <a:avLst/>
            </a:prstGeom>
            <a:solidFill>
              <a:srgbClr val="1B2A4A"/>
            </a:solidFill>
            <a:ln w="15240">
              <a:solidFill>
                <a:srgbClr val="E05A1A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 sz="1600"/>
            </a:p>
          </p:txBody>
        </p:sp>
        <p:sp>
          <p:nvSpPr>
            <p:cNvPr id="18" name="Shape 19">
              <a:extLst>
                <a:ext uri="{FF2B5EF4-FFF2-40B4-BE49-F238E27FC236}">
                  <a16:creationId xmlns:a16="http://schemas.microsoft.com/office/drawing/2014/main" id="{DE225046-A641-6230-8886-DC9948D8980A}"/>
                </a:ext>
              </a:extLst>
            </p:cNvPr>
            <p:cNvSpPr/>
            <p:nvPr/>
          </p:nvSpPr>
          <p:spPr>
            <a:xfrm>
              <a:off x="3227832" y="960120"/>
              <a:ext cx="2816352" cy="493776"/>
            </a:xfrm>
            <a:prstGeom prst="rect">
              <a:avLst/>
            </a:prstGeom>
            <a:solidFill>
              <a:srgbClr val="E05A1A"/>
            </a:solidFill>
            <a:ln w="12700">
              <a:solidFill>
                <a:srgbClr val="E05A1A"/>
              </a:solidFill>
              <a:prstDash val="solid"/>
            </a:ln>
          </p:spPr>
          <p:txBody>
            <a:bodyPr/>
            <a:lstStyle/>
            <a:p>
              <a:endParaRPr lang="ko-KR" altLang="en-US" sz="1600"/>
            </a:p>
          </p:txBody>
        </p:sp>
        <p:sp>
          <p:nvSpPr>
            <p:cNvPr id="19" name="Text 20">
              <a:extLst>
                <a:ext uri="{FF2B5EF4-FFF2-40B4-BE49-F238E27FC236}">
                  <a16:creationId xmlns:a16="http://schemas.microsoft.com/office/drawing/2014/main" id="{70DF3758-CDC0-C519-232B-6493D569C3A0}"/>
                </a:ext>
              </a:extLst>
            </p:cNvPr>
            <p:cNvSpPr/>
            <p:nvPr/>
          </p:nvSpPr>
          <p:spPr>
            <a:xfrm>
              <a:off x="3319272" y="996696"/>
              <a:ext cx="100584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1B2A4A"/>
                  </a:solidFill>
                </a:rPr>
                <a:t>SPRINT 2</a:t>
              </a:r>
              <a:endParaRPr lang="en-US" sz="1600" dirty="0"/>
            </a:p>
          </p:txBody>
        </p:sp>
        <p:sp>
          <p:nvSpPr>
            <p:cNvPr id="20" name="Text 21">
              <a:extLst>
                <a:ext uri="{FF2B5EF4-FFF2-40B4-BE49-F238E27FC236}">
                  <a16:creationId xmlns:a16="http://schemas.microsoft.com/office/drawing/2014/main" id="{AD02A242-944C-ACE2-D396-8043E957ACC4}"/>
                </a:ext>
              </a:extLst>
            </p:cNvPr>
            <p:cNvSpPr/>
            <p:nvPr/>
          </p:nvSpPr>
          <p:spPr>
            <a:xfrm>
              <a:off x="4279392" y="996696"/>
              <a:ext cx="169164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200" dirty="0">
                  <a:solidFill>
                    <a:srgbClr val="1B2A4A"/>
                  </a:solidFill>
                </a:rPr>
                <a:t>3/8 ~ 3/9</a:t>
              </a:r>
              <a:endParaRPr lang="en-US" sz="1600" dirty="0"/>
            </a:p>
          </p:txBody>
        </p:sp>
        <p:sp>
          <p:nvSpPr>
            <p:cNvPr id="21" name="Text 22">
              <a:extLst>
                <a:ext uri="{FF2B5EF4-FFF2-40B4-BE49-F238E27FC236}">
                  <a16:creationId xmlns:a16="http://schemas.microsoft.com/office/drawing/2014/main" id="{2E29757C-67D0-C90D-BB22-6031D5DC4F91}"/>
                </a:ext>
              </a:extLst>
            </p:cNvPr>
            <p:cNvSpPr/>
            <p:nvPr/>
          </p:nvSpPr>
          <p:spPr>
            <a:xfrm>
              <a:off x="3319272" y="1252728"/>
              <a:ext cx="263347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1B2A4A"/>
                  </a:solidFill>
                </a:rPr>
                <a:t>검사 로직 안정화</a:t>
              </a:r>
              <a:endParaRPr lang="en-US" sz="1600" dirty="0"/>
            </a:p>
          </p:txBody>
        </p:sp>
        <p:sp>
          <p:nvSpPr>
            <p:cNvPr id="22" name="Shape 23">
              <a:extLst>
                <a:ext uri="{FF2B5EF4-FFF2-40B4-BE49-F238E27FC236}">
                  <a16:creationId xmlns:a16="http://schemas.microsoft.com/office/drawing/2014/main" id="{7B12F14C-C6EA-E58C-1D8D-8AD8FA5DDA10}"/>
                </a:ext>
              </a:extLst>
            </p:cNvPr>
            <p:cNvSpPr/>
            <p:nvPr/>
          </p:nvSpPr>
          <p:spPr>
            <a:xfrm>
              <a:off x="3337560" y="1719072"/>
              <a:ext cx="164592" cy="164592"/>
            </a:xfrm>
            <a:prstGeom prst="ellipse">
              <a:avLst/>
            </a:prstGeom>
            <a:solidFill>
              <a:srgbClr val="E05A1A"/>
            </a:solidFill>
            <a:ln w="12700">
              <a:solidFill>
                <a:srgbClr val="E05A1A"/>
              </a:solidFill>
              <a:prstDash val="solid"/>
            </a:ln>
          </p:spPr>
          <p:txBody>
            <a:bodyPr/>
            <a:lstStyle/>
            <a:p>
              <a:endParaRPr lang="ko-KR" altLang="en-US" sz="1600"/>
            </a:p>
          </p:txBody>
        </p:sp>
        <p:sp>
          <p:nvSpPr>
            <p:cNvPr id="23" name="Text 24">
              <a:extLst>
                <a:ext uri="{FF2B5EF4-FFF2-40B4-BE49-F238E27FC236}">
                  <a16:creationId xmlns:a16="http://schemas.microsoft.com/office/drawing/2014/main" id="{8AD94E03-5C91-F0AD-EE43-521D44469320}"/>
                </a:ext>
              </a:extLst>
            </p:cNvPr>
            <p:cNvSpPr/>
            <p:nvPr/>
          </p:nvSpPr>
          <p:spPr>
            <a:xfrm>
              <a:off x="3575304" y="1664208"/>
              <a:ext cx="235915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CADCFC"/>
                  </a:solidFill>
                </a:rPr>
                <a:t>매칭 스코어 임계값 튜닝</a:t>
              </a:r>
              <a:endParaRPr lang="en-US" sz="1600" dirty="0"/>
            </a:p>
          </p:txBody>
        </p:sp>
        <p:sp>
          <p:nvSpPr>
            <p:cNvPr id="24" name="Shape 25">
              <a:extLst>
                <a:ext uri="{FF2B5EF4-FFF2-40B4-BE49-F238E27FC236}">
                  <a16:creationId xmlns:a16="http://schemas.microsoft.com/office/drawing/2014/main" id="{2C58722B-FC13-826D-B966-A48173FFE5FA}"/>
                </a:ext>
              </a:extLst>
            </p:cNvPr>
            <p:cNvSpPr/>
            <p:nvPr/>
          </p:nvSpPr>
          <p:spPr>
            <a:xfrm>
              <a:off x="3337560" y="2340864"/>
              <a:ext cx="164592" cy="164592"/>
            </a:xfrm>
            <a:prstGeom prst="ellipse">
              <a:avLst/>
            </a:prstGeom>
            <a:solidFill>
              <a:srgbClr val="E05A1A"/>
            </a:solidFill>
            <a:ln w="12700">
              <a:solidFill>
                <a:srgbClr val="E05A1A"/>
              </a:solidFill>
              <a:prstDash val="solid"/>
            </a:ln>
          </p:spPr>
          <p:txBody>
            <a:bodyPr/>
            <a:lstStyle/>
            <a:p>
              <a:endParaRPr lang="ko-KR" altLang="en-US" sz="1600"/>
            </a:p>
          </p:txBody>
        </p:sp>
        <p:sp>
          <p:nvSpPr>
            <p:cNvPr id="25" name="Text 26">
              <a:extLst>
                <a:ext uri="{FF2B5EF4-FFF2-40B4-BE49-F238E27FC236}">
                  <a16:creationId xmlns:a16="http://schemas.microsoft.com/office/drawing/2014/main" id="{FF7D5FBC-CB49-29B4-2C9B-FE6366261485}"/>
                </a:ext>
              </a:extLst>
            </p:cNvPr>
            <p:cNvSpPr/>
            <p:nvPr/>
          </p:nvSpPr>
          <p:spPr>
            <a:xfrm>
              <a:off x="3575304" y="2286000"/>
              <a:ext cx="235915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CADCFC"/>
                  </a:solidFill>
                </a:rPr>
                <a:t>ROI 체크박스 연동 (Keyboard/Bolt/Mark)</a:t>
              </a:r>
              <a:endParaRPr lang="en-US" sz="1600" dirty="0"/>
            </a:p>
          </p:txBody>
        </p:sp>
        <p:sp>
          <p:nvSpPr>
            <p:cNvPr id="26" name="Shape 27">
              <a:extLst>
                <a:ext uri="{FF2B5EF4-FFF2-40B4-BE49-F238E27FC236}">
                  <a16:creationId xmlns:a16="http://schemas.microsoft.com/office/drawing/2014/main" id="{C604283C-E708-5EDD-0101-77BB9B3CB2E6}"/>
                </a:ext>
              </a:extLst>
            </p:cNvPr>
            <p:cNvSpPr/>
            <p:nvPr/>
          </p:nvSpPr>
          <p:spPr>
            <a:xfrm>
              <a:off x="3337560" y="2962656"/>
              <a:ext cx="164592" cy="164592"/>
            </a:xfrm>
            <a:prstGeom prst="ellipse">
              <a:avLst/>
            </a:prstGeom>
            <a:solidFill>
              <a:srgbClr val="E05A1A"/>
            </a:solidFill>
            <a:ln w="12700">
              <a:solidFill>
                <a:srgbClr val="E05A1A"/>
              </a:solidFill>
              <a:prstDash val="solid"/>
            </a:ln>
          </p:spPr>
          <p:txBody>
            <a:bodyPr/>
            <a:lstStyle/>
            <a:p>
              <a:endParaRPr lang="ko-KR" altLang="en-US" sz="1600"/>
            </a:p>
          </p:txBody>
        </p:sp>
        <p:sp>
          <p:nvSpPr>
            <p:cNvPr id="27" name="Text 28">
              <a:extLst>
                <a:ext uri="{FF2B5EF4-FFF2-40B4-BE49-F238E27FC236}">
                  <a16:creationId xmlns:a16="http://schemas.microsoft.com/office/drawing/2014/main" id="{1F9694D1-217B-FC32-0D84-2FDE8C1546C2}"/>
                </a:ext>
              </a:extLst>
            </p:cNvPr>
            <p:cNvSpPr/>
            <p:nvPr/>
          </p:nvSpPr>
          <p:spPr>
            <a:xfrm>
              <a:off x="3575304" y="2907792"/>
              <a:ext cx="235915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CADCFC"/>
                  </a:solidFill>
                </a:rPr>
                <a:t>이미지 순서 표시 (n/N 카운터)</a:t>
              </a:r>
              <a:endParaRPr lang="en-US" sz="1600" dirty="0"/>
            </a:p>
          </p:txBody>
        </p:sp>
        <p:sp>
          <p:nvSpPr>
            <p:cNvPr id="28" name="Shape 29">
              <a:extLst>
                <a:ext uri="{FF2B5EF4-FFF2-40B4-BE49-F238E27FC236}">
                  <a16:creationId xmlns:a16="http://schemas.microsoft.com/office/drawing/2014/main" id="{85D0F246-E8B4-289B-68B4-677D5D910181}"/>
                </a:ext>
              </a:extLst>
            </p:cNvPr>
            <p:cNvSpPr/>
            <p:nvPr/>
          </p:nvSpPr>
          <p:spPr>
            <a:xfrm>
              <a:off x="3337560" y="3584448"/>
              <a:ext cx="164592" cy="164592"/>
            </a:xfrm>
            <a:prstGeom prst="ellipse">
              <a:avLst/>
            </a:prstGeom>
            <a:solidFill>
              <a:srgbClr val="E05A1A"/>
            </a:solidFill>
            <a:ln w="12700">
              <a:solidFill>
                <a:srgbClr val="E05A1A"/>
              </a:solidFill>
              <a:prstDash val="solid"/>
            </a:ln>
          </p:spPr>
          <p:txBody>
            <a:bodyPr/>
            <a:lstStyle/>
            <a:p>
              <a:endParaRPr lang="ko-KR" altLang="en-US" sz="1600"/>
            </a:p>
          </p:txBody>
        </p:sp>
        <p:sp>
          <p:nvSpPr>
            <p:cNvPr id="29" name="Text 30">
              <a:extLst>
                <a:ext uri="{FF2B5EF4-FFF2-40B4-BE49-F238E27FC236}">
                  <a16:creationId xmlns:a16="http://schemas.microsoft.com/office/drawing/2014/main" id="{DF02DF8C-B7F1-C635-C4BA-D87B77B18C09}"/>
                </a:ext>
              </a:extLst>
            </p:cNvPr>
            <p:cNvSpPr/>
            <p:nvPr/>
          </p:nvSpPr>
          <p:spPr>
            <a:xfrm>
              <a:off x="3575304" y="3529584"/>
              <a:ext cx="235915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CADCFC"/>
                  </a:solidFill>
                </a:rPr>
                <a:t>재검사 확인 팝업 구현</a:t>
              </a:r>
              <a:endParaRPr lang="en-US" sz="1600" dirty="0"/>
            </a:p>
          </p:txBody>
        </p:sp>
        <p:sp>
          <p:nvSpPr>
            <p:cNvPr id="30" name="Shape 31">
              <a:extLst>
                <a:ext uri="{FF2B5EF4-FFF2-40B4-BE49-F238E27FC236}">
                  <a16:creationId xmlns:a16="http://schemas.microsoft.com/office/drawing/2014/main" id="{587CFB09-34DD-20EF-836E-BAE955857AF2}"/>
                </a:ext>
              </a:extLst>
            </p:cNvPr>
            <p:cNvSpPr/>
            <p:nvPr/>
          </p:nvSpPr>
          <p:spPr>
            <a:xfrm>
              <a:off x="3337560" y="4206240"/>
              <a:ext cx="164592" cy="164592"/>
            </a:xfrm>
            <a:prstGeom prst="ellipse">
              <a:avLst/>
            </a:prstGeom>
            <a:solidFill>
              <a:srgbClr val="E05A1A"/>
            </a:solidFill>
            <a:ln w="12700">
              <a:solidFill>
                <a:srgbClr val="E05A1A"/>
              </a:solidFill>
              <a:prstDash val="solid"/>
            </a:ln>
          </p:spPr>
          <p:txBody>
            <a:bodyPr/>
            <a:lstStyle/>
            <a:p>
              <a:endParaRPr lang="ko-KR" altLang="en-US" sz="1600"/>
            </a:p>
          </p:txBody>
        </p:sp>
        <p:sp>
          <p:nvSpPr>
            <p:cNvPr id="31" name="Text 32">
              <a:extLst>
                <a:ext uri="{FF2B5EF4-FFF2-40B4-BE49-F238E27FC236}">
                  <a16:creationId xmlns:a16="http://schemas.microsoft.com/office/drawing/2014/main" id="{EB2664DA-BAA1-36F1-21E1-DDFFE71EFB10}"/>
                </a:ext>
              </a:extLst>
            </p:cNvPr>
            <p:cNvSpPr/>
            <p:nvPr/>
          </p:nvSpPr>
          <p:spPr>
            <a:xfrm>
              <a:off x="3575304" y="4151376"/>
              <a:ext cx="235915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CADCFC"/>
                  </a:solidFill>
                </a:rPr>
                <a:t>검사 결과 이미지 자동 저장</a:t>
              </a:r>
              <a:endParaRPr lang="en-US" sz="1600" dirty="0"/>
            </a:p>
          </p:txBody>
        </p:sp>
        <p:sp>
          <p:nvSpPr>
            <p:cNvPr id="32" name="Shape 33">
              <a:extLst>
                <a:ext uri="{FF2B5EF4-FFF2-40B4-BE49-F238E27FC236}">
                  <a16:creationId xmlns:a16="http://schemas.microsoft.com/office/drawing/2014/main" id="{2908C228-E77D-1CB8-F843-C4E1CEFA2F1B}"/>
                </a:ext>
              </a:extLst>
            </p:cNvPr>
            <p:cNvSpPr/>
            <p:nvPr/>
          </p:nvSpPr>
          <p:spPr>
            <a:xfrm>
              <a:off x="6199632" y="960120"/>
              <a:ext cx="2816352" cy="3886200"/>
            </a:xfrm>
            <a:prstGeom prst="rect">
              <a:avLst/>
            </a:prstGeom>
            <a:solidFill>
              <a:srgbClr val="1B2A4A"/>
            </a:solidFill>
            <a:ln w="15240">
              <a:solidFill>
                <a:srgbClr val="4A9FE8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ko-KR" altLang="en-US" sz="1600"/>
            </a:p>
          </p:txBody>
        </p:sp>
        <p:sp>
          <p:nvSpPr>
            <p:cNvPr id="921" name="Shape 34">
              <a:extLst>
                <a:ext uri="{FF2B5EF4-FFF2-40B4-BE49-F238E27FC236}">
                  <a16:creationId xmlns:a16="http://schemas.microsoft.com/office/drawing/2014/main" id="{E065E742-590B-9BB6-9897-9713564B3CCF}"/>
                </a:ext>
              </a:extLst>
            </p:cNvPr>
            <p:cNvSpPr/>
            <p:nvPr/>
          </p:nvSpPr>
          <p:spPr>
            <a:xfrm>
              <a:off x="6199632" y="960120"/>
              <a:ext cx="2816352" cy="493776"/>
            </a:xfrm>
            <a:prstGeom prst="rect">
              <a:avLst/>
            </a:prstGeom>
            <a:solidFill>
              <a:srgbClr val="4A9FE8"/>
            </a:solidFill>
            <a:ln w="1270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600"/>
            </a:p>
          </p:txBody>
        </p:sp>
        <p:sp>
          <p:nvSpPr>
            <p:cNvPr id="922" name="Text 35">
              <a:extLst>
                <a:ext uri="{FF2B5EF4-FFF2-40B4-BE49-F238E27FC236}">
                  <a16:creationId xmlns:a16="http://schemas.microsoft.com/office/drawing/2014/main" id="{CA65330E-A25C-97BF-6C80-AB8EBE679951}"/>
                </a:ext>
              </a:extLst>
            </p:cNvPr>
            <p:cNvSpPr/>
            <p:nvPr/>
          </p:nvSpPr>
          <p:spPr>
            <a:xfrm>
              <a:off x="6291072" y="996696"/>
              <a:ext cx="100584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1B2A4A"/>
                  </a:solidFill>
                </a:rPr>
                <a:t>SPRINT 3</a:t>
              </a:r>
              <a:endParaRPr lang="en-US" sz="1600" dirty="0"/>
            </a:p>
          </p:txBody>
        </p:sp>
        <p:sp>
          <p:nvSpPr>
            <p:cNvPr id="923" name="Text 36">
              <a:extLst>
                <a:ext uri="{FF2B5EF4-FFF2-40B4-BE49-F238E27FC236}">
                  <a16:creationId xmlns:a16="http://schemas.microsoft.com/office/drawing/2014/main" id="{8AF34EAC-C344-1966-F6AA-266F84E6DBAF}"/>
                </a:ext>
              </a:extLst>
            </p:cNvPr>
            <p:cNvSpPr/>
            <p:nvPr/>
          </p:nvSpPr>
          <p:spPr>
            <a:xfrm>
              <a:off x="7251192" y="996696"/>
              <a:ext cx="169164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200" dirty="0">
                  <a:solidFill>
                    <a:srgbClr val="1B2A4A"/>
                  </a:solidFill>
                </a:rPr>
                <a:t>3/10 ~ 3/11</a:t>
              </a:r>
              <a:endParaRPr lang="en-US" sz="1600" dirty="0"/>
            </a:p>
          </p:txBody>
        </p:sp>
        <p:sp>
          <p:nvSpPr>
            <p:cNvPr id="924" name="Text 37">
              <a:extLst>
                <a:ext uri="{FF2B5EF4-FFF2-40B4-BE49-F238E27FC236}">
                  <a16:creationId xmlns:a16="http://schemas.microsoft.com/office/drawing/2014/main" id="{FC0D292A-39B5-ABE1-4240-BE8B0C50F4A4}"/>
                </a:ext>
              </a:extLst>
            </p:cNvPr>
            <p:cNvSpPr/>
            <p:nvPr/>
          </p:nvSpPr>
          <p:spPr>
            <a:xfrm>
              <a:off x="6291072" y="1252728"/>
              <a:ext cx="263347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1B2A4A"/>
                  </a:solidFill>
                </a:rPr>
                <a:t>UI 완성 &amp; 통계 자동화</a:t>
              </a:r>
              <a:endParaRPr lang="en-US" sz="1600" dirty="0"/>
            </a:p>
          </p:txBody>
        </p:sp>
        <p:sp>
          <p:nvSpPr>
            <p:cNvPr id="925" name="Shape 38">
              <a:extLst>
                <a:ext uri="{FF2B5EF4-FFF2-40B4-BE49-F238E27FC236}">
                  <a16:creationId xmlns:a16="http://schemas.microsoft.com/office/drawing/2014/main" id="{ADE7EB8A-EF92-AB81-0841-79C4A6753C19}"/>
                </a:ext>
              </a:extLst>
            </p:cNvPr>
            <p:cNvSpPr/>
            <p:nvPr/>
          </p:nvSpPr>
          <p:spPr>
            <a:xfrm>
              <a:off x="6309360" y="1719072"/>
              <a:ext cx="164592" cy="164592"/>
            </a:xfrm>
            <a:prstGeom prst="ellipse">
              <a:avLst/>
            </a:prstGeom>
            <a:solidFill>
              <a:srgbClr val="4A9FE8"/>
            </a:solidFill>
            <a:ln w="1270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600"/>
            </a:p>
          </p:txBody>
        </p:sp>
        <p:sp>
          <p:nvSpPr>
            <p:cNvPr id="926" name="Text 39">
              <a:extLst>
                <a:ext uri="{FF2B5EF4-FFF2-40B4-BE49-F238E27FC236}">
                  <a16:creationId xmlns:a16="http://schemas.microsoft.com/office/drawing/2014/main" id="{BD6720BE-B402-EDFE-93D2-6D2FD9523BC3}"/>
                </a:ext>
              </a:extLst>
            </p:cNvPr>
            <p:cNvSpPr/>
            <p:nvPr/>
          </p:nvSpPr>
          <p:spPr>
            <a:xfrm>
              <a:off x="6547104" y="1664208"/>
              <a:ext cx="235915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CADCFC"/>
                  </a:solidFill>
                </a:rPr>
                <a:t>TrendChartForm 불량률 차트 통합</a:t>
              </a:r>
              <a:endParaRPr lang="en-US" sz="1600" dirty="0"/>
            </a:p>
          </p:txBody>
        </p:sp>
        <p:sp>
          <p:nvSpPr>
            <p:cNvPr id="927" name="Shape 40">
              <a:extLst>
                <a:ext uri="{FF2B5EF4-FFF2-40B4-BE49-F238E27FC236}">
                  <a16:creationId xmlns:a16="http://schemas.microsoft.com/office/drawing/2014/main" id="{2FFF431F-67A3-2745-6B1E-8FB90151AC36}"/>
                </a:ext>
              </a:extLst>
            </p:cNvPr>
            <p:cNvSpPr/>
            <p:nvPr/>
          </p:nvSpPr>
          <p:spPr>
            <a:xfrm>
              <a:off x="6309360" y="2340864"/>
              <a:ext cx="164592" cy="164592"/>
            </a:xfrm>
            <a:prstGeom prst="ellipse">
              <a:avLst/>
            </a:prstGeom>
            <a:solidFill>
              <a:srgbClr val="4A9FE8"/>
            </a:solidFill>
            <a:ln w="1270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600"/>
            </a:p>
          </p:txBody>
        </p:sp>
        <p:sp>
          <p:nvSpPr>
            <p:cNvPr id="928" name="Text 41">
              <a:extLst>
                <a:ext uri="{FF2B5EF4-FFF2-40B4-BE49-F238E27FC236}">
                  <a16:creationId xmlns:a16="http://schemas.microsoft.com/office/drawing/2014/main" id="{D26FB042-41BC-1A35-0D8D-E8629C607CDE}"/>
                </a:ext>
              </a:extLst>
            </p:cNvPr>
            <p:cNvSpPr/>
            <p:nvPr/>
          </p:nvSpPr>
          <p:spPr>
            <a:xfrm>
              <a:off x="6547104" y="2286000"/>
              <a:ext cx="235915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CADCFC"/>
                  </a:solidFill>
                </a:rPr>
                <a:t>CLAHE + Laplacian 각인 최종 튜닝</a:t>
              </a:r>
              <a:endParaRPr lang="en-US" sz="1600" dirty="0"/>
            </a:p>
          </p:txBody>
        </p:sp>
        <p:sp>
          <p:nvSpPr>
            <p:cNvPr id="929" name="Shape 42">
              <a:extLst>
                <a:ext uri="{FF2B5EF4-FFF2-40B4-BE49-F238E27FC236}">
                  <a16:creationId xmlns:a16="http://schemas.microsoft.com/office/drawing/2014/main" id="{CAF76BA1-7F03-B53B-9B90-A824C1C6F335}"/>
                </a:ext>
              </a:extLst>
            </p:cNvPr>
            <p:cNvSpPr/>
            <p:nvPr/>
          </p:nvSpPr>
          <p:spPr>
            <a:xfrm>
              <a:off x="6309360" y="2962656"/>
              <a:ext cx="164592" cy="164592"/>
            </a:xfrm>
            <a:prstGeom prst="ellipse">
              <a:avLst/>
            </a:prstGeom>
            <a:solidFill>
              <a:srgbClr val="4A9FE8"/>
            </a:solidFill>
            <a:ln w="1270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600"/>
            </a:p>
          </p:txBody>
        </p:sp>
        <p:sp>
          <p:nvSpPr>
            <p:cNvPr id="930" name="Text 43">
              <a:extLst>
                <a:ext uri="{FF2B5EF4-FFF2-40B4-BE49-F238E27FC236}">
                  <a16:creationId xmlns:a16="http://schemas.microsoft.com/office/drawing/2014/main" id="{827B4218-C243-124E-EFD1-14C28ACCCCCA}"/>
                </a:ext>
              </a:extLst>
            </p:cNvPr>
            <p:cNvSpPr/>
            <p:nvPr/>
          </p:nvSpPr>
          <p:spPr>
            <a:xfrm>
              <a:off x="6547104" y="2907792"/>
              <a:ext cx="235915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CADCFC"/>
                  </a:solidFill>
                </a:rPr>
                <a:t>Segoe UI 폰트 통일 &amp; 라벨 조정</a:t>
              </a:r>
              <a:endParaRPr lang="en-US" sz="1600" dirty="0"/>
            </a:p>
          </p:txBody>
        </p:sp>
        <p:sp>
          <p:nvSpPr>
            <p:cNvPr id="931" name="Shape 44">
              <a:extLst>
                <a:ext uri="{FF2B5EF4-FFF2-40B4-BE49-F238E27FC236}">
                  <a16:creationId xmlns:a16="http://schemas.microsoft.com/office/drawing/2014/main" id="{8AF335CE-D1FB-C2D0-43DD-4F09EFE786FA}"/>
                </a:ext>
              </a:extLst>
            </p:cNvPr>
            <p:cNvSpPr/>
            <p:nvPr/>
          </p:nvSpPr>
          <p:spPr>
            <a:xfrm>
              <a:off x="6309360" y="3584448"/>
              <a:ext cx="164592" cy="164592"/>
            </a:xfrm>
            <a:prstGeom prst="ellipse">
              <a:avLst/>
            </a:prstGeom>
            <a:solidFill>
              <a:srgbClr val="4A9FE8"/>
            </a:solidFill>
            <a:ln w="1270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600"/>
            </a:p>
          </p:txBody>
        </p:sp>
        <p:sp>
          <p:nvSpPr>
            <p:cNvPr id="932" name="Text 45">
              <a:extLst>
                <a:ext uri="{FF2B5EF4-FFF2-40B4-BE49-F238E27FC236}">
                  <a16:creationId xmlns:a16="http://schemas.microsoft.com/office/drawing/2014/main" id="{3F02171A-C95B-A6CA-4A38-EB01FC9FD353}"/>
                </a:ext>
              </a:extLst>
            </p:cNvPr>
            <p:cNvSpPr/>
            <p:nvPr/>
          </p:nvSpPr>
          <p:spPr>
            <a:xfrm>
              <a:off x="6547104" y="3529584"/>
              <a:ext cx="235915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CADCFC"/>
                  </a:solidFill>
                </a:rPr>
                <a:t>Tact Time 측정 / UPH 자동 계산</a:t>
              </a:r>
              <a:endParaRPr lang="en-US" sz="1600" dirty="0"/>
            </a:p>
          </p:txBody>
        </p:sp>
        <p:sp>
          <p:nvSpPr>
            <p:cNvPr id="933" name="Shape 46">
              <a:extLst>
                <a:ext uri="{FF2B5EF4-FFF2-40B4-BE49-F238E27FC236}">
                  <a16:creationId xmlns:a16="http://schemas.microsoft.com/office/drawing/2014/main" id="{7AD7D49E-CF90-C139-C3AC-78E8DB682A34}"/>
                </a:ext>
              </a:extLst>
            </p:cNvPr>
            <p:cNvSpPr/>
            <p:nvPr/>
          </p:nvSpPr>
          <p:spPr>
            <a:xfrm>
              <a:off x="6309360" y="4206240"/>
              <a:ext cx="164592" cy="164592"/>
            </a:xfrm>
            <a:prstGeom prst="ellipse">
              <a:avLst/>
            </a:prstGeom>
            <a:solidFill>
              <a:srgbClr val="4A9FE8"/>
            </a:solidFill>
            <a:ln w="12700">
              <a:solidFill>
                <a:srgbClr val="4A9FE8"/>
              </a:solidFill>
              <a:prstDash val="solid"/>
            </a:ln>
          </p:spPr>
          <p:txBody>
            <a:bodyPr/>
            <a:lstStyle/>
            <a:p>
              <a:endParaRPr lang="ko-KR" altLang="en-US" sz="1600"/>
            </a:p>
          </p:txBody>
        </p:sp>
        <p:sp>
          <p:nvSpPr>
            <p:cNvPr id="934" name="Text 47">
              <a:extLst>
                <a:ext uri="{FF2B5EF4-FFF2-40B4-BE49-F238E27FC236}">
                  <a16:creationId xmlns:a16="http://schemas.microsoft.com/office/drawing/2014/main" id="{591B0ED7-B67A-2B40-A556-383B63E8A005}"/>
                </a:ext>
              </a:extLst>
            </p:cNvPr>
            <p:cNvSpPr/>
            <p:nvPr/>
          </p:nvSpPr>
          <p:spPr>
            <a:xfrm>
              <a:off x="6547104" y="4151376"/>
              <a:ext cx="235915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CADCFC"/>
                  </a:solidFill>
                </a:rPr>
                <a:t>CSV 저장 + 비동기 저장 스레드 분리</a:t>
              </a:r>
              <a:endParaRPr lang="en-US" sz="1600" dirty="0"/>
            </a:p>
          </p:txBody>
        </p:sp>
        <p:sp>
          <p:nvSpPr>
            <p:cNvPr id="935" name="Text 48">
              <a:extLst>
                <a:ext uri="{FF2B5EF4-FFF2-40B4-BE49-F238E27FC236}">
                  <a16:creationId xmlns:a16="http://schemas.microsoft.com/office/drawing/2014/main" id="{485D7B0C-4868-6A74-BE9D-92A744925A5D}"/>
                </a:ext>
              </a:extLst>
            </p:cNvPr>
            <p:cNvSpPr/>
            <p:nvPr/>
          </p:nvSpPr>
          <p:spPr>
            <a:xfrm>
              <a:off x="274320" y="4864608"/>
              <a:ext cx="85953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8899BB"/>
                  </a:solidFill>
                </a:rPr>
                <a:t>Sprint 1: ~12 commits  ·  Sprint 2: ~10 commits  ·  Sprint 3: ~12 commits  =  총 34+ commits / 8일</a:t>
              </a:r>
              <a:endParaRPr 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42618748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content_bg"/>
          <p:cNvSpPr>
            <a:spLocks noGrp="1"/>
          </p:cNvSpPr>
          <p:nvPr/>
        </p:nvSpPr>
        <p:spPr>
          <a:xfrm>
            <a:off x="0" y="820000"/>
            <a:ext cx="12192000" cy="6038000"/>
          </a:xfrm>
          <a:prstGeom prst="rect">
            <a:avLst/>
          </a:prstGeom>
          <a:solidFill>
            <a:srgbClr val="EEF1F5"/>
          </a:solidFill>
        </p:spPr>
        <p:txBody>
          <a:bodyPr/>
          <a:lstStyle/>
          <a:p>
            <a:endParaRPr lang="ko-KR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DCC507E-CEEE-CA96-3D8E-82524F3684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8000" y="995000"/>
            <a:ext cx="8216000" cy="5688000"/>
          </a:xfrm>
          <a:prstGeom prst="rect">
            <a:avLst/>
          </a:prstGeom>
        </p:spPr>
      </p:pic>
      <p:sp>
        <p:nvSpPr>
          <p:cNvPr id="901" name="header_bar"/>
          <p:cNvSpPr>
            <a:spLocks noGrp="1"/>
          </p:cNvSpPr>
          <p:nvPr/>
        </p:nvSpPr>
        <p:spPr>
          <a:xfrm>
            <a:off x="0" y="0"/>
            <a:ext cx="12192000" cy="82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 lang="ko-KR"/>
          </a:p>
        </p:txBody>
      </p:sp>
      <p:sp>
        <p:nvSpPr>
          <p:cNvPr id="902" name="accent_stripe"/>
          <p:cNvSpPr>
            <a:spLocks noGrp="1"/>
          </p:cNvSpPr>
          <p:nvPr/>
        </p:nvSpPr>
        <p:spPr>
          <a:xfrm>
            <a:off x="0" y="0"/>
            <a:ext cx="120000" cy="820000"/>
          </a:xfrm>
          <a:prstGeom prst="rect">
            <a:avLst/>
          </a:prstGeom>
          <a:solidFill>
            <a:srgbClr val="E05A1A"/>
          </a:solidFill>
        </p:spPr>
        <p:txBody>
          <a:bodyPr/>
          <a:lstStyle/>
          <a:p>
            <a:endParaRPr lang="ko-KR"/>
          </a:p>
        </p:txBody>
      </p:sp>
      <p:sp>
        <p:nvSpPr>
          <p:cNvPr id="904" name="step_badge"/>
          <p:cNvSpPr>
            <a:spLocks noGrp="1"/>
          </p:cNvSpPr>
          <p:nvPr/>
        </p:nvSpPr>
        <p:spPr>
          <a:xfrm>
            <a:off x="11492000" y="0"/>
            <a:ext cx="700000" cy="820000"/>
          </a:xfrm>
          <a:prstGeom prst="rect">
            <a:avLst/>
          </a:prstGeom>
          <a:solidFill>
            <a:srgbClr val="E05A1A"/>
          </a:solidFill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01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551BD9F-7714-6AD7-C959-2EC4B83973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8000" y="995000"/>
            <a:ext cx="8216000" cy="5688000"/>
          </a:xfrm>
          <a:prstGeom prst="rect">
            <a:avLst/>
          </a:prstGeom>
        </p:spPr>
      </p:pic>
      <p:sp>
        <p:nvSpPr>
          <p:cNvPr id="910" name="cat_badge"/>
          <p:cNvSpPr>
            <a:spLocks noGrp="1"/>
          </p:cNvSpPr>
          <p:nvPr/>
        </p:nvSpPr>
        <p:spPr>
          <a:xfrm>
            <a:off x="320000" y="110000"/>
            <a:ext cx="1350000" cy="600000"/>
          </a:xfrm>
          <a:prstGeom prst="roundRect">
            <a:avLst>
              <a:gd name="adj" fmla="val 20000"/>
            </a:avLst>
          </a:prstGeom>
          <a:solidFill>
            <a:srgbClr val="E05A1A">
              <a:alpha val="28000"/>
            </a:srgbClr>
          </a:solidFill>
          <a:ln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400" b="1" dirty="0">
                <a:solidFill>
                  <a:srgbClr val="FFBB88"/>
                </a:solidFill>
              </a:rPr>
              <a:t>UI 개요</a:t>
            </a:r>
          </a:p>
        </p:txBody>
      </p:sp>
      <p:sp>
        <p:nvSpPr>
          <p:cNvPr id="903" name="header_title"/>
          <p:cNvSpPr txBox="1"/>
          <p:nvPr/>
        </p:nvSpPr>
        <p:spPr>
          <a:xfrm>
            <a:off x="1830000" y="0"/>
            <a:ext cx="9562000" cy="8200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r>
              <a:rPr lang="ko-KR" altLang="en-US" sz="2000" b="1" dirty="0">
                <a:solidFill>
                  <a:srgbClr val="FFFFFF"/>
                </a:solidFill>
              </a:rPr>
              <a:t>시스템 UI 전체 화면 구성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C0346-2123-704B-93F4-6605971A5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content_bg">
            <a:extLst>
              <a:ext uri="{FF2B5EF4-FFF2-40B4-BE49-F238E27FC236}">
                <a16:creationId xmlns:a16="http://schemas.microsoft.com/office/drawing/2014/main" id="{4BECE048-F67D-3125-9E1A-BE47B7062F3C}"/>
              </a:ext>
            </a:extLst>
          </p:cNvPr>
          <p:cNvSpPr>
            <a:spLocks noGrp="1"/>
          </p:cNvSpPr>
          <p:nvPr/>
        </p:nvSpPr>
        <p:spPr>
          <a:xfrm>
            <a:off x="0" y="820000"/>
            <a:ext cx="12192000" cy="6038000"/>
          </a:xfrm>
          <a:prstGeom prst="rect">
            <a:avLst/>
          </a:prstGeom>
          <a:solidFill>
            <a:srgbClr val="EEF1F5"/>
          </a:solidFill>
        </p:spPr>
        <p:txBody>
          <a:bodyPr/>
          <a:lstStyle/>
          <a:p>
            <a:endParaRPr lang="ko-KR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1208E90-3A75-C97B-C2A3-6B61FE2A6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8000" y="995000"/>
            <a:ext cx="8216000" cy="5688000"/>
          </a:xfrm>
          <a:prstGeom prst="rect">
            <a:avLst/>
          </a:prstGeom>
        </p:spPr>
      </p:pic>
      <p:sp>
        <p:nvSpPr>
          <p:cNvPr id="901" name="header_bar">
            <a:extLst>
              <a:ext uri="{FF2B5EF4-FFF2-40B4-BE49-F238E27FC236}">
                <a16:creationId xmlns:a16="http://schemas.microsoft.com/office/drawing/2014/main" id="{7B977652-5896-70EE-8DE3-B188610B06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2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 lang="ko-KR"/>
          </a:p>
        </p:txBody>
      </p:sp>
      <p:sp>
        <p:nvSpPr>
          <p:cNvPr id="902" name="accent_stripe">
            <a:extLst>
              <a:ext uri="{FF2B5EF4-FFF2-40B4-BE49-F238E27FC236}">
                <a16:creationId xmlns:a16="http://schemas.microsoft.com/office/drawing/2014/main" id="{E17DB93A-2355-A6FC-C418-FF3A1C082D8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0000" cy="820000"/>
          </a:xfrm>
          <a:prstGeom prst="rect">
            <a:avLst/>
          </a:prstGeom>
          <a:solidFill>
            <a:srgbClr val="E05A1A"/>
          </a:solidFill>
        </p:spPr>
        <p:txBody>
          <a:bodyPr/>
          <a:lstStyle/>
          <a:p>
            <a:endParaRPr lang="ko-KR"/>
          </a:p>
        </p:txBody>
      </p:sp>
      <p:sp>
        <p:nvSpPr>
          <p:cNvPr id="904" name="step_badge">
            <a:extLst>
              <a:ext uri="{FF2B5EF4-FFF2-40B4-BE49-F238E27FC236}">
                <a16:creationId xmlns:a16="http://schemas.microsoft.com/office/drawing/2014/main" id="{E3F4E38B-CFBF-A7F8-94BD-ED69EBE00252}"/>
              </a:ext>
            </a:extLst>
          </p:cNvPr>
          <p:cNvSpPr>
            <a:spLocks noGrp="1"/>
          </p:cNvSpPr>
          <p:nvPr/>
        </p:nvSpPr>
        <p:spPr>
          <a:xfrm>
            <a:off x="11492000" y="0"/>
            <a:ext cx="700000" cy="820000"/>
          </a:xfrm>
          <a:prstGeom prst="rect">
            <a:avLst/>
          </a:prstGeom>
          <a:solidFill>
            <a:srgbClr val="E05A1A"/>
          </a:solidFill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526D037-D742-7F1A-C4FA-9ABAAC3C77DD}"/>
              </a:ext>
            </a:extLst>
          </p:cNvPr>
          <p:cNvSpPr/>
          <p:nvPr/>
        </p:nvSpPr>
        <p:spPr>
          <a:xfrm>
            <a:off x="6766153" y="4970600"/>
            <a:ext cx="1470244" cy="1765155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10" name="cat_badge">
            <a:extLst>
              <a:ext uri="{FF2B5EF4-FFF2-40B4-BE49-F238E27FC236}">
                <a16:creationId xmlns:a16="http://schemas.microsoft.com/office/drawing/2014/main" id="{26633E21-E780-A2FE-F605-CEA18522C95B}"/>
              </a:ext>
            </a:extLst>
          </p:cNvPr>
          <p:cNvSpPr>
            <a:spLocks noGrp="1"/>
          </p:cNvSpPr>
          <p:nvPr/>
        </p:nvSpPr>
        <p:spPr>
          <a:xfrm>
            <a:off x="320000" y="110000"/>
            <a:ext cx="1350000" cy="600000"/>
          </a:xfrm>
          <a:prstGeom prst="roundRect">
            <a:avLst>
              <a:gd name="adj" fmla="val 20000"/>
            </a:avLst>
          </a:prstGeom>
          <a:solidFill>
            <a:srgbClr val="E05A1A">
              <a:alpha val="28000"/>
            </a:srgbClr>
          </a:solidFill>
          <a:ln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400" b="1" dirty="0">
                <a:solidFill>
                  <a:srgbClr val="FFBB88"/>
                </a:solidFill>
              </a:rPr>
              <a:t>ROI</a:t>
            </a:r>
            <a:endParaRPr lang="ko-KR" altLang="en-US" sz="1400" b="1" dirty="0">
              <a:solidFill>
                <a:srgbClr val="FFBB88"/>
              </a:solidFill>
            </a:endParaRPr>
          </a:p>
        </p:txBody>
      </p:sp>
      <p:sp>
        <p:nvSpPr>
          <p:cNvPr id="903" name="header_title">
            <a:extLst>
              <a:ext uri="{FF2B5EF4-FFF2-40B4-BE49-F238E27FC236}">
                <a16:creationId xmlns:a16="http://schemas.microsoft.com/office/drawing/2014/main" id="{3982723D-CFD6-51EF-361F-6D9881E4BBD5}"/>
              </a:ext>
            </a:extLst>
          </p:cNvPr>
          <p:cNvSpPr txBox="1"/>
          <p:nvPr/>
        </p:nvSpPr>
        <p:spPr>
          <a:xfrm>
            <a:off x="1830000" y="0"/>
            <a:ext cx="9562000" cy="8200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r>
              <a:rPr lang="en-US" altLang="ko-KR" sz="2000" b="1" dirty="0">
                <a:solidFill>
                  <a:srgbClr val="FFFFFF"/>
                </a:solidFill>
              </a:rPr>
              <a:t>ROI</a:t>
            </a:r>
            <a:r>
              <a:rPr lang="ko-KR" altLang="en-US" sz="2000" b="1" dirty="0">
                <a:solidFill>
                  <a:srgbClr val="FFFFFF"/>
                </a:solidFill>
              </a:rPr>
              <a:t> 설정</a:t>
            </a:r>
            <a:r>
              <a:rPr lang="en-US" altLang="ko-KR" sz="2000" b="1" dirty="0">
                <a:solidFill>
                  <a:srgbClr val="FFFFFF"/>
                </a:solidFill>
              </a:rPr>
              <a:t>(5</a:t>
            </a:r>
            <a:r>
              <a:rPr lang="ko-KR" altLang="en-US" sz="2000" b="1" dirty="0">
                <a:solidFill>
                  <a:srgbClr val="FFFFFF"/>
                </a:solidFill>
              </a:rPr>
              <a:t>번째 빨간 건반 추천</a:t>
            </a:r>
            <a:r>
              <a:rPr lang="en-US" altLang="ko-KR" sz="2000" b="1" dirty="0">
                <a:solidFill>
                  <a:srgbClr val="FFFFFF"/>
                </a:solidFill>
              </a:rPr>
              <a:t>)</a:t>
            </a:r>
            <a:endParaRPr lang="ko-KR" altLang="en-US" sz="2000"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47302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content_bg"/>
          <p:cNvSpPr>
            <a:spLocks noGrp="1"/>
          </p:cNvSpPr>
          <p:nvPr/>
        </p:nvSpPr>
        <p:spPr>
          <a:xfrm>
            <a:off x="0" y="820000"/>
            <a:ext cx="12192000" cy="6038000"/>
          </a:xfrm>
          <a:prstGeom prst="rect">
            <a:avLst/>
          </a:prstGeom>
          <a:solidFill>
            <a:srgbClr val="EEF1F5"/>
          </a:solidFill>
        </p:spPr>
        <p:txBody>
          <a:bodyPr/>
          <a:lstStyle/>
          <a:p>
            <a:endParaRPr lang="ko-KR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51CFD08-8C33-D45A-0792-003169A16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8000" y="995000"/>
            <a:ext cx="8216000" cy="5688000"/>
          </a:xfrm>
          <a:prstGeom prst="rect">
            <a:avLst/>
          </a:prstGeom>
        </p:spPr>
      </p:pic>
      <p:sp>
        <p:nvSpPr>
          <p:cNvPr id="901" name="header_bar"/>
          <p:cNvSpPr>
            <a:spLocks noGrp="1"/>
          </p:cNvSpPr>
          <p:nvPr/>
        </p:nvSpPr>
        <p:spPr>
          <a:xfrm>
            <a:off x="0" y="0"/>
            <a:ext cx="12192000" cy="82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 lang="ko-KR"/>
          </a:p>
        </p:txBody>
      </p:sp>
      <p:sp>
        <p:nvSpPr>
          <p:cNvPr id="902" name="accent_stripe"/>
          <p:cNvSpPr>
            <a:spLocks noGrp="1"/>
          </p:cNvSpPr>
          <p:nvPr/>
        </p:nvSpPr>
        <p:spPr>
          <a:xfrm>
            <a:off x="0" y="0"/>
            <a:ext cx="120000" cy="820000"/>
          </a:xfrm>
          <a:prstGeom prst="rect">
            <a:avLst/>
          </a:prstGeom>
          <a:solidFill>
            <a:srgbClr val="E05A1A"/>
          </a:solidFill>
        </p:spPr>
        <p:txBody>
          <a:bodyPr/>
          <a:lstStyle/>
          <a:p>
            <a:endParaRPr lang="ko-KR"/>
          </a:p>
        </p:txBody>
      </p:sp>
      <p:sp>
        <p:nvSpPr>
          <p:cNvPr id="904" name="step_badge"/>
          <p:cNvSpPr>
            <a:spLocks noGrp="1"/>
          </p:cNvSpPr>
          <p:nvPr/>
        </p:nvSpPr>
        <p:spPr>
          <a:xfrm>
            <a:off x="11492000" y="0"/>
            <a:ext cx="700000" cy="820000"/>
          </a:xfrm>
          <a:prstGeom prst="rect">
            <a:avLst/>
          </a:prstGeom>
          <a:solidFill>
            <a:srgbClr val="E05A1A"/>
          </a:solidFill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76746B4-6864-0B2F-C104-45653A11D918}"/>
              </a:ext>
            </a:extLst>
          </p:cNvPr>
          <p:cNvSpPr/>
          <p:nvPr/>
        </p:nvSpPr>
        <p:spPr>
          <a:xfrm>
            <a:off x="8034045" y="1800893"/>
            <a:ext cx="934864" cy="43481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0" name="cat_badge"/>
          <p:cNvSpPr>
            <a:spLocks noGrp="1"/>
          </p:cNvSpPr>
          <p:nvPr/>
        </p:nvSpPr>
        <p:spPr>
          <a:xfrm>
            <a:off x="320000" y="110000"/>
            <a:ext cx="1350000" cy="600000"/>
          </a:xfrm>
          <a:prstGeom prst="roundRect">
            <a:avLst>
              <a:gd name="adj" fmla="val 20000"/>
            </a:avLst>
          </a:prstGeom>
          <a:solidFill>
            <a:srgbClr val="E05A1A">
              <a:alpha val="28000"/>
            </a:srgbClr>
          </a:solidFill>
          <a:ln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400" b="1" dirty="0">
                <a:solidFill>
                  <a:srgbClr val="FFBB88"/>
                </a:solidFill>
              </a:rPr>
              <a:t>검사 실행</a:t>
            </a:r>
          </a:p>
        </p:txBody>
      </p:sp>
      <p:sp>
        <p:nvSpPr>
          <p:cNvPr id="903" name="header_title"/>
          <p:cNvSpPr txBox="1"/>
          <p:nvPr/>
        </p:nvSpPr>
        <p:spPr>
          <a:xfrm>
            <a:off x="1830000" y="0"/>
            <a:ext cx="9562000" cy="8200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r>
              <a:rPr lang="ko-KR" altLang="en-US" sz="2000" b="1" dirty="0">
                <a:solidFill>
                  <a:srgbClr val="FFFFFF"/>
                </a:solidFill>
              </a:rPr>
              <a:t>우측 Inspect 탭 &gt; 검사 버튼 클릭 시 검사 가능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0666D-363D-CD79-821E-FB178AF30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content_bg">
            <a:extLst>
              <a:ext uri="{FF2B5EF4-FFF2-40B4-BE49-F238E27FC236}">
                <a16:creationId xmlns:a16="http://schemas.microsoft.com/office/drawing/2014/main" id="{94B9069D-0F20-DE3C-3ED6-B7C462CF01F5}"/>
              </a:ext>
            </a:extLst>
          </p:cNvPr>
          <p:cNvSpPr>
            <a:spLocks noGrp="1"/>
          </p:cNvSpPr>
          <p:nvPr/>
        </p:nvSpPr>
        <p:spPr>
          <a:xfrm>
            <a:off x="0" y="820000"/>
            <a:ext cx="12192000" cy="6038000"/>
          </a:xfrm>
          <a:prstGeom prst="rect">
            <a:avLst/>
          </a:prstGeom>
          <a:solidFill>
            <a:srgbClr val="EEF1F5"/>
          </a:solidFill>
        </p:spPr>
        <p:txBody>
          <a:bodyPr/>
          <a:lstStyle/>
          <a:p>
            <a:endParaRPr lang="ko-KR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7E875BA8-C386-FDE6-5456-03C30E4B13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8000" y="995000"/>
            <a:ext cx="8216785" cy="5688000"/>
          </a:xfrm>
          <a:prstGeom prst="rect">
            <a:avLst/>
          </a:prstGeom>
        </p:spPr>
      </p:pic>
      <p:sp>
        <p:nvSpPr>
          <p:cNvPr id="901" name="header_bar">
            <a:extLst>
              <a:ext uri="{FF2B5EF4-FFF2-40B4-BE49-F238E27FC236}">
                <a16:creationId xmlns:a16="http://schemas.microsoft.com/office/drawing/2014/main" id="{D26A1C78-AB0E-2AE5-6EFC-DC42B2FAD0B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2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 lang="ko-KR"/>
          </a:p>
        </p:txBody>
      </p:sp>
      <p:sp>
        <p:nvSpPr>
          <p:cNvPr id="902" name="accent_stripe">
            <a:extLst>
              <a:ext uri="{FF2B5EF4-FFF2-40B4-BE49-F238E27FC236}">
                <a16:creationId xmlns:a16="http://schemas.microsoft.com/office/drawing/2014/main" id="{39CC7443-07CA-1376-AA33-F4163E54AA1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0000" cy="820000"/>
          </a:xfrm>
          <a:prstGeom prst="rect">
            <a:avLst/>
          </a:prstGeom>
          <a:solidFill>
            <a:srgbClr val="E05A1A"/>
          </a:solidFill>
        </p:spPr>
        <p:txBody>
          <a:bodyPr/>
          <a:lstStyle/>
          <a:p>
            <a:endParaRPr lang="ko-KR"/>
          </a:p>
        </p:txBody>
      </p:sp>
      <p:sp>
        <p:nvSpPr>
          <p:cNvPr id="904" name="step_badge">
            <a:extLst>
              <a:ext uri="{FF2B5EF4-FFF2-40B4-BE49-F238E27FC236}">
                <a16:creationId xmlns:a16="http://schemas.microsoft.com/office/drawing/2014/main" id="{EEF6BCAB-378C-3B94-75F0-A30D27180DEF}"/>
              </a:ext>
            </a:extLst>
          </p:cNvPr>
          <p:cNvSpPr>
            <a:spLocks noGrp="1"/>
          </p:cNvSpPr>
          <p:nvPr/>
        </p:nvSpPr>
        <p:spPr>
          <a:xfrm>
            <a:off x="11492000" y="0"/>
            <a:ext cx="700000" cy="820000"/>
          </a:xfrm>
          <a:prstGeom prst="rect">
            <a:avLst/>
          </a:prstGeom>
          <a:solidFill>
            <a:srgbClr val="E05A1A"/>
          </a:solidFill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D1927ED-47C9-1794-84B8-B03ECFB1FC56}"/>
              </a:ext>
            </a:extLst>
          </p:cNvPr>
          <p:cNvSpPr/>
          <p:nvPr/>
        </p:nvSpPr>
        <p:spPr>
          <a:xfrm>
            <a:off x="6814845" y="5820590"/>
            <a:ext cx="741424" cy="55527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0" name="cat_badge"/>
          <p:cNvSpPr>
            <a:spLocks noGrp="1"/>
          </p:cNvSpPr>
          <p:nvPr/>
        </p:nvSpPr>
        <p:spPr>
          <a:xfrm>
            <a:off x="320000" y="110000"/>
            <a:ext cx="1350000" cy="600000"/>
          </a:xfrm>
          <a:prstGeom prst="roundRect">
            <a:avLst>
              <a:gd name="adj" fmla="val 20000"/>
            </a:avLst>
          </a:prstGeom>
          <a:solidFill>
            <a:srgbClr val="E05A1A">
              <a:alpha val="28000"/>
            </a:srgbClr>
          </a:solidFill>
          <a:ln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400" b="1" dirty="0">
                <a:solidFill>
                  <a:srgbClr val="FFBB88"/>
                </a:solidFill>
              </a:rPr>
              <a:t>검사 실행</a:t>
            </a:r>
          </a:p>
        </p:txBody>
      </p:sp>
      <p:sp>
        <p:nvSpPr>
          <p:cNvPr id="903" name="header_title"/>
          <p:cNvSpPr txBox="1"/>
          <p:nvPr/>
        </p:nvSpPr>
        <p:spPr>
          <a:xfrm>
            <a:off x="1830000" y="0"/>
            <a:ext cx="9562000" cy="8200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r>
              <a:rPr lang="ko-KR" altLang="en-US" sz="2000" b="1" dirty="0">
                <a:solidFill>
                  <a:srgbClr val="FFFFFF"/>
                </a:solidFill>
              </a:rPr>
              <a:t>RunForm 시작 버튼 클릭 시 검사 1회 시작</a:t>
            </a:r>
          </a:p>
        </p:txBody>
      </p:sp>
    </p:spTree>
    <p:extLst>
      <p:ext uri="{BB962C8B-B14F-4D97-AF65-F5344CB8AC3E}">
        <p14:creationId xmlns:p14="http://schemas.microsoft.com/office/powerpoint/2010/main" val="14126527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33B6B-A94A-016D-924F-B8F94A5E7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content_bg">
            <a:extLst>
              <a:ext uri="{FF2B5EF4-FFF2-40B4-BE49-F238E27FC236}">
                <a16:creationId xmlns:a16="http://schemas.microsoft.com/office/drawing/2014/main" id="{6856ACF8-E1FE-5981-E440-2CA67FD1E3B6}"/>
              </a:ext>
            </a:extLst>
          </p:cNvPr>
          <p:cNvSpPr>
            <a:spLocks noGrp="1"/>
          </p:cNvSpPr>
          <p:nvPr/>
        </p:nvSpPr>
        <p:spPr>
          <a:xfrm>
            <a:off x="0" y="820000"/>
            <a:ext cx="12192000" cy="6038000"/>
          </a:xfrm>
          <a:prstGeom prst="rect">
            <a:avLst/>
          </a:prstGeom>
          <a:solidFill>
            <a:srgbClr val="EEF1F5"/>
          </a:solidFill>
        </p:spPr>
        <p:txBody>
          <a:bodyPr/>
          <a:lstStyle/>
          <a:p>
            <a:endParaRPr lang="ko-KR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63E1203-D0E9-471A-B4F9-9B7255230F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8000" y="995000"/>
            <a:ext cx="8216000" cy="5688000"/>
          </a:xfrm>
          <a:prstGeom prst="rect">
            <a:avLst/>
          </a:prstGeom>
        </p:spPr>
      </p:pic>
      <p:sp>
        <p:nvSpPr>
          <p:cNvPr id="901" name="header_bar">
            <a:extLst>
              <a:ext uri="{FF2B5EF4-FFF2-40B4-BE49-F238E27FC236}">
                <a16:creationId xmlns:a16="http://schemas.microsoft.com/office/drawing/2014/main" id="{CB4A6099-F692-F656-A445-D8DE445320C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2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 lang="ko-KR"/>
          </a:p>
        </p:txBody>
      </p:sp>
      <p:sp>
        <p:nvSpPr>
          <p:cNvPr id="902" name="accent_stripe">
            <a:extLst>
              <a:ext uri="{FF2B5EF4-FFF2-40B4-BE49-F238E27FC236}">
                <a16:creationId xmlns:a16="http://schemas.microsoft.com/office/drawing/2014/main" id="{C495A8DF-5A5A-099F-550A-A26933B3BC0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0000" cy="820000"/>
          </a:xfrm>
          <a:prstGeom prst="rect">
            <a:avLst/>
          </a:prstGeom>
          <a:solidFill>
            <a:srgbClr val="E05A1A"/>
          </a:solidFill>
        </p:spPr>
        <p:txBody>
          <a:bodyPr/>
          <a:lstStyle/>
          <a:p>
            <a:endParaRPr lang="ko-KR"/>
          </a:p>
        </p:txBody>
      </p:sp>
      <p:sp>
        <p:nvSpPr>
          <p:cNvPr id="904" name="step_badge">
            <a:extLst>
              <a:ext uri="{FF2B5EF4-FFF2-40B4-BE49-F238E27FC236}">
                <a16:creationId xmlns:a16="http://schemas.microsoft.com/office/drawing/2014/main" id="{AFC6C896-AFB5-EAE8-5234-9E6920774950}"/>
              </a:ext>
            </a:extLst>
          </p:cNvPr>
          <p:cNvSpPr>
            <a:spLocks noGrp="1"/>
          </p:cNvSpPr>
          <p:nvPr/>
        </p:nvSpPr>
        <p:spPr>
          <a:xfrm>
            <a:off x="11492000" y="0"/>
            <a:ext cx="700000" cy="820000"/>
          </a:xfrm>
          <a:prstGeom prst="rect">
            <a:avLst/>
          </a:prstGeom>
          <a:solidFill>
            <a:srgbClr val="E05A1A"/>
          </a:solidFill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5895B4E-0687-FC90-0543-3EA4606B3CBB}"/>
              </a:ext>
            </a:extLst>
          </p:cNvPr>
          <p:cNvSpPr/>
          <p:nvPr/>
        </p:nvSpPr>
        <p:spPr>
          <a:xfrm>
            <a:off x="6814845" y="5820590"/>
            <a:ext cx="741424" cy="55527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E01C514-EABE-DE63-A391-4895E7881FDB}"/>
              </a:ext>
            </a:extLst>
          </p:cNvPr>
          <p:cNvSpPr/>
          <p:nvPr/>
        </p:nvSpPr>
        <p:spPr>
          <a:xfrm>
            <a:off x="2618072" y="1258982"/>
            <a:ext cx="1062849" cy="55527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0" name="cat_badge"/>
          <p:cNvSpPr>
            <a:spLocks noGrp="1"/>
          </p:cNvSpPr>
          <p:nvPr/>
        </p:nvSpPr>
        <p:spPr>
          <a:xfrm>
            <a:off x="320000" y="110000"/>
            <a:ext cx="1350000" cy="600000"/>
          </a:xfrm>
          <a:prstGeom prst="roundRect">
            <a:avLst>
              <a:gd name="adj" fmla="val 20000"/>
            </a:avLst>
          </a:prstGeom>
          <a:solidFill>
            <a:srgbClr val="E05A1A">
              <a:alpha val="28000"/>
            </a:srgbClr>
          </a:solidFill>
          <a:ln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400" b="1" dirty="0">
                <a:solidFill>
                  <a:srgbClr val="FFBB88"/>
                </a:solidFill>
              </a:rPr>
              <a:t>검사 실행</a:t>
            </a:r>
          </a:p>
        </p:txBody>
      </p:sp>
      <p:sp>
        <p:nvSpPr>
          <p:cNvPr id="903" name="header_title"/>
          <p:cNvSpPr txBox="1"/>
          <p:nvPr/>
        </p:nvSpPr>
        <p:spPr>
          <a:xfrm>
            <a:off x="1830000" y="0"/>
            <a:ext cx="9562000" cy="8200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r>
              <a:rPr lang="ko-KR" altLang="en-US" sz="2000" b="1" dirty="0">
                <a:solidFill>
                  <a:srgbClr val="FFFFFF"/>
                </a:solidFill>
              </a:rPr>
              <a:t>Cycle Mode 설정 후 시작 버튼 클릭 시 1 cycle 검사 시작</a:t>
            </a:r>
          </a:p>
        </p:txBody>
      </p:sp>
    </p:spTree>
    <p:extLst>
      <p:ext uri="{BB962C8B-B14F-4D97-AF65-F5344CB8AC3E}">
        <p14:creationId xmlns:p14="http://schemas.microsoft.com/office/powerpoint/2010/main" val="15954430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content_bg"/>
          <p:cNvSpPr>
            <a:spLocks noGrp="1"/>
          </p:cNvSpPr>
          <p:nvPr/>
        </p:nvSpPr>
        <p:spPr>
          <a:xfrm>
            <a:off x="0" y="820000"/>
            <a:ext cx="12192000" cy="6038000"/>
          </a:xfrm>
          <a:prstGeom prst="rect">
            <a:avLst/>
          </a:prstGeom>
          <a:solidFill>
            <a:srgbClr val="EEF1F5"/>
          </a:solidFill>
        </p:spPr>
        <p:txBody>
          <a:bodyPr/>
          <a:lstStyle/>
          <a:p>
            <a:endParaRPr lang="ko-KR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92D07F6-ACC4-B1F4-D56E-3FD47C6D0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6768" y="995000"/>
            <a:ext cx="8216000" cy="56880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431E10C-80F7-3130-4003-758EFA0019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7607" y="995000"/>
            <a:ext cx="8216000" cy="5688000"/>
          </a:xfrm>
          <a:prstGeom prst="rect">
            <a:avLst/>
          </a:prstGeom>
        </p:spPr>
      </p:pic>
      <p:sp>
        <p:nvSpPr>
          <p:cNvPr id="901" name="header_bar"/>
          <p:cNvSpPr>
            <a:spLocks noGrp="1"/>
          </p:cNvSpPr>
          <p:nvPr/>
        </p:nvSpPr>
        <p:spPr>
          <a:xfrm>
            <a:off x="0" y="0"/>
            <a:ext cx="12192000" cy="82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 lang="ko-KR"/>
          </a:p>
        </p:txBody>
      </p:sp>
      <p:sp>
        <p:nvSpPr>
          <p:cNvPr id="902" name="accent_stripe"/>
          <p:cNvSpPr>
            <a:spLocks noGrp="1"/>
          </p:cNvSpPr>
          <p:nvPr/>
        </p:nvSpPr>
        <p:spPr>
          <a:xfrm>
            <a:off x="0" y="0"/>
            <a:ext cx="120000" cy="820000"/>
          </a:xfrm>
          <a:prstGeom prst="rect">
            <a:avLst/>
          </a:prstGeom>
          <a:solidFill>
            <a:srgbClr val="E05A1A"/>
          </a:solidFill>
        </p:spPr>
        <p:txBody>
          <a:bodyPr/>
          <a:lstStyle/>
          <a:p>
            <a:endParaRPr lang="ko-KR"/>
          </a:p>
        </p:txBody>
      </p:sp>
      <p:sp>
        <p:nvSpPr>
          <p:cNvPr id="904" name="step_badge"/>
          <p:cNvSpPr>
            <a:spLocks noGrp="1"/>
          </p:cNvSpPr>
          <p:nvPr/>
        </p:nvSpPr>
        <p:spPr>
          <a:xfrm>
            <a:off x="11492000" y="0"/>
            <a:ext cx="700000" cy="820000"/>
          </a:xfrm>
          <a:prstGeom prst="rect">
            <a:avLst/>
          </a:prstGeom>
          <a:solidFill>
            <a:srgbClr val="E05A1A"/>
          </a:solidFill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8C7DD54-4CAE-6D9F-C5A0-0E8216A45376}"/>
              </a:ext>
            </a:extLst>
          </p:cNvPr>
          <p:cNvSpPr/>
          <p:nvPr/>
        </p:nvSpPr>
        <p:spPr>
          <a:xfrm>
            <a:off x="7977013" y="2115663"/>
            <a:ext cx="2362742" cy="1036583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u="sng" dirty="0"/>
          </a:p>
        </p:txBody>
      </p:sp>
      <p:sp>
        <p:nvSpPr>
          <p:cNvPr id="910" name="cat_badge"/>
          <p:cNvSpPr>
            <a:spLocks noGrp="1"/>
          </p:cNvSpPr>
          <p:nvPr/>
        </p:nvSpPr>
        <p:spPr>
          <a:xfrm>
            <a:off x="320000" y="110000"/>
            <a:ext cx="1350000" cy="600000"/>
          </a:xfrm>
          <a:prstGeom prst="roundRect">
            <a:avLst>
              <a:gd name="adj" fmla="val 20000"/>
            </a:avLst>
          </a:prstGeom>
          <a:solidFill>
            <a:srgbClr val="E05A1A">
              <a:alpha val="28000"/>
            </a:srgbClr>
          </a:solidFill>
          <a:ln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400" b="1" dirty="0">
                <a:solidFill>
                  <a:srgbClr val="FFBB88"/>
                </a:solidFill>
              </a:rPr>
              <a:t>ROI 필터</a:t>
            </a:r>
          </a:p>
        </p:txBody>
      </p:sp>
      <p:sp>
        <p:nvSpPr>
          <p:cNvPr id="903" name="header_title"/>
          <p:cNvSpPr txBox="1"/>
          <p:nvPr/>
        </p:nvSpPr>
        <p:spPr>
          <a:xfrm>
            <a:off x="1830000" y="0"/>
            <a:ext cx="9562000" cy="8200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r>
              <a:rPr lang="ko-KR" altLang="en-US" sz="2000" b="1" dirty="0">
                <a:solidFill>
                  <a:srgbClr val="FFFFFF"/>
                </a:solidFill>
              </a:rPr>
              <a:t>InspROI 창의 Check Box로 특정 ROI만 선택 표시 가능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content_bg"/>
          <p:cNvSpPr>
            <a:spLocks noGrp="1"/>
          </p:cNvSpPr>
          <p:nvPr/>
        </p:nvSpPr>
        <p:spPr>
          <a:xfrm>
            <a:off x="0" y="820000"/>
            <a:ext cx="12192000" cy="6038000"/>
          </a:xfrm>
          <a:prstGeom prst="rect">
            <a:avLst/>
          </a:prstGeom>
          <a:solidFill>
            <a:srgbClr val="EEF1F5"/>
          </a:solidFill>
        </p:spPr>
        <p:txBody>
          <a:bodyPr/>
          <a:lstStyle/>
          <a:p>
            <a:endParaRPr lang="ko-KR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92D07F6-ACC4-B1F4-D56E-3FD47C6D0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8000" y="995000"/>
            <a:ext cx="8216000" cy="5688000"/>
          </a:xfrm>
          <a:prstGeom prst="rect">
            <a:avLst/>
          </a:prstGeom>
        </p:spPr>
      </p:pic>
      <p:sp>
        <p:nvSpPr>
          <p:cNvPr id="901" name="header_bar"/>
          <p:cNvSpPr>
            <a:spLocks noGrp="1"/>
          </p:cNvSpPr>
          <p:nvPr/>
        </p:nvSpPr>
        <p:spPr>
          <a:xfrm>
            <a:off x="0" y="0"/>
            <a:ext cx="12192000" cy="82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 lang="ko-KR"/>
          </a:p>
        </p:txBody>
      </p:sp>
      <p:sp>
        <p:nvSpPr>
          <p:cNvPr id="902" name="accent_stripe"/>
          <p:cNvSpPr>
            <a:spLocks noGrp="1"/>
          </p:cNvSpPr>
          <p:nvPr/>
        </p:nvSpPr>
        <p:spPr>
          <a:xfrm>
            <a:off x="0" y="0"/>
            <a:ext cx="120000" cy="820000"/>
          </a:xfrm>
          <a:prstGeom prst="rect">
            <a:avLst/>
          </a:prstGeom>
          <a:solidFill>
            <a:srgbClr val="E05A1A"/>
          </a:solidFill>
        </p:spPr>
        <p:txBody>
          <a:bodyPr/>
          <a:lstStyle/>
          <a:p>
            <a:endParaRPr lang="ko-KR"/>
          </a:p>
        </p:txBody>
      </p:sp>
      <p:sp>
        <p:nvSpPr>
          <p:cNvPr id="904" name="step_badge"/>
          <p:cNvSpPr>
            <a:spLocks noGrp="1"/>
          </p:cNvSpPr>
          <p:nvPr/>
        </p:nvSpPr>
        <p:spPr>
          <a:xfrm>
            <a:off x="11492000" y="0"/>
            <a:ext cx="700000" cy="820000"/>
          </a:xfrm>
          <a:prstGeom prst="rect">
            <a:avLst/>
          </a:prstGeom>
          <a:solidFill>
            <a:srgbClr val="E05A1A"/>
          </a:solidFill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E6301AB-6628-3DD6-1A80-F9105F859168}"/>
              </a:ext>
            </a:extLst>
          </p:cNvPr>
          <p:cNvSpPr/>
          <p:nvPr/>
        </p:nvSpPr>
        <p:spPr>
          <a:xfrm>
            <a:off x="4605252" y="5274467"/>
            <a:ext cx="2310938" cy="1409514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0" name="cat_badge"/>
          <p:cNvSpPr>
            <a:spLocks noGrp="1"/>
          </p:cNvSpPr>
          <p:nvPr/>
        </p:nvSpPr>
        <p:spPr>
          <a:xfrm>
            <a:off x="320000" y="110000"/>
            <a:ext cx="1350000" cy="600000"/>
          </a:xfrm>
          <a:prstGeom prst="roundRect">
            <a:avLst>
              <a:gd name="adj" fmla="val 20000"/>
            </a:avLst>
          </a:prstGeom>
          <a:solidFill>
            <a:srgbClr val="E05A1A">
              <a:alpha val="28000"/>
            </a:srgbClr>
          </a:solidFill>
          <a:ln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400" b="1" dirty="0">
                <a:solidFill>
                  <a:srgbClr val="FFBB88"/>
                </a:solidFill>
              </a:rPr>
              <a:t>결과 확인</a:t>
            </a:r>
          </a:p>
        </p:txBody>
      </p:sp>
      <p:sp>
        <p:nvSpPr>
          <p:cNvPr id="903" name="header_title"/>
          <p:cNvSpPr txBox="1"/>
          <p:nvPr/>
        </p:nvSpPr>
        <p:spPr>
          <a:xfrm>
            <a:off x="1830000" y="0"/>
            <a:ext cx="9562000" cy="8200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r>
              <a:rPr lang="ko-KR" altLang="en-US" sz="2000" b="1" dirty="0">
                <a:solidFill>
                  <a:srgbClr val="FFFFFF"/>
                </a:solidFill>
              </a:rPr>
              <a:t>ResultForm 트렌드 탭에서 Trend Graph 확인 가능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content_bg"/>
          <p:cNvSpPr>
            <a:spLocks noGrp="1"/>
          </p:cNvSpPr>
          <p:nvPr/>
        </p:nvSpPr>
        <p:spPr>
          <a:xfrm>
            <a:off x="0" y="820000"/>
            <a:ext cx="12192000" cy="6038000"/>
          </a:xfrm>
          <a:prstGeom prst="rect">
            <a:avLst/>
          </a:prstGeom>
          <a:solidFill>
            <a:srgbClr val="EEF1F5"/>
          </a:solidFill>
        </p:spPr>
        <p:txBody>
          <a:bodyPr/>
          <a:lstStyle/>
          <a:p>
            <a:endParaRPr lang="ko-KR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FFBC0EC-CAAC-20C7-F73B-826C4DAD1A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583" y="995000"/>
            <a:ext cx="8283865" cy="5688000"/>
          </a:xfrm>
          <a:prstGeom prst="rect">
            <a:avLst/>
          </a:prstGeom>
        </p:spPr>
      </p:pic>
      <p:sp>
        <p:nvSpPr>
          <p:cNvPr id="901" name="header_bar"/>
          <p:cNvSpPr>
            <a:spLocks noGrp="1"/>
          </p:cNvSpPr>
          <p:nvPr/>
        </p:nvSpPr>
        <p:spPr>
          <a:xfrm>
            <a:off x="0" y="0"/>
            <a:ext cx="12192000" cy="82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 lang="ko-KR"/>
          </a:p>
        </p:txBody>
      </p:sp>
      <p:sp>
        <p:nvSpPr>
          <p:cNvPr id="902" name="accent_stripe"/>
          <p:cNvSpPr>
            <a:spLocks noGrp="1"/>
          </p:cNvSpPr>
          <p:nvPr/>
        </p:nvSpPr>
        <p:spPr>
          <a:xfrm>
            <a:off x="0" y="0"/>
            <a:ext cx="120000" cy="820000"/>
          </a:xfrm>
          <a:prstGeom prst="rect">
            <a:avLst/>
          </a:prstGeom>
          <a:solidFill>
            <a:srgbClr val="E05A1A"/>
          </a:solidFill>
        </p:spPr>
        <p:txBody>
          <a:bodyPr/>
          <a:lstStyle/>
          <a:p>
            <a:endParaRPr lang="ko-KR"/>
          </a:p>
        </p:txBody>
      </p:sp>
      <p:sp>
        <p:nvSpPr>
          <p:cNvPr id="904" name="step_badge"/>
          <p:cNvSpPr>
            <a:spLocks noGrp="1"/>
          </p:cNvSpPr>
          <p:nvPr/>
        </p:nvSpPr>
        <p:spPr>
          <a:xfrm>
            <a:off x="11492000" y="0"/>
            <a:ext cx="700000" cy="820000"/>
          </a:xfrm>
          <a:prstGeom prst="rect">
            <a:avLst/>
          </a:prstGeom>
          <a:solidFill>
            <a:srgbClr val="E05A1A"/>
          </a:solidFill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07</a:t>
            </a: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1DA2751-B3A0-539A-9168-A29E06F0CA15}"/>
              </a:ext>
            </a:extLst>
          </p:cNvPr>
          <p:cNvGrpSpPr/>
          <p:nvPr/>
        </p:nvGrpSpPr>
        <p:grpSpPr>
          <a:xfrm>
            <a:off x="8627791" y="4396155"/>
            <a:ext cx="3238561" cy="1846845"/>
            <a:chOff x="8627791" y="4396155"/>
            <a:chExt cx="3238561" cy="1846845"/>
          </a:xfrm>
        </p:grpSpPr>
        <p:sp>
          <p:nvSpPr>
            <p:cNvPr id="7" name="header_title">
              <a:extLst>
                <a:ext uri="{FF2B5EF4-FFF2-40B4-BE49-F238E27FC236}">
                  <a16:creationId xmlns:a16="http://schemas.microsoft.com/office/drawing/2014/main" id="{A5C584C6-7D31-33FC-96F8-6A52E2864A25}"/>
                </a:ext>
              </a:extLst>
            </p:cNvPr>
            <p:cNvSpPr txBox="1"/>
            <p:nvPr/>
          </p:nvSpPr>
          <p:spPr>
            <a:xfrm>
              <a:off x="9029391" y="5423000"/>
              <a:ext cx="2435361" cy="820000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r>
                <a:rPr lang="ko-KR" altLang="en-US" sz="2000" b="1" dirty="0">
                  <a:solidFill>
                    <a:schemeClr val="tx2">
                      <a:lumMod val="90000"/>
                      <a:lumOff val="10000"/>
                    </a:schemeClr>
                  </a:solidFill>
                </a:rPr>
                <a:t>저장된 </a:t>
              </a:r>
              <a:r>
                <a:rPr lang="ko-KR" altLang="en-US" sz="2000" b="1" dirty="0" err="1">
                  <a:solidFill>
                    <a:schemeClr val="tx2">
                      <a:lumMod val="90000"/>
                      <a:lumOff val="10000"/>
                    </a:schemeClr>
                  </a:solidFill>
                </a:rPr>
                <a:t>TrendChart</a:t>
              </a:r>
              <a:endParaRPr lang="ko-KR" altLang="en-US" sz="2000" b="1" dirty="0">
                <a:solidFill>
                  <a:schemeClr val="tx2">
                    <a:lumMod val="90000"/>
                    <a:lumOff val="10000"/>
                  </a:schemeClr>
                </a:solidFill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2B809343-354D-ED91-510F-D15730E7BA9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27791" y="4396155"/>
              <a:ext cx="3238561" cy="1231846"/>
            </a:xfrm>
            <a:prstGeom prst="rect">
              <a:avLst/>
            </a:prstGeom>
            <a:ln w="28575">
              <a:solidFill>
                <a:schemeClr val="tx2"/>
              </a:solidFill>
            </a:ln>
          </p:spPr>
        </p:pic>
      </p:grp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F92390C8-5820-FFF1-CB2E-99CD62178C15}"/>
              </a:ext>
            </a:extLst>
          </p:cNvPr>
          <p:cNvSpPr/>
          <p:nvPr/>
        </p:nvSpPr>
        <p:spPr>
          <a:xfrm>
            <a:off x="4075314" y="6380018"/>
            <a:ext cx="500841" cy="30298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0" name="cat_badge"/>
          <p:cNvSpPr>
            <a:spLocks noGrp="1"/>
          </p:cNvSpPr>
          <p:nvPr/>
        </p:nvSpPr>
        <p:spPr>
          <a:xfrm>
            <a:off x="320000" y="110000"/>
            <a:ext cx="1350000" cy="600000"/>
          </a:xfrm>
          <a:prstGeom prst="roundRect">
            <a:avLst>
              <a:gd name="adj" fmla="val 20000"/>
            </a:avLst>
          </a:prstGeom>
          <a:solidFill>
            <a:srgbClr val="E05A1A">
              <a:alpha val="28000"/>
            </a:srgbClr>
          </a:solidFill>
          <a:ln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400" b="1" dirty="0">
                <a:solidFill>
                  <a:srgbClr val="FFBB88"/>
                </a:solidFill>
              </a:rPr>
              <a:t>결과 저장</a:t>
            </a:r>
          </a:p>
        </p:txBody>
      </p:sp>
      <p:sp>
        <p:nvSpPr>
          <p:cNvPr id="903" name="header_title"/>
          <p:cNvSpPr txBox="1"/>
          <p:nvPr/>
        </p:nvSpPr>
        <p:spPr>
          <a:xfrm>
            <a:off x="1830000" y="0"/>
            <a:ext cx="9562000" cy="8200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r>
              <a:rPr lang="ko-KR" altLang="en-US" sz="2000" b="1" dirty="0">
                <a:solidFill>
                  <a:srgbClr val="FFFFFF"/>
                </a:solidFill>
              </a:rPr>
              <a:t>ResultForm에서 Trend Graph PNG 파일로 저장 가능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content_bg"/>
          <p:cNvSpPr>
            <a:spLocks noGrp="1"/>
          </p:cNvSpPr>
          <p:nvPr/>
        </p:nvSpPr>
        <p:spPr>
          <a:xfrm>
            <a:off x="-40000" y="820000"/>
            <a:ext cx="12192000" cy="6038000"/>
          </a:xfrm>
          <a:prstGeom prst="rect">
            <a:avLst/>
          </a:prstGeom>
          <a:solidFill>
            <a:srgbClr val="EEF1F5"/>
          </a:solidFill>
        </p:spPr>
        <p:txBody>
          <a:bodyPr/>
          <a:lstStyle/>
          <a:p>
            <a:endParaRPr lang="ko-KR"/>
          </a:p>
        </p:txBody>
      </p:sp>
      <p:sp>
        <p:nvSpPr>
          <p:cNvPr id="901" name="header_bar"/>
          <p:cNvSpPr>
            <a:spLocks noGrp="1"/>
          </p:cNvSpPr>
          <p:nvPr/>
        </p:nvSpPr>
        <p:spPr>
          <a:xfrm>
            <a:off x="0" y="0"/>
            <a:ext cx="12192000" cy="82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 lang="ko-KR"/>
          </a:p>
        </p:txBody>
      </p:sp>
      <p:sp>
        <p:nvSpPr>
          <p:cNvPr id="902" name="accent_stripe"/>
          <p:cNvSpPr>
            <a:spLocks noGrp="1"/>
          </p:cNvSpPr>
          <p:nvPr/>
        </p:nvSpPr>
        <p:spPr>
          <a:xfrm>
            <a:off x="0" y="0"/>
            <a:ext cx="120000" cy="820000"/>
          </a:xfrm>
          <a:prstGeom prst="rect">
            <a:avLst/>
          </a:prstGeom>
          <a:solidFill>
            <a:srgbClr val="E05A1A"/>
          </a:solidFill>
        </p:spPr>
        <p:txBody>
          <a:bodyPr/>
          <a:lstStyle/>
          <a:p>
            <a:endParaRPr lang="ko-KR"/>
          </a:p>
        </p:txBody>
      </p:sp>
      <p:sp>
        <p:nvSpPr>
          <p:cNvPr id="904" name="step_badge"/>
          <p:cNvSpPr>
            <a:spLocks noGrp="1"/>
          </p:cNvSpPr>
          <p:nvPr/>
        </p:nvSpPr>
        <p:spPr>
          <a:xfrm>
            <a:off x="11492000" y="0"/>
            <a:ext cx="700000" cy="820000"/>
          </a:xfrm>
          <a:prstGeom prst="rect">
            <a:avLst/>
          </a:prstGeom>
          <a:solidFill>
            <a:srgbClr val="E05A1A"/>
          </a:solidFill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910" name="cat_badge"/>
          <p:cNvSpPr>
            <a:spLocks noGrp="1"/>
          </p:cNvSpPr>
          <p:nvPr/>
        </p:nvSpPr>
        <p:spPr>
          <a:xfrm>
            <a:off x="320000" y="110000"/>
            <a:ext cx="1350000" cy="600000"/>
          </a:xfrm>
          <a:prstGeom prst="roundRect">
            <a:avLst>
              <a:gd name="adj" fmla="val 20000"/>
            </a:avLst>
          </a:prstGeom>
          <a:solidFill>
            <a:srgbClr val="E05A1A">
              <a:alpha val="28000"/>
            </a:srgbClr>
          </a:solidFill>
          <a:ln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400" b="1" dirty="0">
                <a:solidFill>
                  <a:srgbClr val="FFBB88"/>
                </a:solidFill>
              </a:rPr>
              <a:t>결과 저장</a:t>
            </a:r>
          </a:p>
        </p:txBody>
      </p:sp>
      <p:sp>
        <p:nvSpPr>
          <p:cNvPr id="903" name="header_title"/>
          <p:cNvSpPr txBox="1"/>
          <p:nvPr/>
        </p:nvSpPr>
        <p:spPr>
          <a:xfrm>
            <a:off x="1830000" y="0"/>
            <a:ext cx="9562000" cy="8200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r>
              <a:rPr lang="ko-KR" altLang="en-US" sz="2000" b="1" dirty="0">
                <a:solidFill>
                  <a:srgbClr val="FFFFFF"/>
                </a:solidFill>
              </a:rPr>
              <a:t>검사 결과 판정에 따라 폴더 구분 자동 저장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805DBC6-1895-5BF9-847C-824A00889F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203" y="2055326"/>
            <a:ext cx="7979593" cy="3567348"/>
          </a:xfrm>
          <a:prstGeom prst="rect">
            <a:avLst/>
          </a:prstGeom>
          <a:ln w="28575">
            <a:solidFill>
              <a:schemeClr val="tx2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CC4AE-E8B7-1E2F-B00F-3FF91929D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content_bg">
            <a:extLst>
              <a:ext uri="{FF2B5EF4-FFF2-40B4-BE49-F238E27FC236}">
                <a16:creationId xmlns:a16="http://schemas.microsoft.com/office/drawing/2014/main" id="{E84026D3-CEC6-77D9-6339-EAB41AC5CAFA}"/>
              </a:ext>
            </a:extLst>
          </p:cNvPr>
          <p:cNvSpPr>
            <a:spLocks noGrp="1"/>
          </p:cNvSpPr>
          <p:nvPr/>
        </p:nvSpPr>
        <p:spPr>
          <a:xfrm>
            <a:off x="-40000" y="820000"/>
            <a:ext cx="12192000" cy="6038000"/>
          </a:xfrm>
          <a:prstGeom prst="rect">
            <a:avLst/>
          </a:prstGeom>
          <a:solidFill>
            <a:srgbClr val="EEF1F5"/>
          </a:solidFill>
        </p:spPr>
        <p:txBody>
          <a:bodyPr/>
          <a:lstStyle/>
          <a:p>
            <a:endParaRPr lang="ko-KR"/>
          </a:p>
        </p:txBody>
      </p:sp>
      <p:sp>
        <p:nvSpPr>
          <p:cNvPr id="901" name="header_bar">
            <a:extLst>
              <a:ext uri="{FF2B5EF4-FFF2-40B4-BE49-F238E27FC236}">
                <a16:creationId xmlns:a16="http://schemas.microsoft.com/office/drawing/2014/main" id="{8C65742F-C6D1-52F6-B37B-8AB9D5558EA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2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 lang="ko-KR"/>
          </a:p>
        </p:txBody>
      </p:sp>
      <p:sp>
        <p:nvSpPr>
          <p:cNvPr id="902" name="accent_stripe">
            <a:extLst>
              <a:ext uri="{FF2B5EF4-FFF2-40B4-BE49-F238E27FC236}">
                <a16:creationId xmlns:a16="http://schemas.microsoft.com/office/drawing/2014/main" id="{670AAFDD-CB70-31B8-08C6-E6BE953A5A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0000" cy="820000"/>
          </a:xfrm>
          <a:prstGeom prst="rect">
            <a:avLst/>
          </a:prstGeom>
          <a:solidFill>
            <a:srgbClr val="E05A1A"/>
          </a:solidFill>
        </p:spPr>
        <p:txBody>
          <a:bodyPr/>
          <a:lstStyle/>
          <a:p>
            <a:endParaRPr lang="ko-KR"/>
          </a:p>
        </p:txBody>
      </p:sp>
      <p:sp>
        <p:nvSpPr>
          <p:cNvPr id="904" name="step_badge">
            <a:extLst>
              <a:ext uri="{FF2B5EF4-FFF2-40B4-BE49-F238E27FC236}">
                <a16:creationId xmlns:a16="http://schemas.microsoft.com/office/drawing/2014/main" id="{AA5A0FCB-133E-C8FD-458B-A280C87B731E}"/>
              </a:ext>
            </a:extLst>
          </p:cNvPr>
          <p:cNvSpPr>
            <a:spLocks noGrp="1"/>
          </p:cNvSpPr>
          <p:nvPr/>
        </p:nvSpPr>
        <p:spPr>
          <a:xfrm>
            <a:off x="11492000" y="0"/>
            <a:ext cx="700000" cy="820000"/>
          </a:xfrm>
          <a:prstGeom prst="rect">
            <a:avLst/>
          </a:prstGeom>
          <a:solidFill>
            <a:srgbClr val="E05A1A"/>
          </a:solidFill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910" name="cat_badge">
            <a:extLst>
              <a:ext uri="{FF2B5EF4-FFF2-40B4-BE49-F238E27FC236}">
                <a16:creationId xmlns:a16="http://schemas.microsoft.com/office/drawing/2014/main" id="{4ABA0C3F-5147-4AD7-E5AE-398E7569FD72}"/>
              </a:ext>
            </a:extLst>
          </p:cNvPr>
          <p:cNvSpPr>
            <a:spLocks noGrp="1"/>
          </p:cNvSpPr>
          <p:nvPr/>
        </p:nvSpPr>
        <p:spPr>
          <a:xfrm>
            <a:off x="320000" y="110000"/>
            <a:ext cx="1350000" cy="600000"/>
          </a:xfrm>
          <a:prstGeom prst="roundRect">
            <a:avLst>
              <a:gd name="adj" fmla="val 20000"/>
            </a:avLst>
          </a:prstGeom>
          <a:solidFill>
            <a:srgbClr val="E05A1A">
              <a:alpha val="28000"/>
            </a:srgbClr>
          </a:solidFill>
          <a:ln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400" b="1" dirty="0">
                <a:solidFill>
                  <a:srgbClr val="FFBB88"/>
                </a:solidFill>
              </a:rPr>
              <a:t>결과 저장</a:t>
            </a:r>
          </a:p>
        </p:txBody>
      </p:sp>
      <p:sp>
        <p:nvSpPr>
          <p:cNvPr id="903" name="header_title">
            <a:extLst>
              <a:ext uri="{FF2B5EF4-FFF2-40B4-BE49-F238E27FC236}">
                <a16:creationId xmlns:a16="http://schemas.microsoft.com/office/drawing/2014/main" id="{FFB8DCD5-C7AA-DACD-7D94-E6D8587A3C27}"/>
              </a:ext>
            </a:extLst>
          </p:cNvPr>
          <p:cNvSpPr txBox="1"/>
          <p:nvPr/>
        </p:nvSpPr>
        <p:spPr>
          <a:xfrm>
            <a:off x="1830000" y="0"/>
            <a:ext cx="9562000" cy="8200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r>
              <a:rPr lang="ko-KR" altLang="en-US" sz="2000" b="1" dirty="0">
                <a:solidFill>
                  <a:srgbClr val="FFFFFF"/>
                </a:solidFill>
              </a:rPr>
              <a:t>검사 결과 </a:t>
            </a:r>
            <a:r>
              <a:rPr lang="en-US" altLang="ko-KR" sz="2000" b="1" dirty="0">
                <a:solidFill>
                  <a:srgbClr val="FFFFFF"/>
                </a:solidFill>
              </a:rPr>
              <a:t>Logs</a:t>
            </a:r>
            <a:r>
              <a:rPr lang="ko-KR" altLang="en-US" sz="2000" b="1" dirty="0">
                <a:solidFill>
                  <a:srgbClr val="FFFFFF"/>
                </a:solidFill>
              </a:rPr>
              <a:t> 폴더에 자동 저장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F192906-A8E3-8DD9-E51C-FA18B98A28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553" t="7009" r="37264" b="63067"/>
          <a:stretch>
            <a:fillRect/>
          </a:stretch>
        </p:blipFill>
        <p:spPr>
          <a:xfrm>
            <a:off x="162942" y="1037208"/>
            <a:ext cx="4093738" cy="1799047"/>
          </a:xfrm>
          <a:prstGeom prst="rect">
            <a:avLst/>
          </a:prstGeom>
          <a:ln w="28575">
            <a:solidFill>
              <a:schemeClr val="tx2"/>
            </a:solidFill>
          </a:ln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5D3219C-E25E-90A3-119B-86B9100035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1219" y="2245406"/>
            <a:ext cx="9478698" cy="4467849"/>
          </a:xfrm>
          <a:prstGeom prst="rect">
            <a:avLst/>
          </a:prstGeom>
          <a:ln w="28575">
            <a:solidFill>
              <a:schemeClr val="tx2"/>
            </a:solidFill>
          </a:ln>
        </p:spPr>
      </p:pic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2889FE3F-7CA8-1998-F12B-BBF2265328EB}"/>
              </a:ext>
            </a:extLst>
          </p:cNvPr>
          <p:cNvCxnSpPr>
            <a:cxnSpLocks/>
          </p:cNvCxnSpPr>
          <p:nvPr/>
        </p:nvCxnSpPr>
        <p:spPr>
          <a:xfrm rot="16200000" flipH="1">
            <a:off x="1652418" y="2994800"/>
            <a:ext cx="1358167" cy="355636"/>
          </a:xfrm>
          <a:prstGeom prst="bentConnector3">
            <a:avLst>
              <a:gd name="adj1" fmla="val 99635"/>
            </a:avLst>
          </a:prstGeom>
          <a:ln w="38100">
            <a:solidFill>
              <a:srgbClr val="E05A1A"/>
            </a:solidFill>
            <a:headEnd type="oval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35715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_bg">
            <a:extLst>
              <a:ext uri="{FF2B5EF4-FFF2-40B4-BE49-F238E27FC236}">
                <a16:creationId xmlns:a16="http://schemas.microsoft.com/office/drawing/2014/main" id="{CE6C3C2F-6A12-695D-14D8-762AF0BEB2F1}"/>
              </a:ext>
            </a:extLst>
          </p:cNvPr>
          <p:cNvSpPr>
            <a:spLocks noGrp="1"/>
          </p:cNvSpPr>
          <p:nvPr/>
        </p:nvSpPr>
        <p:spPr>
          <a:xfrm>
            <a:off x="0" y="820000"/>
            <a:ext cx="12192000" cy="6038000"/>
          </a:xfrm>
          <a:prstGeom prst="rect">
            <a:avLst/>
          </a:prstGeom>
          <a:solidFill>
            <a:srgbClr val="EEF1F5"/>
          </a:solidFill>
        </p:spPr>
        <p:txBody>
          <a:bodyPr/>
          <a:lstStyle/>
          <a:p>
            <a:endParaRPr lang="ko-KR"/>
          </a:p>
        </p:txBody>
      </p:sp>
      <p:sp>
        <p:nvSpPr>
          <p:cNvPr id="8" name="Text 6"/>
          <p:cNvSpPr/>
          <p:nvPr/>
        </p:nvSpPr>
        <p:spPr>
          <a:xfrm>
            <a:off x="670560" y="1194816"/>
            <a:ext cx="10850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C2B4A"/>
                </a:solidFill>
              </a:rPr>
              <a:t>프로젝트 GitHub 저장소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70560" y="1682496"/>
            <a:ext cx="1085088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445577"/>
                </a:solidFill>
              </a:rPr>
              <a:t>아래 두 저장소에서 Xylophone 검사 시스템의 전체 소스코드를 확인할 수 있습니다.</a:t>
            </a:r>
            <a:endParaRPr lang="en-US" sz="1467" dirty="0"/>
          </a:p>
        </p:txBody>
      </p:sp>
      <p:sp>
        <p:nvSpPr>
          <p:cNvPr id="10" name="Shape 8"/>
          <p:cNvSpPr/>
          <p:nvPr/>
        </p:nvSpPr>
        <p:spPr>
          <a:xfrm>
            <a:off x="609600" y="2292096"/>
            <a:ext cx="10972800" cy="1487424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609600" y="2292096"/>
            <a:ext cx="85344" cy="1487424"/>
          </a:xfrm>
          <a:prstGeom prst="rect">
            <a:avLst/>
          </a:prstGeom>
          <a:solidFill>
            <a:srgbClr val="E05C20"/>
          </a:solidFill>
          <a:ln w="12700">
            <a:solidFill>
              <a:srgbClr val="E05C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77824" y="2389632"/>
            <a:ext cx="487680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1C2B4A"/>
                </a:solidFill>
              </a:rPr>
              <a:t>① 독립 저장소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77824" y="2767584"/>
            <a:ext cx="670560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445577"/>
                </a:solidFill>
              </a:rPr>
              <a:t>Xylophone 프로젝트 전용 저장소 (메인 브랜치)</a:t>
            </a:r>
            <a:endParaRPr lang="en-US" sz="1333" dirty="0"/>
          </a:p>
        </p:txBody>
      </p:sp>
      <p:sp>
        <p:nvSpPr>
          <p:cNvPr id="14" name="Shape 12"/>
          <p:cNvSpPr/>
          <p:nvPr/>
        </p:nvSpPr>
        <p:spPr>
          <a:xfrm>
            <a:off x="877824" y="3145536"/>
            <a:ext cx="853440" cy="292608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77824" y="3145536"/>
            <a:ext cx="85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URL</a:t>
            </a:r>
            <a:endParaRPr lang="en-US" sz="1200" dirty="0"/>
          </a:p>
        </p:txBody>
      </p:sp>
      <p:sp>
        <p:nvSpPr>
          <p:cNvPr id="16" name="Text 14">
            <a:hlinkClick r:id="rId3"/>
          </p:cNvPr>
          <p:cNvSpPr/>
          <p:nvPr/>
        </p:nvSpPr>
        <p:spPr>
          <a:xfrm>
            <a:off x="1792224" y="3145536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u="sng" dirty="0">
                <a:solidFill>
                  <a:srgbClr val="2A5CAA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https://github.com/kimamugessi/Xylophone</a:t>
            </a:r>
            <a:endParaRPr lang="en-US" sz="1333" dirty="0"/>
          </a:p>
        </p:txBody>
      </p:sp>
      <p:sp>
        <p:nvSpPr>
          <p:cNvPr id="17" name="Shape 15"/>
          <p:cNvSpPr/>
          <p:nvPr/>
        </p:nvSpPr>
        <p:spPr>
          <a:xfrm>
            <a:off x="609600" y="3998976"/>
            <a:ext cx="109728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609600" y="3998976"/>
            <a:ext cx="85344" cy="1645920"/>
          </a:xfrm>
          <a:prstGeom prst="rect">
            <a:avLst/>
          </a:prstGeom>
          <a:solidFill>
            <a:srgbClr val="2A5CAA"/>
          </a:solidFill>
          <a:ln w="12700">
            <a:solidFill>
              <a:srgbClr val="2A5C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77824" y="4096512"/>
            <a:ext cx="731520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1C2B4A"/>
                </a:solidFill>
              </a:rPr>
              <a:t>② 통합 저장소 (브랜치)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77824" y="4474464"/>
            <a:ext cx="914400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445577"/>
                </a:solidFill>
              </a:rPr>
              <a:t>JYVIsion 통합 저장소 내 Xylophone Inspection 전용 브랜치</a:t>
            </a:r>
            <a:endParaRPr lang="en-US" sz="1333" dirty="0"/>
          </a:p>
        </p:txBody>
      </p:sp>
      <p:sp>
        <p:nvSpPr>
          <p:cNvPr id="21" name="Shape 19"/>
          <p:cNvSpPr/>
          <p:nvPr/>
        </p:nvSpPr>
        <p:spPr>
          <a:xfrm>
            <a:off x="877824" y="4852416"/>
            <a:ext cx="3169920" cy="292608"/>
          </a:xfrm>
          <a:prstGeom prst="rect">
            <a:avLst/>
          </a:prstGeom>
          <a:solidFill>
            <a:srgbClr val="EEF4FF"/>
          </a:solidFill>
          <a:ln w="12700">
            <a:solidFill>
              <a:srgbClr val="2A5C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877824" y="4852416"/>
            <a:ext cx="316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dirty="0">
                <a:solidFill>
                  <a:srgbClr val="2A5CAA"/>
                </a:solidFill>
              </a:rPr>
              <a:t>Branch : </a:t>
            </a:r>
            <a:r>
              <a:rPr lang="en-US" sz="1300" dirty="0" err="1">
                <a:solidFill>
                  <a:srgbClr val="2A5CAA"/>
                </a:solidFill>
              </a:rPr>
              <a:t>XylophoneInspection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77824" y="5218176"/>
            <a:ext cx="853440" cy="292608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77824" y="5218176"/>
            <a:ext cx="85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URL</a:t>
            </a:r>
            <a:endParaRPr lang="en-US" sz="1200" dirty="0"/>
          </a:p>
        </p:txBody>
      </p:sp>
      <p:sp>
        <p:nvSpPr>
          <p:cNvPr id="25" name="Text 23">
            <a:hlinkClick r:id="rId4"/>
          </p:cNvPr>
          <p:cNvSpPr/>
          <p:nvPr/>
        </p:nvSpPr>
        <p:spPr>
          <a:xfrm>
            <a:off x="1792224" y="5218176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u="sng" dirty="0">
                <a:solidFill>
                  <a:srgbClr val="2A5CAA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https://github.com/kimamugessi/JYVIsion  →  </a:t>
            </a:r>
            <a:r>
              <a:rPr lang="en-US" sz="1333" u="sng" dirty="0" err="1">
                <a:solidFill>
                  <a:srgbClr val="2A5CAA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XylophoneInspection</a:t>
            </a:r>
            <a:r>
              <a:rPr lang="en-US" sz="1333" u="sng" dirty="0">
                <a:solidFill>
                  <a:srgbClr val="2A5CAA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Branch</a:t>
            </a:r>
            <a:endParaRPr lang="en-US" sz="1333" dirty="0"/>
          </a:p>
        </p:txBody>
      </p:sp>
      <p:sp>
        <p:nvSpPr>
          <p:cNvPr id="35" name="header_bar">
            <a:extLst>
              <a:ext uri="{FF2B5EF4-FFF2-40B4-BE49-F238E27FC236}">
                <a16:creationId xmlns:a16="http://schemas.microsoft.com/office/drawing/2014/main" id="{75136F87-C389-D64E-6413-9033F03D9B6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2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 lang="ko-KR"/>
          </a:p>
        </p:txBody>
      </p:sp>
      <p:sp>
        <p:nvSpPr>
          <p:cNvPr id="36" name="accent_stripe">
            <a:extLst>
              <a:ext uri="{FF2B5EF4-FFF2-40B4-BE49-F238E27FC236}">
                <a16:creationId xmlns:a16="http://schemas.microsoft.com/office/drawing/2014/main" id="{23367CD5-6216-5516-591C-18368992685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0000" cy="820000"/>
          </a:xfrm>
          <a:prstGeom prst="rect">
            <a:avLst/>
          </a:prstGeom>
          <a:solidFill>
            <a:srgbClr val="E05A1A"/>
          </a:solidFill>
        </p:spPr>
        <p:txBody>
          <a:bodyPr/>
          <a:lstStyle/>
          <a:p>
            <a:endParaRPr lang="ko-KR"/>
          </a:p>
        </p:txBody>
      </p:sp>
      <p:sp>
        <p:nvSpPr>
          <p:cNvPr id="37" name="step_badge">
            <a:extLst>
              <a:ext uri="{FF2B5EF4-FFF2-40B4-BE49-F238E27FC236}">
                <a16:creationId xmlns:a16="http://schemas.microsoft.com/office/drawing/2014/main" id="{3140EAA8-4416-0422-A75A-35807C906CD3}"/>
              </a:ext>
            </a:extLst>
          </p:cNvPr>
          <p:cNvSpPr>
            <a:spLocks noGrp="1"/>
          </p:cNvSpPr>
          <p:nvPr/>
        </p:nvSpPr>
        <p:spPr>
          <a:xfrm>
            <a:off x="11492000" y="0"/>
            <a:ext cx="700000" cy="820000"/>
          </a:xfrm>
          <a:prstGeom prst="rect">
            <a:avLst/>
          </a:prstGeom>
          <a:solidFill>
            <a:srgbClr val="E05A1A"/>
          </a:solidFill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38" name="cat_badge">
            <a:extLst>
              <a:ext uri="{FF2B5EF4-FFF2-40B4-BE49-F238E27FC236}">
                <a16:creationId xmlns:a16="http://schemas.microsoft.com/office/drawing/2014/main" id="{C7EAB118-4EBE-522B-6528-6E4661D18BA2}"/>
              </a:ext>
            </a:extLst>
          </p:cNvPr>
          <p:cNvSpPr>
            <a:spLocks noGrp="1"/>
          </p:cNvSpPr>
          <p:nvPr/>
        </p:nvSpPr>
        <p:spPr>
          <a:xfrm>
            <a:off x="320000" y="110000"/>
            <a:ext cx="1350000" cy="600000"/>
          </a:xfrm>
          <a:prstGeom prst="roundRect">
            <a:avLst>
              <a:gd name="adj" fmla="val 20000"/>
            </a:avLst>
          </a:prstGeom>
          <a:solidFill>
            <a:srgbClr val="E05A1A">
              <a:alpha val="28000"/>
            </a:srgbClr>
          </a:solidFill>
          <a:ln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400" b="1" dirty="0">
                <a:solidFill>
                  <a:srgbClr val="FFBB88"/>
                </a:solidFill>
              </a:rPr>
              <a:t>기타</a:t>
            </a:r>
          </a:p>
        </p:txBody>
      </p:sp>
      <p:sp>
        <p:nvSpPr>
          <p:cNvPr id="39" name="header_title">
            <a:extLst>
              <a:ext uri="{FF2B5EF4-FFF2-40B4-BE49-F238E27FC236}">
                <a16:creationId xmlns:a16="http://schemas.microsoft.com/office/drawing/2014/main" id="{86E8F070-5B0B-8108-D667-7563BF96BA8A}"/>
              </a:ext>
            </a:extLst>
          </p:cNvPr>
          <p:cNvSpPr txBox="1"/>
          <p:nvPr/>
        </p:nvSpPr>
        <p:spPr>
          <a:xfrm>
            <a:off x="1830000" y="0"/>
            <a:ext cx="9562000" cy="8200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r>
              <a:rPr lang="ko-KR" altLang="en-US" sz="2000" b="1" dirty="0">
                <a:solidFill>
                  <a:srgbClr val="FFFFFF"/>
                </a:solidFill>
              </a:rPr>
              <a:t>소스 코드 및 저장소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end_bg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>
            <a:endParaRPr lang="ko-KR"/>
          </a:p>
        </p:txBody>
      </p:sp>
      <p:sp>
        <p:nvSpPr>
          <p:cNvPr id="902" name="end_accent"/>
          <p:cNvSpPr>
            <a:spLocks noGrp="1"/>
          </p:cNvSpPr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E05A1A"/>
          </a:solidFill>
        </p:spPr>
        <p:txBody>
          <a:bodyPr/>
          <a:lstStyle/>
          <a:p>
            <a:endParaRPr lang="ko-KR"/>
          </a:p>
        </p:txBody>
      </p:sp>
      <p:sp>
        <p:nvSpPr>
          <p:cNvPr id="903" name="end_title"/>
          <p:cNvSpPr txBox="1"/>
          <p:nvPr/>
        </p:nvSpPr>
        <p:spPr>
          <a:xfrm>
            <a:off x="0" y="2200000"/>
            <a:ext cx="12192000" cy="18000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8000" b="1" dirty="0">
                <a:solidFill>
                  <a:srgbClr val="FFFFFF"/>
                </a:solidFill>
              </a:rPr>
              <a:t>감사합니다</a:t>
            </a:r>
          </a:p>
        </p:txBody>
      </p:sp>
      <p:sp>
        <p:nvSpPr>
          <p:cNvPr id="904" name="end_sub"/>
          <p:cNvSpPr txBox="1"/>
          <p:nvPr/>
        </p:nvSpPr>
        <p:spPr>
          <a:xfrm>
            <a:off x="0" y="4100000"/>
            <a:ext cx="12192000" cy="5000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1800" dirty="0">
                <a:solidFill>
                  <a:srgbClr val="A8BAC8"/>
                </a:solidFill>
              </a:rPr>
              <a:t>Xylophone Bolt &amp; Engraving Inspection 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2675</TotalTime>
  <Words>1131</Words>
  <Application>Microsoft Office PowerPoint</Application>
  <PresentationFormat>와이드스크린</PresentationFormat>
  <Paragraphs>299</Paragraphs>
  <Slides>22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5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지예 김</dc:creator>
  <cp:lastModifiedBy>지예 김</cp:lastModifiedBy>
  <cp:revision>13</cp:revision>
  <dcterms:created xsi:type="dcterms:W3CDTF">2026-03-10T23:19:42Z</dcterms:created>
  <dcterms:modified xsi:type="dcterms:W3CDTF">2026-03-12T23:41:32Z</dcterms:modified>
</cp:coreProperties>
</file>